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63"/>
  </p:normalViewPr>
  <p:slideViewPr>
    <p:cSldViewPr snapToGrid="0" snapToObjects="1">
      <p:cViewPr varScale="1">
        <p:scale>
          <a:sx n="93" d="100"/>
          <a:sy n="93" d="100"/>
        </p:scale>
        <p:origin x="208" y="62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5983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far we've learned Python by using it: immersion. Now the grammar book. Nothing on these slides is new; it's the system behind what you've already typed.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Analogy with learning a natural language. Most of you learned a second language with both: immersion and a grammar book. Both are useful; each makes sense of the other. The notebooks were immersion. Today is the grammar.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Python cares about types because each type has its own operations. Try type() on anything you're unsure about. Common confusion: '10' (a string) vs 10 (a number).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common beginner confusion. '=' is assignment: make this name refer to this value. '==' is comparison: are these equal? Answer True or False.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key slide. All three patterns appeared in the notebooks. The difference is what comes before the dot. re.split(pattern, sample) and sample.split() do similar jobs but are different tools, so the text goes in a different place.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Arguments go in the brackets, separated by commas. Most tools give back (return) a value you can store. print is the odd one out: it shows something but gives back nothing (None). String methods never change the original string; they return a new one.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Single or double quotes, but they must match. Use one kind outside when the text contains the other. These are the string methods we've used; there are many more, and an AI can tell you about them, but test what it says.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Positions start at 0. Negative numbers count back from the end. A slice [start:stop] includes start but stops before stop. Leaving a number out means 'from the beginning' or 'to the end'. Exercise from the warm-up: three ways to get the last three words. Which works for any list?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from the middle outwards. The 'if' part is optional. If you know R: this is the job sapply / Filter, or plain vectorised code, do there. If you know Lisp: map and filter.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comprehension makes a value; a loop performs an action. The colon and the indentation are compulsory: Python uses indentation, not brackets, to know what is inside the loop. Colab indents for you after a colon.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Comparisons give True or False. They appear in the 'if' part of a comprehension and in if statements. 'in' is very useful for text: is this word in this list, is this string inside that one?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 defines, return gives back. The name in brackets (w) is a placeholder for whatever you pass in. A good function does one job and has a name that says what. Functions are how we make our decisions (what is a word?) explicit and reusable.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Vocabulary students will meet in documentation and AI answers. In Colab most packages are already installed; if not, !pip install name in a cell. In R the equivalent word is package, loaded with library().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Errors are normal and informative. Read the last line first; the arrow in the traceback shows which line. The most dangerous code is code with no error that gives the wrong answer.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habits we'll practise in the next exercise. Lead into the word-frequency prompt.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Deliberately vague prompt. Compare with the concordance count for 'pride' (56 in the full download). Look for: Gutenberg licence left in; case; punctuation and curly quotes; underscores for italics; stop words silently removed (the very words stylometry needs). Compare top-20 lists across AIs in the room.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59" y="1037719"/>
            <a:ext cx="10545775" cy="1431161"/>
          </a:xfrm>
          <a:prstGeom prst="rect">
            <a:avLst/>
          </a:prstGeom>
          <a:noFill/>
        </p:spPr>
        <p:txBody>
          <a:bodyPr wrap="square" lIns="0" tIns="0" rIns="0" bIns="0" anchor="b">
            <a:spAutoFit/>
          </a:bodyPr>
          <a:lstStyle/>
          <a:p>
            <a:pPr algn="l">
              <a:spcAft>
                <a:spcPts val="600"/>
              </a:spcAft>
            </a:pPr>
            <a:r>
              <a:rPr sz="4400" b="0" i="0" dirty="0">
                <a:latin typeface="Cambria"/>
              </a:rPr>
              <a:t>Python: the grammar behind
what you've been doing</a:t>
            </a:r>
          </a:p>
        </p:txBody>
      </p:sp>
      <p:sp>
        <p:nvSpPr>
          <p:cNvPr id="3" name="TextBox 2"/>
          <p:cNvSpPr txBox="1"/>
          <p:nvPr/>
        </p:nvSpPr>
        <p:spPr>
          <a:xfrm>
            <a:off x="822960" y="3657600"/>
            <a:ext cx="10545775" cy="492443"/>
          </a:xfrm>
          <a:prstGeom prst="rect">
            <a:avLst/>
          </a:prstGeom>
          <a:noFill/>
        </p:spPr>
        <p:txBody>
          <a:bodyPr wrap="square" lIns="0" tIns="0" rIns="0" bIns="0" anchor="t">
            <a:spAutoFit/>
          </a:bodyPr>
          <a:lstStyle/>
          <a:p>
            <a:pPr algn="l">
              <a:spcAft>
                <a:spcPts val="1200"/>
              </a:spcAft>
            </a:pPr>
            <a:r>
              <a:rPr sz="3200" b="0" i="0" dirty="0">
                <a:latin typeface="Calibri"/>
              </a:rPr>
              <a:t>Syntax and constructs, from values to functions</a:t>
            </a:r>
          </a:p>
        </p:txBody>
      </p:sp>
      <p:sp>
        <p:nvSpPr>
          <p:cNvPr id="4" name="TextBox 3"/>
          <p:cNvSpPr txBox="1"/>
          <p:nvPr/>
        </p:nvSpPr>
        <p:spPr>
          <a:xfrm>
            <a:off x="822960" y="6035040"/>
            <a:ext cx="10545775" cy="215444"/>
          </a:xfrm>
          <a:prstGeom prst="rect">
            <a:avLst/>
          </a:prstGeom>
          <a:noFill/>
        </p:spPr>
        <p:txBody>
          <a:bodyPr wrap="square" lIns="0" tIns="0" rIns="0" bIns="0" anchor="t">
            <a:spAutoFit/>
          </a:bodyPr>
          <a:lstStyle/>
          <a:p>
            <a:pPr algn="l">
              <a:spcAft>
                <a:spcPts val="600"/>
              </a:spcAft>
            </a:pPr>
            <a:r>
              <a:rPr sz="1400" b="0" i="0">
                <a:latin typeface="Calibri"/>
              </a:rPr>
              <a:t>MSc Digital Scholarship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1"/>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Two ways to learn a language</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2</a:t>
            </a:r>
          </a:p>
        </p:txBody>
      </p:sp>
      <p:sp>
        <p:nvSpPr>
          <p:cNvPr id="5" name="TextBox 4"/>
          <p:cNvSpPr txBox="1"/>
          <p:nvPr/>
        </p:nvSpPr>
        <p:spPr>
          <a:xfrm>
            <a:off x="548640" y="1463040"/>
            <a:ext cx="5303520" cy="430887"/>
          </a:xfrm>
          <a:prstGeom prst="rect">
            <a:avLst/>
          </a:prstGeom>
          <a:noFill/>
        </p:spPr>
        <p:txBody>
          <a:bodyPr wrap="square" lIns="0" tIns="0" rIns="0" bIns="0" anchor="t">
            <a:spAutoFit/>
          </a:bodyPr>
          <a:lstStyle/>
          <a:p>
            <a:pPr algn="l">
              <a:spcAft>
                <a:spcPts val="600"/>
              </a:spcAft>
            </a:pPr>
            <a:r>
              <a:rPr sz="2800" b="0" i="0">
                <a:solidFill>
                  <a:srgbClr val="B5452B"/>
                </a:solidFill>
                <a:latin typeface="Cambria"/>
              </a:rPr>
              <a:t>Immersion</a:t>
            </a:r>
          </a:p>
        </p:txBody>
      </p:sp>
      <p:sp>
        <p:nvSpPr>
          <p:cNvPr id="6" name="TextBox 5"/>
          <p:cNvSpPr txBox="1"/>
          <p:nvPr/>
        </p:nvSpPr>
        <p:spPr>
          <a:xfrm>
            <a:off x="548640" y="2011680"/>
            <a:ext cx="5120640" cy="615553"/>
          </a:xfrm>
          <a:prstGeom prst="rect">
            <a:avLst/>
          </a:prstGeom>
          <a:noFill/>
        </p:spPr>
        <p:txBody>
          <a:bodyPr wrap="square" lIns="0" tIns="0" rIns="0" bIns="0" anchor="t">
            <a:spAutoFit/>
          </a:bodyPr>
          <a:lstStyle/>
          <a:p>
            <a:pPr algn="l">
              <a:spcAft>
                <a:spcPts val="600"/>
              </a:spcAft>
            </a:pPr>
            <a:r>
              <a:rPr sz="2000" b="0" i="0">
                <a:solidFill>
                  <a:srgbClr val="1A1A1A"/>
                </a:solidFill>
                <a:latin typeface="Calibri"/>
              </a:rPr>
              <a:t>What we did in Colab: run it, change it, see what happens, read the errors.</a:t>
            </a:r>
          </a:p>
        </p:txBody>
      </p:sp>
      <p:sp>
        <p:nvSpPr>
          <p:cNvPr id="7" name="Rounded Rectangle 6"/>
          <p:cNvSpPr/>
          <p:nvPr/>
        </p:nvSpPr>
        <p:spPr>
          <a:xfrm>
            <a:off x="548640" y="3200400"/>
            <a:ext cx="5303520" cy="182880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 name="TextBox 7"/>
          <p:cNvSpPr txBox="1"/>
          <p:nvPr/>
        </p:nvSpPr>
        <p:spPr>
          <a:xfrm>
            <a:off x="731520" y="3337560"/>
            <a:ext cx="4937759" cy="1066959"/>
          </a:xfrm>
          <a:prstGeom prst="rect">
            <a:avLst/>
          </a:prstGeom>
          <a:noFill/>
        </p:spPr>
        <p:txBody>
          <a:bodyPr wrap="square" lIns="45720" rIns="45720" anchor="t">
            <a:spAutoFit/>
          </a:bodyPr>
          <a:lstStyle/>
          <a:p>
            <a:pPr algn="l">
              <a:spcAft>
                <a:spcPts val="200"/>
              </a:spcAft>
            </a:pPr>
            <a:r>
              <a:rPr sz="2000" b="0" i="0">
                <a:solidFill>
                  <a:srgbClr val="1A1A1A"/>
                </a:solidFill>
                <a:latin typeface="Courier New"/>
              </a:rPr>
              <a:t>words = sample.split()</a:t>
            </a:r>
          </a:p>
          <a:p>
            <a:pPr algn="l">
              <a:spcAft>
                <a:spcPts val="200"/>
              </a:spcAft>
            </a:pPr>
            <a:r>
              <a:rPr sz="2000" b="0" i="0">
                <a:solidFill>
                  <a:srgbClr val="1A1A1A"/>
                </a:solidFill>
                <a:latin typeface="Courier New"/>
              </a:rPr>
              <a:t>words[-3:]</a:t>
            </a:r>
          </a:p>
          <a:p>
            <a:pPr algn="l">
              <a:spcAft>
                <a:spcPts val="200"/>
              </a:spcAft>
            </a:pPr>
            <a:r>
              <a:rPr sz="2000" b="0" i="0">
                <a:solidFill>
                  <a:srgbClr val="B5452B"/>
                </a:solidFill>
                <a:latin typeface="Courier New"/>
              </a:rPr>
              <a:t>→ ['knew', 'by', 'noon.']</a:t>
            </a:r>
          </a:p>
        </p:txBody>
      </p:sp>
      <p:sp>
        <p:nvSpPr>
          <p:cNvPr id="9" name="TextBox 8"/>
          <p:cNvSpPr txBox="1"/>
          <p:nvPr/>
        </p:nvSpPr>
        <p:spPr>
          <a:xfrm>
            <a:off x="6217920" y="1463040"/>
            <a:ext cx="5303520" cy="430887"/>
          </a:xfrm>
          <a:prstGeom prst="rect">
            <a:avLst/>
          </a:prstGeom>
          <a:noFill/>
        </p:spPr>
        <p:txBody>
          <a:bodyPr wrap="square" lIns="0" tIns="0" rIns="0" bIns="0" anchor="t">
            <a:spAutoFit/>
          </a:bodyPr>
          <a:lstStyle/>
          <a:p>
            <a:pPr algn="l">
              <a:spcAft>
                <a:spcPts val="600"/>
              </a:spcAft>
            </a:pPr>
            <a:r>
              <a:rPr sz="2800" b="0" i="0">
                <a:solidFill>
                  <a:srgbClr val="B5452B"/>
                </a:solidFill>
                <a:latin typeface="Cambria"/>
              </a:rPr>
              <a:t>The grammar book</a:t>
            </a:r>
          </a:p>
        </p:txBody>
      </p:sp>
      <p:sp>
        <p:nvSpPr>
          <p:cNvPr id="10" name="TextBox 9"/>
          <p:cNvSpPr txBox="1"/>
          <p:nvPr/>
        </p:nvSpPr>
        <p:spPr>
          <a:xfrm>
            <a:off x="6217920" y="2011680"/>
            <a:ext cx="5120640" cy="615553"/>
          </a:xfrm>
          <a:prstGeom prst="rect">
            <a:avLst/>
          </a:prstGeom>
          <a:noFill/>
        </p:spPr>
        <p:txBody>
          <a:bodyPr wrap="square" lIns="0" tIns="0" rIns="0" bIns="0" anchor="t">
            <a:spAutoFit/>
          </a:bodyPr>
          <a:lstStyle/>
          <a:p>
            <a:pPr algn="l">
              <a:spcAft>
                <a:spcPts val="600"/>
              </a:spcAft>
            </a:pPr>
            <a:r>
              <a:rPr sz="2000" b="0" i="0">
                <a:solidFill>
                  <a:srgbClr val="1A1A1A"/>
                </a:solidFill>
                <a:latin typeface="Calibri"/>
              </a:rPr>
              <a:t>What we do now: name the parts, see the patterns, know what's allowed.</a:t>
            </a:r>
          </a:p>
        </p:txBody>
      </p:sp>
      <p:sp>
        <p:nvSpPr>
          <p:cNvPr id="11" name="Rounded Rectangle 10"/>
          <p:cNvSpPr/>
          <p:nvPr/>
        </p:nvSpPr>
        <p:spPr>
          <a:xfrm>
            <a:off x="6217920" y="3200400"/>
            <a:ext cx="5303520" cy="182880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 name="TextBox 11"/>
          <p:cNvSpPr txBox="1"/>
          <p:nvPr/>
        </p:nvSpPr>
        <p:spPr>
          <a:xfrm>
            <a:off x="6400800" y="3337560"/>
            <a:ext cx="4937759" cy="733534"/>
          </a:xfrm>
          <a:prstGeom prst="rect">
            <a:avLst/>
          </a:prstGeom>
          <a:noFill/>
        </p:spPr>
        <p:txBody>
          <a:bodyPr wrap="square" lIns="45720" rIns="45720" anchor="t">
            <a:spAutoFit/>
          </a:bodyPr>
          <a:lstStyle/>
          <a:p>
            <a:pPr algn="l">
              <a:spcAft>
                <a:spcPts val="200"/>
              </a:spcAft>
            </a:pPr>
            <a:r>
              <a:rPr sz="2000" b="0" i="0">
                <a:solidFill>
                  <a:srgbClr val="1A1A1A"/>
                </a:solidFill>
                <a:latin typeface="Courier New"/>
              </a:rPr>
              <a:t>thing.method(argument)</a:t>
            </a:r>
          </a:p>
          <a:p>
            <a:pPr algn="l">
              <a:spcAft>
                <a:spcPts val="200"/>
              </a:spcAft>
            </a:pPr>
            <a:r>
              <a:rPr sz="2000" b="0" i="0">
                <a:solidFill>
                  <a:srgbClr val="1A1A1A"/>
                </a:solidFill>
                <a:latin typeface="Courier New"/>
              </a:rPr>
              <a:t>list[start:stop]</a:t>
            </a:r>
          </a:p>
        </p:txBody>
      </p:sp>
      <p:sp>
        <p:nvSpPr>
          <p:cNvPr id="13" name="TextBox 12"/>
          <p:cNvSpPr txBox="1"/>
          <p:nvPr/>
        </p:nvSpPr>
        <p:spPr>
          <a:xfrm>
            <a:off x="548640" y="5349240"/>
            <a:ext cx="10972800" cy="369332"/>
          </a:xfrm>
          <a:prstGeom prst="rect">
            <a:avLst/>
          </a:prstGeom>
          <a:noFill/>
        </p:spPr>
        <p:txBody>
          <a:bodyPr wrap="square" lIns="0" tIns="0" rIns="0" bIns="0" anchor="t">
            <a:spAutoFit/>
          </a:bodyPr>
          <a:lstStyle/>
          <a:p>
            <a:pPr algn="l">
              <a:spcAft>
                <a:spcPts val="600"/>
              </a:spcAft>
            </a:pPr>
            <a:r>
              <a:rPr sz="2400" b="0" i="1">
                <a:solidFill>
                  <a:srgbClr val="1F3A34"/>
                </a:solidFill>
                <a:latin typeface="Calibri"/>
              </a:rPr>
              <a:t>Both help. Each makes sense of the other.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2"/>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Every value has a type</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3</a:t>
            </a:r>
          </a:p>
        </p:txBody>
      </p:sp>
      <p:sp>
        <p:nvSpPr>
          <p:cNvPr id="5" name="Rounded Rectangle 4"/>
          <p:cNvSpPr/>
          <p:nvPr/>
        </p:nvSpPr>
        <p:spPr>
          <a:xfrm>
            <a:off x="548640" y="1417320"/>
            <a:ext cx="1463040" cy="685800"/>
          </a:xfrm>
          <a:prstGeom prst="roundRect">
            <a:avLst>
              <a:gd name="adj" fmla="val 6000"/>
            </a:avLst>
          </a:prstGeom>
          <a:solidFill>
            <a:srgbClr val="1F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TextBox 5"/>
          <p:cNvSpPr txBox="1"/>
          <p:nvPr/>
        </p:nvSpPr>
        <p:spPr>
          <a:xfrm>
            <a:off x="548640" y="1529387"/>
            <a:ext cx="1463040" cy="461665"/>
          </a:xfrm>
          <a:prstGeom prst="rect">
            <a:avLst/>
          </a:prstGeom>
          <a:noFill/>
        </p:spPr>
        <p:txBody>
          <a:bodyPr wrap="square" lIns="45720" rIns="45720" anchor="ctr">
            <a:spAutoFit/>
          </a:bodyPr>
          <a:lstStyle/>
          <a:p>
            <a:pPr algn="ctr">
              <a:spcAft>
                <a:spcPts val="600"/>
              </a:spcAft>
            </a:pPr>
            <a:r>
              <a:rPr sz="2400" b="0" i="0">
                <a:solidFill>
                  <a:srgbClr val="FFFFFF"/>
                </a:solidFill>
                <a:latin typeface="Courier New"/>
              </a:rPr>
              <a:t>str</a:t>
            </a:r>
          </a:p>
        </p:txBody>
      </p:sp>
      <p:sp>
        <p:nvSpPr>
          <p:cNvPr id="7" name="TextBox 6"/>
          <p:cNvSpPr txBox="1"/>
          <p:nvPr/>
        </p:nvSpPr>
        <p:spPr>
          <a:xfrm>
            <a:off x="2194560" y="1560165"/>
            <a:ext cx="2560320" cy="400110"/>
          </a:xfrm>
          <a:prstGeom prst="rect">
            <a:avLst/>
          </a:prstGeom>
          <a:noFill/>
        </p:spPr>
        <p:txBody>
          <a:bodyPr wrap="square" lIns="45720" rIns="45720" anchor="ctr">
            <a:spAutoFit/>
          </a:bodyPr>
          <a:lstStyle/>
          <a:p>
            <a:pPr algn="l">
              <a:spcAft>
                <a:spcPts val="600"/>
              </a:spcAft>
            </a:pPr>
            <a:r>
              <a:rPr sz="2000" b="0" i="0">
                <a:solidFill>
                  <a:srgbClr val="1A1A1A"/>
                </a:solidFill>
                <a:latin typeface="Calibri"/>
              </a:rPr>
              <a:t>string: text</a:t>
            </a:r>
          </a:p>
        </p:txBody>
      </p:sp>
      <p:sp>
        <p:nvSpPr>
          <p:cNvPr id="8" name="TextBox 7"/>
          <p:cNvSpPr txBox="1"/>
          <p:nvPr/>
        </p:nvSpPr>
        <p:spPr>
          <a:xfrm>
            <a:off x="4754880" y="1560165"/>
            <a:ext cx="2560320" cy="400110"/>
          </a:xfrm>
          <a:prstGeom prst="rect">
            <a:avLst/>
          </a:prstGeom>
          <a:noFill/>
        </p:spPr>
        <p:txBody>
          <a:bodyPr wrap="square" lIns="45720" rIns="45720" anchor="ctr">
            <a:spAutoFit/>
          </a:bodyPr>
          <a:lstStyle/>
          <a:p>
            <a:pPr algn="l">
              <a:spcAft>
                <a:spcPts val="600"/>
              </a:spcAft>
            </a:pPr>
            <a:r>
              <a:rPr sz="2000" b="0" i="0">
                <a:solidFill>
                  <a:srgbClr val="B5452B"/>
                </a:solidFill>
                <a:latin typeface="Courier New"/>
              </a:rPr>
              <a:t>"Bennet"</a:t>
            </a:r>
          </a:p>
        </p:txBody>
      </p:sp>
      <p:sp>
        <p:nvSpPr>
          <p:cNvPr id="9" name="Rounded Rectangle 8"/>
          <p:cNvSpPr/>
          <p:nvPr/>
        </p:nvSpPr>
        <p:spPr>
          <a:xfrm>
            <a:off x="548640" y="2286000"/>
            <a:ext cx="1463040" cy="685800"/>
          </a:xfrm>
          <a:prstGeom prst="roundRect">
            <a:avLst>
              <a:gd name="adj" fmla="val 6000"/>
            </a:avLst>
          </a:prstGeom>
          <a:solidFill>
            <a:srgbClr val="1F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0" name="TextBox 9"/>
          <p:cNvSpPr txBox="1"/>
          <p:nvPr/>
        </p:nvSpPr>
        <p:spPr>
          <a:xfrm>
            <a:off x="548640" y="2398067"/>
            <a:ext cx="1463040" cy="461665"/>
          </a:xfrm>
          <a:prstGeom prst="rect">
            <a:avLst/>
          </a:prstGeom>
          <a:noFill/>
        </p:spPr>
        <p:txBody>
          <a:bodyPr wrap="square" lIns="45720" rIns="45720" anchor="ctr">
            <a:spAutoFit/>
          </a:bodyPr>
          <a:lstStyle/>
          <a:p>
            <a:pPr algn="ctr">
              <a:spcAft>
                <a:spcPts val="600"/>
              </a:spcAft>
            </a:pPr>
            <a:r>
              <a:rPr sz="2400" b="0" i="0">
                <a:solidFill>
                  <a:srgbClr val="FFFFFF"/>
                </a:solidFill>
                <a:latin typeface="Courier New"/>
              </a:rPr>
              <a:t>int</a:t>
            </a:r>
          </a:p>
        </p:txBody>
      </p:sp>
      <p:sp>
        <p:nvSpPr>
          <p:cNvPr id="11" name="TextBox 10"/>
          <p:cNvSpPr txBox="1"/>
          <p:nvPr/>
        </p:nvSpPr>
        <p:spPr>
          <a:xfrm>
            <a:off x="2194560" y="2428845"/>
            <a:ext cx="2560320" cy="400110"/>
          </a:xfrm>
          <a:prstGeom prst="rect">
            <a:avLst/>
          </a:prstGeom>
          <a:noFill/>
        </p:spPr>
        <p:txBody>
          <a:bodyPr wrap="square" lIns="45720" rIns="45720" anchor="ctr">
            <a:spAutoFit/>
          </a:bodyPr>
          <a:lstStyle/>
          <a:p>
            <a:pPr algn="l">
              <a:spcAft>
                <a:spcPts val="600"/>
              </a:spcAft>
            </a:pPr>
            <a:r>
              <a:rPr sz="2000" b="0" i="0">
                <a:solidFill>
                  <a:srgbClr val="1A1A1A"/>
                </a:solidFill>
                <a:latin typeface="Calibri"/>
              </a:rPr>
              <a:t>whole number</a:t>
            </a:r>
          </a:p>
        </p:txBody>
      </p:sp>
      <p:sp>
        <p:nvSpPr>
          <p:cNvPr id="12" name="TextBox 11"/>
          <p:cNvSpPr txBox="1"/>
          <p:nvPr/>
        </p:nvSpPr>
        <p:spPr>
          <a:xfrm>
            <a:off x="4754880" y="2428845"/>
            <a:ext cx="2560320" cy="400110"/>
          </a:xfrm>
          <a:prstGeom prst="rect">
            <a:avLst/>
          </a:prstGeom>
          <a:noFill/>
        </p:spPr>
        <p:txBody>
          <a:bodyPr wrap="square" lIns="45720" rIns="45720" anchor="ctr">
            <a:spAutoFit/>
          </a:bodyPr>
          <a:lstStyle/>
          <a:p>
            <a:pPr algn="l">
              <a:spcAft>
                <a:spcPts val="600"/>
              </a:spcAft>
            </a:pPr>
            <a:r>
              <a:rPr sz="2000" b="0" i="0">
                <a:solidFill>
                  <a:srgbClr val="B5452B"/>
                </a:solidFill>
                <a:latin typeface="Courier New"/>
              </a:rPr>
              <a:t>39</a:t>
            </a:r>
          </a:p>
        </p:txBody>
      </p:sp>
      <p:sp>
        <p:nvSpPr>
          <p:cNvPr id="13" name="Rounded Rectangle 12"/>
          <p:cNvSpPr/>
          <p:nvPr/>
        </p:nvSpPr>
        <p:spPr>
          <a:xfrm>
            <a:off x="548640" y="3154680"/>
            <a:ext cx="1463040" cy="685800"/>
          </a:xfrm>
          <a:prstGeom prst="roundRect">
            <a:avLst>
              <a:gd name="adj" fmla="val 6000"/>
            </a:avLst>
          </a:prstGeom>
          <a:solidFill>
            <a:srgbClr val="1F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4" name="TextBox 13"/>
          <p:cNvSpPr txBox="1"/>
          <p:nvPr/>
        </p:nvSpPr>
        <p:spPr>
          <a:xfrm>
            <a:off x="548640" y="3266747"/>
            <a:ext cx="1463040" cy="461665"/>
          </a:xfrm>
          <a:prstGeom prst="rect">
            <a:avLst/>
          </a:prstGeom>
          <a:noFill/>
        </p:spPr>
        <p:txBody>
          <a:bodyPr wrap="square" lIns="45720" rIns="45720" anchor="ctr">
            <a:spAutoFit/>
          </a:bodyPr>
          <a:lstStyle/>
          <a:p>
            <a:pPr algn="ctr">
              <a:spcAft>
                <a:spcPts val="600"/>
              </a:spcAft>
            </a:pPr>
            <a:r>
              <a:rPr sz="2400" b="0" i="0">
                <a:solidFill>
                  <a:srgbClr val="FFFFFF"/>
                </a:solidFill>
                <a:latin typeface="Courier New"/>
              </a:rPr>
              <a:t>float</a:t>
            </a:r>
          </a:p>
        </p:txBody>
      </p:sp>
      <p:sp>
        <p:nvSpPr>
          <p:cNvPr id="15" name="TextBox 14"/>
          <p:cNvSpPr txBox="1"/>
          <p:nvPr/>
        </p:nvSpPr>
        <p:spPr>
          <a:xfrm>
            <a:off x="2194560" y="3297525"/>
            <a:ext cx="2560320" cy="400110"/>
          </a:xfrm>
          <a:prstGeom prst="rect">
            <a:avLst/>
          </a:prstGeom>
          <a:noFill/>
        </p:spPr>
        <p:txBody>
          <a:bodyPr wrap="square" lIns="45720" rIns="45720" anchor="ctr">
            <a:spAutoFit/>
          </a:bodyPr>
          <a:lstStyle/>
          <a:p>
            <a:pPr algn="l">
              <a:spcAft>
                <a:spcPts val="600"/>
              </a:spcAft>
            </a:pPr>
            <a:r>
              <a:rPr sz="2000" b="0" i="0">
                <a:solidFill>
                  <a:srgbClr val="1A1A1A"/>
                </a:solidFill>
                <a:latin typeface="Calibri"/>
              </a:rPr>
              <a:t>decimal number</a:t>
            </a:r>
          </a:p>
        </p:txBody>
      </p:sp>
      <p:sp>
        <p:nvSpPr>
          <p:cNvPr id="16" name="TextBox 15"/>
          <p:cNvSpPr txBox="1"/>
          <p:nvPr/>
        </p:nvSpPr>
        <p:spPr>
          <a:xfrm>
            <a:off x="4754880" y="3297525"/>
            <a:ext cx="2560320" cy="400110"/>
          </a:xfrm>
          <a:prstGeom prst="rect">
            <a:avLst/>
          </a:prstGeom>
          <a:noFill/>
        </p:spPr>
        <p:txBody>
          <a:bodyPr wrap="square" lIns="45720" rIns="45720" anchor="ctr">
            <a:spAutoFit/>
          </a:bodyPr>
          <a:lstStyle/>
          <a:p>
            <a:pPr algn="l">
              <a:spcAft>
                <a:spcPts val="600"/>
              </a:spcAft>
            </a:pPr>
            <a:r>
              <a:rPr sz="2000" b="0" i="0">
                <a:solidFill>
                  <a:srgbClr val="B5452B"/>
                </a:solidFill>
                <a:latin typeface="Courier New"/>
              </a:rPr>
              <a:t>4.2</a:t>
            </a:r>
          </a:p>
        </p:txBody>
      </p:sp>
      <p:sp>
        <p:nvSpPr>
          <p:cNvPr id="17" name="Rounded Rectangle 16"/>
          <p:cNvSpPr/>
          <p:nvPr/>
        </p:nvSpPr>
        <p:spPr>
          <a:xfrm>
            <a:off x="548640" y="4023359"/>
            <a:ext cx="1463040" cy="685800"/>
          </a:xfrm>
          <a:prstGeom prst="roundRect">
            <a:avLst>
              <a:gd name="adj" fmla="val 6000"/>
            </a:avLst>
          </a:prstGeom>
          <a:solidFill>
            <a:srgbClr val="1F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8" name="TextBox 17"/>
          <p:cNvSpPr txBox="1"/>
          <p:nvPr/>
        </p:nvSpPr>
        <p:spPr>
          <a:xfrm>
            <a:off x="548640" y="4135426"/>
            <a:ext cx="1463040" cy="461665"/>
          </a:xfrm>
          <a:prstGeom prst="rect">
            <a:avLst/>
          </a:prstGeom>
          <a:noFill/>
        </p:spPr>
        <p:txBody>
          <a:bodyPr wrap="square" lIns="45720" rIns="45720" anchor="ctr">
            <a:spAutoFit/>
          </a:bodyPr>
          <a:lstStyle/>
          <a:p>
            <a:pPr algn="ctr">
              <a:spcAft>
                <a:spcPts val="600"/>
              </a:spcAft>
            </a:pPr>
            <a:r>
              <a:rPr sz="2400" b="0" i="0">
                <a:solidFill>
                  <a:srgbClr val="FFFFFF"/>
                </a:solidFill>
                <a:latin typeface="Courier New"/>
              </a:rPr>
              <a:t>list</a:t>
            </a:r>
          </a:p>
        </p:txBody>
      </p:sp>
      <p:sp>
        <p:nvSpPr>
          <p:cNvPr id="19" name="TextBox 18"/>
          <p:cNvSpPr txBox="1"/>
          <p:nvPr/>
        </p:nvSpPr>
        <p:spPr>
          <a:xfrm>
            <a:off x="2194560" y="4166204"/>
            <a:ext cx="2560320" cy="400110"/>
          </a:xfrm>
          <a:prstGeom prst="rect">
            <a:avLst/>
          </a:prstGeom>
          <a:noFill/>
        </p:spPr>
        <p:txBody>
          <a:bodyPr wrap="square" lIns="45720" rIns="45720" anchor="ctr">
            <a:spAutoFit/>
          </a:bodyPr>
          <a:lstStyle/>
          <a:p>
            <a:pPr algn="l">
              <a:spcAft>
                <a:spcPts val="600"/>
              </a:spcAft>
            </a:pPr>
            <a:r>
              <a:rPr sz="2000" b="0" i="0">
                <a:solidFill>
                  <a:srgbClr val="1A1A1A"/>
                </a:solidFill>
                <a:latin typeface="Calibri"/>
              </a:rPr>
              <a:t>ordered collection</a:t>
            </a:r>
          </a:p>
        </p:txBody>
      </p:sp>
      <p:sp>
        <p:nvSpPr>
          <p:cNvPr id="20" name="TextBox 19"/>
          <p:cNvSpPr txBox="1"/>
          <p:nvPr/>
        </p:nvSpPr>
        <p:spPr>
          <a:xfrm>
            <a:off x="4754880" y="4012316"/>
            <a:ext cx="2560320" cy="707886"/>
          </a:xfrm>
          <a:prstGeom prst="rect">
            <a:avLst/>
          </a:prstGeom>
          <a:noFill/>
        </p:spPr>
        <p:txBody>
          <a:bodyPr wrap="square" lIns="45720" rIns="45720" anchor="ctr">
            <a:spAutoFit/>
          </a:bodyPr>
          <a:lstStyle/>
          <a:p>
            <a:pPr algn="l">
              <a:spcAft>
                <a:spcPts val="600"/>
              </a:spcAft>
            </a:pPr>
            <a:r>
              <a:rPr sz="2000" b="0" i="0">
                <a:solidFill>
                  <a:srgbClr val="B5452B"/>
                </a:solidFill>
                <a:latin typeface="Courier New"/>
              </a:rPr>
              <a:t>['Mr.', 'Bennet']</a:t>
            </a:r>
          </a:p>
        </p:txBody>
      </p:sp>
      <p:sp>
        <p:nvSpPr>
          <p:cNvPr id="21" name="Rounded Rectangle 20"/>
          <p:cNvSpPr/>
          <p:nvPr/>
        </p:nvSpPr>
        <p:spPr>
          <a:xfrm>
            <a:off x="548640" y="4892040"/>
            <a:ext cx="1463040" cy="685800"/>
          </a:xfrm>
          <a:prstGeom prst="roundRect">
            <a:avLst>
              <a:gd name="adj" fmla="val 6000"/>
            </a:avLst>
          </a:prstGeom>
          <a:solidFill>
            <a:srgbClr val="1F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2" name="TextBox 21"/>
          <p:cNvSpPr txBox="1"/>
          <p:nvPr/>
        </p:nvSpPr>
        <p:spPr>
          <a:xfrm>
            <a:off x="548640" y="5004107"/>
            <a:ext cx="1463040" cy="461665"/>
          </a:xfrm>
          <a:prstGeom prst="rect">
            <a:avLst/>
          </a:prstGeom>
          <a:noFill/>
        </p:spPr>
        <p:txBody>
          <a:bodyPr wrap="square" lIns="45720" rIns="45720" anchor="ctr">
            <a:spAutoFit/>
          </a:bodyPr>
          <a:lstStyle/>
          <a:p>
            <a:pPr algn="ctr">
              <a:spcAft>
                <a:spcPts val="600"/>
              </a:spcAft>
            </a:pPr>
            <a:r>
              <a:rPr sz="2400" b="0" i="0">
                <a:solidFill>
                  <a:srgbClr val="FFFFFF"/>
                </a:solidFill>
                <a:latin typeface="Courier New"/>
              </a:rPr>
              <a:t>bool</a:t>
            </a:r>
          </a:p>
        </p:txBody>
      </p:sp>
      <p:sp>
        <p:nvSpPr>
          <p:cNvPr id="23" name="TextBox 22"/>
          <p:cNvSpPr txBox="1"/>
          <p:nvPr/>
        </p:nvSpPr>
        <p:spPr>
          <a:xfrm>
            <a:off x="2194560" y="5034885"/>
            <a:ext cx="2560320" cy="400110"/>
          </a:xfrm>
          <a:prstGeom prst="rect">
            <a:avLst/>
          </a:prstGeom>
          <a:noFill/>
        </p:spPr>
        <p:txBody>
          <a:bodyPr wrap="square" lIns="45720" rIns="45720" anchor="ctr">
            <a:spAutoFit/>
          </a:bodyPr>
          <a:lstStyle/>
          <a:p>
            <a:pPr algn="l">
              <a:spcAft>
                <a:spcPts val="600"/>
              </a:spcAft>
            </a:pPr>
            <a:r>
              <a:rPr sz="2000" b="0" i="0">
                <a:solidFill>
                  <a:srgbClr val="1A1A1A"/>
                </a:solidFill>
                <a:latin typeface="Calibri"/>
              </a:rPr>
              <a:t>true or false</a:t>
            </a:r>
          </a:p>
        </p:txBody>
      </p:sp>
      <p:sp>
        <p:nvSpPr>
          <p:cNvPr id="24" name="TextBox 23"/>
          <p:cNvSpPr txBox="1"/>
          <p:nvPr/>
        </p:nvSpPr>
        <p:spPr>
          <a:xfrm>
            <a:off x="4754880" y="5034885"/>
            <a:ext cx="2560320" cy="400110"/>
          </a:xfrm>
          <a:prstGeom prst="rect">
            <a:avLst/>
          </a:prstGeom>
          <a:noFill/>
        </p:spPr>
        <p:txBody>
          <a:bodyPr wrap="square" lIns="45720" rIns="45720" anchor="ctr">
            <a:spAutoFit/>
          </a:bodyPr>
          <a:lstStyle/>
          <a:p>
            <a:pPr algn="l">
              <a:spcAft>
                <a:spcPts val="600"/>
              </a:spcAft>
            </a:pPr>
            <a:r>
              <a:rPr sz="2000" b="0" i="0">
                <a:solidFill>
                  <a:srgbClr val="B5452B"/>
                </a:solidFill>
                <a:latin typeface="Courier New"/>
              </a:rPr>
              <a:t>True</a:t>
            </a:r>
          </a:p>
        </p:txBody>
      </p:sp>
      <p:sp>
        <p:nvSpPr>
          <p:cNvPr id="25" name="Rounded Rectangle 24"/>
          <p:cNvSpPr/>
          <p:nvPr/>
        </p:nvSpPr>
        <p:spPr>
          <a:xfrm>
            <a:off x="7680960" y="1417320"/>
            <a:ext cx="3959352" cy="416052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TextBox 25"/>
          <p:cNvSpPr txBox="1"/>
          <p:nvPr/>
        </p:nvSpPr>
        <p:spPr>
          <a:xfrm>
            <a:off x="7863840" y="1554480"/>
            <a:ext cx="3593592" cy="3734356"/>
          </a:xfrm>
          <a:prstGeom prst="rect">
            <a:avLst/>
          </a:prstGeom>
          <a:noFill/>
        </p:spPr>
        <p:txBody>
          <a:bodyPr wrap="square" lIns="45720" rIns="45720" anchor="t">
            <a:spAutoFit/>
          </a:bodyPr>
          <a:lstStyle/>
          <a:p>
            <a:pPr algn="l">
              <a:spcAft>
                <a:spcPts val="200"/>
              </a:spcAft>
            </a:pPr>
            <a:r>
              <a:rPr sz="2000" b="0" i="0">
                <a:solidFill>
                  <a:srgbClr val="1A1A1A"/>
                </a:solidFill>
                <a:latin typeface="Courier New"/>
              </a:rPr>
              <a:t>type("Bennet")</a:t>
            </a:r>
          </a:p>
          <a:p>
            <a:pPr algn="l">
              <a:spcAft>
                <a:spcPts val="200"/>
              </a:spcAft>
            </a:pPr>
            <a:r>
              <a:rPr sz="2000" b="0" i="0">
                <a:solidFill>
                  <a:srgbClr val="B5452B"/>
                </a:solidFill>
                <a:latin typeface="Courier New"/>
              </a:rPr>
              <a:t>→ str</a:t>
            </a:r>
          </a:p>
          <a:p>
            <a:pPr algn="l">
              <a:spcAft>
                <a:spcPts val="200"/>
              </a:spcAft>
            </a:pPr>
            <a:r>
              <a:rPr sz="2000" b="0" i="0">
                <a:solidFill>
                  <a:srgbClr val="1A1A1A"/>
                </a:solidFill>
                <a:latin typeface="Courier New"/>
              </a:rPr>
              <a:t> </a:t>
            </a:r>
          </a:p>
          <a:p>
            <a:pPr algn="l">
              <a:spcAft>
                <a:spcPts val="200"/>
              </a:spcAft>
            </a:pPr>
            <a:r>
              <a:rPr sz="2000" b="0" i="0">
                <a:solidFill>
                  <a:srgbClr val="1A1A1A"/>
                </a:solidFill>
                <a:latin typeface="Courier New"/>
              </a:rPr>
              <a:t>type(39)</a:t>
            </a:r>
          </a:p>
          <a:p>
            <a:pPr algn="l">
              <a:spcAft>
                <a:spcPts val="200"/>
              </a:spcAft>
            </a:pPr>
            <a:r>
              <a:rPr sz="2000" b="0" i="0">
                <a:solidFill>
                  <a:srgbClr val="B5452B"/>
                </a:solidFill>
                <a:latin typeface="Courier New"/>
              </a:rPr>
              <a:t>→ int</a:t>
            </a:r>
          </a:p>
          <a:p>
            <a:pPr algn="l">
              <a:spcAft>
                <a:spcPts val="200"/>
              </a:spcAft>
            </a:pPr>
            <a:r>
              <a:rPr sz="2000" b="0" i="0">
                <a:solidFill>
                  <a:srgbClr val="1A1A1A"/>
                </a:solidFill>
                <a:latin typeface="Courier New"/>
              </a:rPr>
              <a:t> </a:t>
            </a:r>
          </a:p>
          <a:p>
            <a:pPr algn="l">
              <a:spcAft>
                <a:spcPts val="200"/>
              </a:spcAft>
            </a:pPr>
            <a:r>
              <a:rPr sz="2000" b="0" i="0">
                <a:solidFill>
                  <a:srgbClr val="1A1A1A"/>
                </a:solidFill>
                <a:latin typeface="Courier New"/>
              </a:rPr>
              <a:t>"10" + "5"</a:t>
            </a:r>
          </a:p>
          <a:p>
            <a:pPr algn="l">
              <a:spcAft>
                <a:spcPts val="200"/>
              </a:spcAft>
            </a:pPr>
            <a:r>
              <a:rPr sz="2000" b="0" i="0">
                <a:solidFill>
                  <a:srgbClr val="B5452B"/>
                </a:solidFill>
                <a:latin typeface="Courier New"/>
              </a:rPr>
              <a:t>→ '105'</a:t>
            </a:r>
          </a:p>
          <a:p>
            <a:pPr algn="l">
              <a:spcAft>
                <a:spcPts val="200"/>
              </a:spcAft>
            </a:pPr>
            <a:r>
              <a:rPr sz="2000" b="0" i="0">
                <a:solidFill>
                  <a:srgbClr val="1A1A1A"/>
                </a:solidFill>
                <a:latin typeface="Courier New"/>
              </a:rPr>
              <a:t> </a:t>
            </a:r>
          </a:p>
          <a:p>
            <a:pPr algn="l">
              <a:spcAft>
                <a:spcPts val="200"/>
              </a:spcAft>
            </a:pPr>
            <a:r>
              <a:rPr sz="2000" b="0" i="0">
                <a:solidFill>
                  <a:srgbClr val="1A1A1A"/>
                </a:solidFill>
                <a:latin typeface="Courier New"/>
              </a:rPr>
              <a:t>10 + 5</a:t>
            </a:r>
          </a:p>
          <a:p>
            <a:pPr algn="l">
              <a:spcAft>
                <a:spcPts val="200"/>
              </a:spcAft>
            </a:pPr>
            <a:r>
              <a:rPr sz="2000" b="0" i="0">
                <a:solidFill>
                  <a:srgbClr val="B5452B"/>
                </a:solidFill>
                <a:latin typeface="Courier New"/>
              </a:rPr>
              <a:t>→ 15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1"/>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 gives a name; == asks a question</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4</a:t>
            </a:r>
          </a:p>
        </p:txBody>
      </p:sp>
      <p:sp>
        <p:nvSpPr>
          <p:cNvPr id="5" name="TextBox 4"/>
          <p:cNvSpPr txBox="1"/>
          <p:nvPr/>
        </p:nvSpPr>
        <p:spPr>
          <a:xfrm>
            <a:off x="548640" y="1463040"/>
            <a:ext cx="5120640" cy="2831544"/>
          </a:xfrm>
          <a:prstGeom prst="rect">
            <a:avLst/>
          </a:prstGeom>
          <a:noFill/>
        </p:spPr>
        <p:txBody>
          <a:bodyPr wrap="square" lIns="0" tIns="0" rIns="0" bIns="0" anchor="t">
            <a:spAutoFit/>
          </a:bodyPr>
          <a:lstStyle/>
          <a:p>
            <a:pPr algn="l">
              <a:spcAft>
                <a:spcPts val="600"/>
              </a:spcAft>
            </a:pPr>
            <a:r>
              <a:rPr sz="3200" b="1" i="0">
                <a:solidFill>
                  <a:srgbClr val="B5452B"/>
                </a:solidFill>
                <a:latin typeface="Courier New"/>
              </a:rPr>
              <a:t>=</a:t>
            </a:r>
            <a:r>
              <a:rPr sz="2400" b="1" i="0">
                <a:solidFill>
                  <a:srgbClr val="1A1A1A"/>
                </a:solidFill>
                <a:latin typeface="Calibri"/>
              </a:rPr>
              <a:t>   assignment</a:t>
            </a:r>
          </a:p>
          <a:p>
            <a:pPr algn="l">
              <a:spcAft>
                <a:spcPts val="600"/>
              </a:spcAft>
            </a:pPr>
            <a:r>
              <a:rPr sz="2000" b="0" i="0">
                <a:solidFill>
                  <a:srgbClr val="1A1A1A"/>
                </a:solidFill>
                <a:latin typeface="Calibri"/>
              </a:rPr>
              <a:t>Make this name refer to this value. Read it as “is now”.</a:t>
            </a:r>
          </a:p>
          <a:p>
            <a:pPr algn="l">
              <a:spcAft>
                <a:spcPts val="600"/>
              </a:spcAft>
            </a:pPr>
            <a:r>
              <a:rPr sz="2000" b="0" i="0">
                <a:solidFill>
                  <a:srgbClr val="1A1A1A"/>
                </a:solidFill>
                <a:latin typeface="Calibri"/>
              </a:rPr>
              <a:t> </a:t>
            </a:r>
          </a:p>
          <a:p>
            <a:pPr algn="l">
              <a:spcAft>
                <a:spcPts val="600"/>
              </a:spcAft>
            </a:pPr>
            <a:r>
              <a:rPr sz="3200" b="1" i="0">
                <a:solidFill>
                  <a:srgbClr val="B5452B"/>
                </a:solidFill>
                <a:latin typeface="Courier New"/>
              </a:rPr>
              <a:t>==</a:t>
            </a:r>
            <a:r>
              <a:rPr sz="2400" b="1" i="0">
                <a:solidFill>
                  <a:srgbClr val="1A1A1A"/>
                </a:solidFill>
                <a:latin typeface="Calibri"/>
              </a:rPr>
              <a:t>  comparison</a:t>
            </a:r>
          </a:p>
          <a:p>
            <a:pPr algn="l">
              <a:spcAft>
                <a:spcPts val="600"/>
              </a:spcAft>
            </a:pPr>
            <a:r>
              <a:rPr sz="2000" b="0" i="0">
                <a:solidFill>
                  <a:srgbClr val="1A1A1A"/>
                </a:solidFill>
                <a:latin typeface="Calibri"/>
              </a:rPr>
              <a:t>Are these two values equal? The answer is True or False.</a:t>
            </a:r>
          </a:p>
        </p:txBody>
      </p:sp>
      <p:sp>
        <p:nvSpPr>
          <p:cNvPr id="6" name="Rounded Rectangle 5"/>
          <p:cNvSpPr/>
          <p:nvPr/>
        </p:nvSpPr>
        <p:spPr>
          <a:xfrm>
            <a:off x="6035040" y="1463040"/>
            <a:ext cx="5605272" cy="402336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7" name="TextBox 6"/>
          <p:cNvSpPr txBox="1"/>
          <p:nvPr/>
        </p:nvSpPr>
        <p:spPr>
          <a:xfrm>
            <a:off x="6217920" y="1600200"/>
            <a:ext cx="5239512" cy="2734082"/>
          </a:xfrm>
          <a:prstGeom prst="rect">
            <a:avLst/>
          </a:prstGeom>
          <a:noFill/>
        </p:spPr>
        <p:txBody>
          <a:bodyPr wrap="square" lIns="45720" rIns="45720" anchor="t">
            <a:spAutoFit/>
          </a:bodyPr>
          <a:lstStyle/>
          <a:p>
            <a:pPr algn="l">
              <a:spcAft>
                <a:spcPts val="200"/>
              </a:spcAft>
            </a:pPr>
            <a:r>
              <a:rPr sz="2000" b="0" i="0">
                <a:solidFill>
                  <a:srgbClr val="1A1A1A"/>
                </a:solidFill>
                <a:latin typeface="Courier New"/>
              </a:rPr>
              <a:t>size = len(sample)   </a:t>
            </a:r>
            <a:r>
              <a:rPr sz="2000" b="0" i="1">
                <a:solidFill>
                  <a:srgbClr val="5F6B66"/>
                </a:solidFill>
                <a:latin typeface="Courier New"/>
              </a:rPr>
              <a:t># now 196</a:t>
            </a:r>
          </a:p>
          <a:p>
            <a:pPr algn="l">
              <a:spcAft>
                <a:spcPts val="200"/>
              </a:spcAft>
            </a:pPr>
            <a:r>
              <a:rPr sz="2000" b="0" i="0">
                <a:solidFill>
                  <a:srgbClr val="1A1A1A"/>
                </a:solidFill>
                <a:latin typeface="Courier New"/>
              </a:rPr>
              <a:t> </a:t>
            </a:r>
          </a:p>
          <a:p>
            <a:pPr algn="l">
              <a:spcAft>
                <a:spcPts val="200"/>
              </a:spcAft>
            </a:pPr>
            <a:r>
              <a:rPr sz="2000" b="0" i="0">
                <a:solidFill>
                  <a:srgbClr val="1A1A1A"/>
                </a:solidFill>
                <a:latin typeface="Courier New"/>
              </a:rPr>
              <a:t>size == 196          </a:t>
            </a:r>
            <a:r>
              <a:rPr sz="2000" b="0" i="1">
                <a:solidFill>
                  <a:srgbClr val="5F6B66"/>
                </a:solidFill>
                <a:latin typeface="Courier New"/>
              </a:rPr>
              <a:t># is it 196?</a:t>
            </a:r>
          </a:p>
          <a:p>
            <a:pPr algn="l">
              <a:spcAft>
                <a:spcPts val="200"/>
              </a:spcAft>
            </a:pPr>
            <a:r>
              <a:rPr sz="2000" b="0" i="0">
                <a:solidFill>
                  <a:srgbClr val="B5452B"/>
                </a:solidFill>
                <a:latin typeface="Courier New"/>
              </a:rPr>
              <a:t>→ True</a:t>
            </a:r>
          </a:p>
          <a:p>
            <a:pPr algn="l">
              <a:spcAft>
                <a:spcPts val="200"/>
              </a:spcAft>
            </a:pPr>
            <a:r>
              <a:rPr sz="2000" b="0" i="0">
                <a:solidFill>
                  <a:srgbClr val="1A1A1A"/>
                </a:solidFill>
                <a:latin typeface="Courier New"/>
              </a:rPr>
              <a:t> </a:t>
            </a:r>
          </a:p>
          <a:p>
            <a:pPr algn="l">
              <a:spcAft>
                <a:spcPts val="200"/>
              </a:spcAft>
            </a:pPr>
            <a:r>
              <a:rPr sz="2000" b="0" i="0">
                <a:solidFill>
                  <a:srgbClr val="1A1A1A"/>
                </a:solidFill>
                <a:latin typeface="Courier New"/>
              </a:rPr>
              <a:t>name = "Bennet"</a:t>
            </a:r>
          </a:p>
          <a:p>
            <a:pPr algn="l">
              <a:spcAft>
                <a:spcPts val="200"/>
              </a:spcAft>
            </a:pPr>
            <a:r>
              <a:rPr sz="2000" b="0" i="0">
                <a:solidFill>
                  <a:srgbClr val="1A1A1A"/>
                </a:solidFill>
                <a:latin typeface="Courier New"/>
              </a:rPr>
              <a:t>name == "bennet"     </a:t>
            </a:r>
            <a:r>
              <a:rPr sz="2000" b="0" i="1">
                <a:solidFill>
                  <a:srgbClr val="5F6B66"/>
                </a:solidFill>
                <a:latin typeface="Courier New"/>
              </a:rPr>
              <a:t># capitals!</a:t>
            </a:r>
          </a:p>
          <a:p>
            <a:pPr algn="l">
              <a:spcAft>
                <a:spcPts val="200"/>
              </a:spcAft>
            </a:pPr>
            <a:r>
              <a:rPr sz="2000" b="0" i="0">
                <a:solidFill>
                  <a:srgbClr val="B5452B"/>
                </a:solidFill>
                <a:latin typeface="Courier New"/>
              </a:rPr>
              <a:t>→ False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1"/>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Three ways to call a tool</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5</a:t>
            </a:r>
          </a:p>
        </p:txBody>
      </p:sp>
      <p:sp>
        <p:nvSpPr>
          <p:cNvPr id="5" name="Rounded Rectangle 4"/>
          <p:cNvSpPr/>
          <p:nvPr/>
        </p:nvSpPr>
        <p:spPr>
          <a:xfrm>
            <a:off x="548640" y="1417320"/>
            <a:ext cx="3520440" cy="393192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TextBox 5"/>
          <p:cNvSpPr txBox="1"/>
          <p:nvPr/>
        </p:nvSpPr>
        <p:spPr>
          <a:xfrm>
            <a:off x="777240" y="1600200"/>
            <a:ext cx="3108960" cy="246221"/>
          </a:xfrm>
          <a:prstGeom prst="rect">
            <a:avLst/>
          </a:prstGeom>
          <a:noFill/>
        </p:spPr>
        <p:txBody>
          <a:bodyPr wrap="square" lIns="0" tIns="0" rIns="0" bIns="0" anchor="t">
            <a:spAutoFit/>
          </a:bodyPr>
          <a:lstStyle/>
          <a:p>
            <a:pPr algn="l">
              <a:spcAft>
                <a:spcPts val="600"/>
              </a:spcAft>
            </a:pPr>
            <a:r>
              <a:rPr sz="1600" b="1" i="0">
                <a:solidFill>
                  <a:srgbClr val="B5452B"/>
                </a:solidFill>
                <a:latin typeface="Calibri"/>
              </a:rPr>
              <a:t>FUNCTION</a:t>
            </a:r>
          </a:p>
        </p:txBody>
      </p:sp>
      <p:sp>
        <p:nvSpPr>
          <p:cNvPr id="7" name="TextBox 6"/>
          <p:cNvSpPr txBox="1"/>
          <p:nvPr/>
        </p:nvSpPr>
        <p:spPr>
          <a:xfrm>
            <a:off x="777240" y="2103120"/>
            <a:ext cx="3108960" cy="369332"/>
          </a:xfrm>
          <a:prstGeom prst="rect">
            <a:avLst/>
          </a:prstGeom>
          <a:noFill/>
        </p:spPr>
        <p:txBody>
          <a:bodyPr wrap="square" lIns="0" tIns="0" rIns="0" bIns="0" anchor="t">
            <a:spAutoFit/>
          </a:bodyPr>
          <a:lstStyle/>
          <a:p>
            <a:pPr algn="l">
              <a:spcAft>
                <a:spcPts val="600"/>
              </a:spcAft>
            </a:pPr>
            <a:r>
              <a:rPr sz="2400" b="0" i="0">
                <a:solidFill>
                  <a:srgbClr val="1F3A34"/>
                </a:solidFill>
                <a:latin typeface="Courier New"/>
              </a:rPr>
              <a:t>function(thing)</a:t>
            </a:r>
          </a:p>
        </p:txBody>
      </p:sp>
      <p:sp>
        <p:nvSpPr>
          <p:cNvPr id="8" name="TextBox 7"/>
          <p:cNvSpPr txBox="1"/>
          <p:nvPr/>
        </p:nvSpPr>
        <p:spPr>
          <a:xfrm>
            <a:off x="777240" y="3017520"/>
            <a:ext cx="3108960" cy="246221"/>
          </a:xfrm>
          <a:prstGeom prst="rect">
            <a:avLst/>
          </a:prstGeom>
          <a:noFill/>
        </p:spPr>
        <p:txBody>
          <a:bodyPr wrap="square" lIns="0" tIns="0" rIns="0" bIns="0" anchor="t">
            <a:spAutoFit/>
          </a:bodyPr>
          <a:lstStyle/>
          <a:p>
            <a:pPr algn="l">
              <a:spcAft>
                <a:spcPts val="600"/>
              </a:spcAft>
            </a:pPr>
            <a:r>
              <a:rPr sz="1600" b="0" i="0">
                <a:solidFill>
                  <a:srgbClr val="5F6B66"/>
                </a:solidFill>
                <a:latin typeface="Calibri"/>
              </a:rPr>
              <a:t>Example</a:t>
            </a:r>
          </a:p>
        </p:txBody>
      </p:sp>
      <p:sp>
        <p:nvSpPr>
          <p:cNvPr id="9" name="TextBox 8"/>
          <p:cNvSpPr txBox="1"/>
          <p:nvPr/>
        </p:nvSpPr>
        <p:spPr>
          <a:xfrm>
            <a:off x="777240" y="3383280"/>
            <a:ext cx="3108960" cy="307777"/>
          </a:xfrm>
          <a:prstGeom prst="rect">
            <a:avLst/>
          </a:prstGeom>
          <a:noFill/>
        </p:spPr>
        <p:txBody>
          <a:bodyPr wrap="square" lIns="0" tIns="0" rIns="0" bIns="0" anchor="t">
            <a:spAutoFit/>
          </a:bodyPr>
          <a:lstStyle/>
          <a:p>
            <a:pPr algn="l">
              <a:spcAft>
                <a:spcPts val="600"/>
              </a:spcAft>
            </a:pPr>
            <a:r>
              <a:rPr sz="2000" b="0" i="0">
                <a:solidFill>
                  <a:srgbClr val="1A1A1A"/>
                </a:solidFill>
                <a:latin typeface="Courier New"/>
              </a:rPr>
              <a:t>len(sample)</a:t>
            </a:r>
          </a:p>
        </p:txBody>
      </p:sp>
      <p:sp>
        <p:nvSpPr>
          <p:cNvPr id="10" name="TextBox 9"/>
          <p:cNvSpPr txBox="1"/>
          <p:nvPr/>
        </p:nvSpPr>
        <p:spPr>
          <a:xfrm>
            <a:off x="777240" y="4206240"/>
            <a:ext cx="3108960" cy="246221"/>
          </a:xfrm>
          <a:prstGeom prst="rect">
            <a:avLst/>
          </a:prstGeom>
          <a:noFill/>
        </p:spPr>
        <p:txBody>
          <a:bodyPr wrap="square" lIns="0" tIns="0" rIns="0" bIns="0" anchor="t">
            <a:spAutoFit/>
          </a:bodyPr>
          <a:lstStyle/>
          <a:p>
            <a:pPr algn="l">
              <a:spcAft>
                <a:spcPts val="600"/>
              </a:spcAft>
            </a:pPr>
            <a:r>
              <a:rPr sz="1600" b="0" i="0">
                <a:solidFill>
                  <a:srgbClr val="5F6B66"/>
                </a:solidFill>
                <a:latin typeface="Calibri"/>
              </a:rPr>
              <a:t>Read it as</a:t>
            </a:r>
          </a:p>
        </p:txBody>
      </p:sp>
      <p:sp>
        <p:nvSpPr>
          <p:cNvPr id="11" name="TextBox 10"/>
          <p:cNvSpPr txBox="1"/>
          <p:nvPr/>
        </p:nvSpPr>
        <p:spPr>
          <a:xfrm>
            <a:off x="777240" y="4572000"/>
            <a:ext cx="3108960" cy="307777"/>
          </a:xfrm>
          <a:prstGeom prst="rect">
            <a:avLst/>
          </a:prstGeom>
          <a:noFill/>
        </p:spPr>
        <p:txBody>
          <a:bodyPr wrap="square" lIns="0" tIns="0" rIns="0" bIns="0" anchor="t">
            <a:spAutoFit/>
          </a:bodyPr>
          <a:lstStyle/>
          <a:p>
            <a:pPr algn="l">
              <a:spcAft>
                <a:spcPts val="600"/>
              </a:spcAft>
            </a:pPr>
            <a:r>
              <a:rPr sz="2000" b="0" i="1">
                <a:solidFill>
                  <a:srgbClr val="1A1A1A"/>
                </a:solidFill>
                <a:latin typeface="Calibri"/>
              </a:rPr>
              <a:t>do len to sample</a:t>
            </a:r>
          </a:p>
        </p:txBody>
      </p:sp>
      <p:sp>
        <p:nvSpPr>
          <p:cNvPr id="12" name="Rounded Rectangle 11"/>
          <p:cNvSpPr/>
          <p:nvPr/>
        </p:nvSpPr>
        <p:spPr>
          <a:xfrm>
            <a:off x="4297679" y="1417320"/>
            <a:ext cx="3520440" cy="393192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3" name="TextBox 12"/>
          <p:cNvSpPr txBox="1"/>
          <p:nvPr/>
        </p:nvSpPr>
        <p:spPr>
          <a:xfrm>
            <a:off x="4526279" y="1600200"/>
            <a:ext cx="3108960" cy="246221"/>
          </a:xfrm>
          <a:prstGeom prst="rect">
            <a:avLst/>
          </a:prstGeom>
          <a:noFill/>
        </p:spPr>
        <p:txBody>
          <a:bodyPr wrap="square" lIns="0" tIns="0" rIns="0" bIns="0" anchor="t">
            <a:spAutoFit/>
          </a:bodyPr>
          <a:lstStyle/>
          <a:p>
            <a:pPr algn="l">
              <a:spcAft>
                <a:spcPts val="600"/>
              </a:spcAft>
            </a:pPr>
            <a:r>
              <a:rPr sz="1600" b="1" i="0">
                <a:solidFill>
                  <a:srgbClr val="B5452B"/>
                </a:solidFill>
                <a:latin typeface="Calibri"/>
              </a:rPr>
              <a:t>METHOD</a:t>
            </a:r>
          </a:p>
        </p:txBody>
      </p:sp>
      <p:sp>
        <p:nvSpPr>
          <p:cNvPr id="14" name="TextBox 13"/>
          <p:cNvSpPr txBox="1"/>
          <p:nvPr/>
        </p:nvSpPr>
        <p:spPr>
          <a:xfrm>
            <a:off x="4526279" y="2103120"/>
            <a:ext cx="3108960" cy="369332"/>
          </a:xfrm>
          <a:prstGeom prst="rect">
            <a:avLst/>
          </a:prstGeom>
          <a:noFill/>
        </p:spPr>
        <p:txBody>
          <a:bodyPr wrap="square" lIns="0" tIns="0" rIns="0" bIns="0" anchor="t">
            <a:spAutoFit/>
          </a:bodyPr>
          <a:lstStyle/>
          <a:p>
            <a:pPr algn="l">
              <a:spcAft>
                <a:spcPts val="600"/>
              </a:spcAft>
            </a:pPr>
            <a:r>
              <a:rPr sz="2400" b="0" i="0">
                <a:solidFill>
                  <a:srgbClr val="1F3A34"/>
                </a:solidFill>
                <a:latin typeface="Courier New"/>
              </a:rPr>
              <a:t>thing.method(…)</a:t>
            </a:r>
          </a:p>
        </p:txBody>
      </p:sp>
      <p:sp>
        <p:nvSpPr>
          <p:cNvPr id="15" name="TextBox 14"/>
          <p:cNvSpPr txBox="1"/>
          <p:nvPr/>
        </p:nvSpPr>
        <p:spPr>
          <a:xfrm>
            <a:off x="4526279" y="3017520"/>
            <a:ext cx="3108960" cy="246221"/>
          </a:xfrm>
          <a:prstGeom prst="rect">
            <a:avLst/>
          </a:prstGeom>
          <a:noFill/>
        </p:spPr>
        <p:txBody>
          <a:bodyPr wrap="square" lIns="0" tIns="0" rIns="0" bIns="0" anchor="t">
            <a:spAutoFit/>
          </a:bodyPr>
          <a:lstStyle/>
          <a:p>
            <a:pPr algn="l">
              <a:spcAft>
                <a:spcPts val="600"/>
              </a:spcAft>
            </a:pPr>
            <a:r>
              <a:rPr sz="1600" b="0" i="0">
                <a:solidFill>
                  <a:srgbClr val="5F6B66"/>
                </a:solidFill>
                <a:latin typeface="Calibri"/>
              </a:rPr>
              <a:t>Example</a:t>
            </a:r>
          </a:p>
        </p:txBody>
      </p:sp>
      <p:sp>
        <p:nvSpPr>
          <p:cNvPr id="16" name="TextBox 15"/>
          <p:cNvSpPr txBox="1"/>
          <p:nvPr/>
        </p:nvSpPr>
        <p:spPr>
          <a:xfrm>
            <a:off x="4526279" y="3383280"/>
            <a:ext cx="3108960" cy="307777"/>
          </a:xfrm>
          <a:prstGeom prst="rect">
            <a:avLst/>
          </a:prstGeom>
          <a:noFill/>
        </p:spPr>
        <p:txBody>
          <a:bodyPr wrap="square" lIns="0" tIns="0" rIns="0" bIns="0" anchor="t">
            <a:spAutoFit/>
          </a:bodyPr>
          <a:lstStyle/>
          <a:p>
            <a:pPr algn="l">
              <a:spcAft>
                <a:spcPts val="600"/>
              </a:spcAft>
            </a:pPr>
            <a:r>
              <a:rPr sz="2000" b="0" i="0">
                <a:solidFill>
                  <a:srgbClr val="1A1A1A"/>
                </a:solidFill>
                <a:latin typeface="Courier New"/>
              </a:rPr>
              <a:t>sample.split()</a:t>
            </a:r>
          </a:p>
        </p:txBody>
      </p:sp>
      <p:sp>
        <p:nvSpPr>
          <p:cNvPr id="17" name="TextBox 16"/>
          <p:cNvSpPr txBox="1"/>
          <p:nvPr/>
        </p:nvSpPr>
        <p:spPr>
          <a:xfrm>
            <a:off x="4526279" y="4206240"/>
            <a:ext cx="3108960" cy="246221"/>
          </a:xfrm>
          <a:prstGeom prst="rect">
            <a:avLst/>
          </a:prstGeom>
          <a:noFill/>
        </p:spPr>
        <p:txBody>
          <a:bodyPr wrap="square" lIns="0" tIns="0" rIns="0" bIns="0" anchor="t">
            <a:spAutoFit/>
          </a:bodyPr>
          <a:lstStyle/>
          <a:p>
            <a:pPr algn="l">
              <a:spcAft>
                <a:spcPts val="600"/>
              </a:spcAft>
            </a:pPr>
            <a:r>
              <a:rPr sz="1600" b="0" i="0">
                <a:solidFill>
                  <a:srgbClr val="5F6B66"/>
                </a:solidFill>
                <a:latin typeface="Calibri"/>
              </a:rPr>
              <a:t>Read it as</a:t>
            </a:r>
          </a:p>
        </p:txBody>
      </p:sp>
      <p:sp>
        <p:nvSpPr>
          <p:cNvPr id="18" name="TextBox 17"/>
          <p:cNvSpPr txBox="1"/>
          <p:nvPr/>
        </p:nvSpPr>
        <p:spPr>
          <a:xfrm>
            <a:off x="4526279" y="4572000"/>
            <a:ext cx="3108960" cy="307777"/>
          </a:xfrm>
          <a:prstGeom prst="rect">
            <a:avLst/>
          </a:prstGeom>
          <a:noFill/>
        </p:spPr>
        <p:txBody>
          <a:bodyPr wrap="square" lIns="0" tIns="0" rIns="0" bIns="0" anchor="t">
            <a:spAutoFit/>
          </a:bodyPr>
          <a:lstStyle/>
          <a:p>
            <a:pPr algn="l">
              <a:spcAft>
                <a:spcPts val="600"/>
              </a:spcAft>
            </a:pPr>
            <a:r>
              <a:rPr sz="2000" b="0" i="1">
                <a:solidFill>
                  <a:srgbClr val="1A1A1A"/>
                </a:solidFill>
                <a:latin typeface="Calibri"/>
              </a:rPr>
              <a:t>take sample and split it</a:t>
            </a:r>
          </a:p>
        </p:txBody>
      </p:sp>
      <p:sp>
        <p:nvSpPr>
          <p:cNvPr id="19" name="Rounded Rectangle 18"/>
          <p:cNvSpPr/>
          <p:nvPr/>
        </p:nvSpPr>
        <p:spPr>
          <a:xfrm>
            <a:off x="8046719" y="1417320"/>
            <a:ext cx="3520440" cy="393192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0" name="TextBox 19"/>
          <p:cNvSpPr txBox="1"/>
          <p:nvPr/>
        </p:nvSpPr>
        <p:spPr>
          <a:xfrm>
            <a:off x="8275319" y="1600200"/>
            <a:ext cx="3108960" cy="246221"/>
          </a:xfrm>
          <a:prstGeom prst="rect">
            <a:avLst/>
          </a:prstGeom>
          <a:noFill/>
        </p:spPr>
        <p:txBody>
          <a:bodyPr wrap="square" lIns="0" tIns="0" rIns="0" bIns="0" anchor="t">
            <a:spAutoFit/>
          </a:bodyPr>
          <a:lstStyle/>
          <a:p>
            <a:pPr algn="l">
              <a:spcAft>
                <a:spcPts val="600"/>
              </a:spcAft>
            </a:pPr>
            <a:r>
              <a:rPr sz="1600" b="1" i="0">
                <a:solidFill>
                  <a:srgbClr val="B5452B"/>
                </a:solidFill>
                <a:latin typeface="Calibri"/>
              </a:rPr>
              <a:t>MODULE FUNCTION</a:t>
            </a:r>
          </a:p>
        </p:txBody>
      </p:sp>
      <p:sp>
        <p:nvSpPr>
          <p:cNvPr id="21" name="TextBox 20"/>
          <p:cNvSpPr txBox="1"/>
          <p:nvPr/>
        </p:nvSpPr>
        <p:spPr>
          <a:xfrm>
            <a:off x="8275319" y="2103120"/>
            <a:ext cx="3108960" cy="731520"/>
          </a:xfrm>
          <a:prstGeom prst="rect">
            <a:avLst/>
          </a:prstGeom>
          <a:noFill/>
        </p:spPr>
        <p:txBody>
          <a:bodyPr wrap="square" lIns="0" tIns="0" rIns="0" bIns="0" anchor="t">
            <a:spAutoFit/>
          </a:bodyPr>
          <a:lstStyle/>
          <a:p>
            <a:pPr algn="l">
              <a:spcAft>
                <a:spcPts val="600"/>
              </a:spcAft>
            </a:pPr>
            <a:r>
              <a:rPr sz="2400" b="0" i="0">
                <a:solidFill>
                  <a:srgbClr val="1F3A34"/>
                </a:solidFill>
                <a:latin typeface="Courier New"/>
              </a:rPr>
              <a:t>module.function(…)</a:t>
            </a:r>
          </a:p>
        </p:txBody>
      </p:sp>
      <p:sp>
        <p:nvSpPr>
          <p:cNvPr id="22" name="TextBox 21"/>
          <p:cNvSpPr txBox="1"/>
          <p:nvPr/>
        </p:nvSpPr>
        <p:spPr>
          <a:xfrm>
            <a:off x="8275319" y="3017520"/>
            <a:ext cx="3108960" cy="246221"/>
          </a:xfrm>
          <a:prstGeom prst="rect">
            <a:avLst/>
          </a:prstGeom>
          <a:noFill/>
        </p:spPr>
        <p:txBody>
          <a:bodyPr wrap="square" lIns="0" tIns="0" rIns="0" bIns="0" anchor="t">
            <a:spAutoFit/>
          </a:bodyPr>
          <a:lstStyle/>
          <a:p>
            <a:pPr algn="l">
              <a:spcAft>
                <a:spcPts val="600"/>
              </a:spcAft>
            </a:pPr>
            <a:r>
              <a:rPr sz="1600" b="0" i="0">
                <a:solidFill>
                  <a:srgbClr val="5F6B66"/>
                </a:solidFill>
                <a:latin typeface="Calibri"/>
              </a:rPr>
              <a:t>Example</a:t>
            </a:r>
          </a:p>
        </p:txBody>
      </p:sp>
      <p:sp>
        <p:nvSpPr>
          <p:cNvPr id="23" name="TextBox 22"/>
          <p:cNvSpPr txBox="1"/>
          <p:nvPr/>
        </p:nvSpPr>
        <p:spPr>
          <a:xfrm>
            <a:off x="8275319" y="3383280"/>
            <a:ext cx="3108960" cy="307777"/>
          </a:xfrm>
          <a:prstGeom prst="rect">
            <a:avLst/>
          </a:prstGeom>
          <a:noFill/>
        </p:spPr>
        <p:txBody>
          <a:bodyPr wrap="square" lIns="0" tIns="0" rIns="0" bIns="0" anchor="t">
            <a:spAutoFit/>
          </a:bodyPr>
          <a:lstStyle/>
          <a:p>
            <a:pPr algn="l">
              <a:spcAft>
                <a:spcPts val="600"/>
              </a:spcAft>
            </a:pPr>
            <a:r>
              <a:rPr sz="2000" b="0" i="0">
                <a:solidFill>
                  <a:srgbClr val="1A1A1A"/>
                </a:solidFill>
                <a:latin typeface="Courier New"/>
              </a:rPr>
              <a:t>statistics.mean(x)</a:t>
            </a:r>
          </a:p>
        </p:txBody>
      </p:sp>
      <p:sp>
        <p:nvSpPr>
          <p:cNvPr id="24" name="TextBox 23"/>
          <p:cNvSpPr txBox="1"/>
          <p:nvPr/>
        </p:nvSpPr>
        <p:spPr>
          <a:xfrm>
            <a:off x="8275319" y="4206240"/>
            <a:ext cx="3108960" cy="246221"/>
          </a:xfrm>
          <a:prstGeom prst="rect">
            <a:avLst/>
          </a:prstGeom>
          <a:noFill/>
        </p:spPr>
        <p:txBody>
          <a:bodyPr wrap="square" lIns="0" tIns="0" rIns="0" bIns="0" anchor="t">
            <a:spAutoFit/>
          </a:bodyPr>
          <a:lstStyle/>
          <a:p>
            <a:pPr algn="l">
              <a:spcAft>
                <a:spcPts val="600"/>
              </a:spcAft>
            </a:pPr>
            <a:r>
              <a:rPr sz="1600" b="0" i="0">
                <a:solidFill>
                  <a:srgbClr val="5F6B66"/>
                </a:solidFill>
                <a:latin typeface="Calibri"/>
              </a:rPr>
              <a:t>Read it as</a:t>
            </a:r>
          </a:p>
        </p:txBody>
      </p:sp>
      <p:sp>
        <p:nvSpPr>
          <p:cNvPr id="25" name="TextBox 24"/>
          <p:cNvSpPr txBox="1"/>
          <p:nvPr/>
        </p:nvSpPr>
        <p:spPr>
          <a:xfrm>
            <a:off x="8275319" y="4572000"/>
            <a:ext cx="3108960" cy="615553"/>
          </a:xfrm>
          <a:prstGeom prst="rect">
            <a:avLst/>
          </a:prstGeom>
          <a:noFill/>
        </p:spPr>
        <p:txBody>
          <a:bodyPr wrap="square" lIns="0" tIns="0" rIns="0" bIns="0" anchor="t">
            <a:spAutoFit/>
          </a:bodyPr>
          <a:lstStyle/>
          <a:p>
            <a:pPr algn="l">
              <a:spcAft>
                <a:spcPts val="600"/>
              </a:spcAft>
            </a:pPr>
            <a:r>
              <a:rPr sz="2000" b="0" i="1">
                <a:solidFill>
                  <a:srgbClr val="1A1A1A"/>
                </a:solidFill>
                <a:latin typeface="Calibri"/>
              </a:rPr>
              <a:t>use mean from the statistics module, on x</a:t>
            </a:r>
          </a:p>
        </p:txBody>
      </p:sp>
      <p:sp>
        <p:nvSpPr>
          <p:cNvPr id="26" name="TextBox 25"/>
          <p:cNvSpPr txBox="1"/>
          <p:nvPr/>
        </p:nvSpPr>
        <p:spPr>
          <a:xfrm>
            <a:off x="548640" y="5532120"/>
            <a:ext cx="11064240" cy="553998"/>
          </a:xfrm>
          <a:prstGeom prst="rect">
            <a:avLst/>
          </a:prstGeom>
          <a:noFill/>
        </p:spPr>
        <p:txBody>
          <a:bodyPr wrap="square" lIns="0" tIns="0" rIns="0" bIns="0" anchor="t">
            <a:spAutoFit/>
          </a:bodyPr>
          <a:lstStyle/>
          <a:p>
            <a:pPr algn="l">
              <a:spcAft>
                <a:spcPts val="600"/>
              </a:spcAft>
            </a:pPr>
            <a:r>
              <a:rPr b="0" i="0">
                <a:solidFill>
                  <a:srgbClr val="1A1A1A"/>
                </a:solidFill>
                <a:latin typeface="Calibri"/>
              </a:rPr>
              <a:t>Compare  </a:t>
            </a:r>
            <a:r>
              <a:rPr b="0" i="0">
                <a:solidFill>
                  <a:srgbClr val="B5452B"/>
                </a:solidFill>
                <a:latin typeface="Courier New"/>
              </a:rPr>
              <a:t>sample.split()</a:t>
            </a:r>
            <a:r>
              <a:rPr b="0" i="0">
                <a:solidFill>
                  <a:srgbClr val="1A1A1A"/>
                </a:solidFill>
                <a:latin typeface="Calibri"/>
              </a:rPr>
              <a:t>  with  </a:t>
            </a:r>
            <a:r>
              <a:rPr b="0" i="0">
                <a:solidFill>
                  <a:srgbClr val="B5452B"/>
                </a:solidFill>
                <a:latin typeface="Courier New"/>
              </a:rPr>
              <a:t>re.split(pattern, sample)</a:t>
            </a:r>
            <a:r>
              <a:rPr b="0" i="0">
                <a:solidFill>
                  <a:srgbClr val="1A1A1A"/>
                </a:solidFill>
                <a:latin typeface="Calibri"/>
              </a:rPr>
              <a:t>: similar job, different tool, so the text goes in a different place.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1"/>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What goes in, what comes back</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6</a:t>
            </a:r>
          </a:p>
        </p:txBody>
      </p:sp>
      <p:sp>
        <p:nvSpPr>
          <p:cNvPr id="5" name="Rounded Rectangle 4"/>
          <p:cNvSpPr/>
          <p:nvPr/>
        </p:nvSpPr>
        <p:spPr>
          <a:xfrm>
            <a:off x="548640" y="1417320"/>
            <a:ext cx="6035040" cy="420624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TextBox 5"/>
          <p:cNvSpPr txBox="1"/>
          <p:nvPr/>
        </p:nvSpPr>
        <p:spPr>
          <a:xfrm>
            <a:off x="731520" y="1554480"/>
            <a:ext cx="5669279" cy="3395801"/>
          </a:xfrm>
          <a:prstGeom prst="rect">
            <a:avLst/>
          </a:prstGeom>
          <a:noFill/>
        </p:spPr>
        <p:txBody>
          <a:bodyPr wrap="square" lIns="45720" rIns="45720" anchor="t">
            <a:spAutoFit/>
          </a:bodyPr>
          <a:lstStyle/>
          <a:p>
            <a:pPr algn="l">
              <a:spcAft>
                <a:spcPts val="200"/>
              </a:spcAft>
            </a:pPr>
            <a:r>
              <a:rPr b="0" i="1">
                <a:solidFill>
                  <a:srgbClr val="5F6B66"/>
                </a:solidFill>
                <a:latin typeface="Courier New"/>
              </a:rPr>
              <a:t># one argument</a:t>
            </a:r>
          </a:p>
          <a:p>
            <a:pPr algn="l">
              <a:spcAft>
                <a:spcPts val="200"/>
              </a:spcAft>
            </a:pPr>
            <a:r>
              <a:rPr b="0" i="0">
                <a:solidFill>
                  <a:srgbClr val="1A1A1A"/>
                </a:solidFill>
                <a:latin typeface="Courier New"/>
              </a:rPr>
              <a:t>len(sample)</a:t>
            </a:r>
          </a:p>
          <a:p>
            <a:pPr algn="l">
              <a:spcAft>
                <a:spcPts val="200"/>
              </a:spcAft>
            </a:pPr>
            <a:r>
              <a:rPr b="0" i="0">
                <a:solidFill>
                  <a:srgbClr val="B5452B"/>
                </a:solidFill>
                <a:latin typeface="Courier New"/>
              </a:rPr>
              <a:t>→ 196</a:t>
            </a:r>
          </a:p>
          <a:p>
            <a:pPr algn="l">
              <a:spcAft>
                <a:spcPts val="200"/>
              </a:spcAft>
            </a:pPr>
            <a:r>
              <a:rPr b="0" i="0">
                <a:solidFill>
                  <a:srgbClr val="1A1A1A"/>
                </a:solidFill>
                <a:latin typeface="Courier New"/>
              </a:rPr>
              <a:t> </a:t>
            </a:r>
          </a:p>
          <a:p>
            <a:pPr algn="l">
              <a:spcAft>
                <a:spcPts val="200"/>
              </a:spcAft>
            </a:pPr>
            <a:r>
              <a:rPr b="0" i="1">
                <a:solidFill>
                  <a:srgbClr val="5F6B66"/>
                </a:solidFill>
                <a:latin typeface="Courier New"/>
              </a:rPr>
              <a:t># two arguments</a:t>
            </a:r>
          </a:p>
          <a:p>
            <a:pPr algn="l">
              <a:spcAft>
                <a:spcPts val="200"/>
              </a:spcAft>
            </a:pPr>
            <a:r>
              <a:rPr b="0" i="0">
                <a:solidFill>
                  <a:srgbClr val="1A1A1A"/>
                </a:solidFill>
                <a:latin typeface="Courier New"/>
              </a:rPr>
              <a:t>sample.replace("Bennet", "Darcy")</a:t>
            </a:r>
          </a:p>
          <a:p>
            <a:pPr algn="l">
              <a:spcAft>
                <a:spcPts val="200"/>
              </a:spcAft>
            </a:pPr>
            <a:r>
              <a:rPr b="0" i="0">
                <a:solidFill>
                  <a:srgbClr val="B5452B"/>
                </a:solidFill>
                <a:latin typeface="Courier New"/>
              </a:rPr>
              <a:t>→ 'Mr. Darcy looked up ...'</a:t>
            </a:r>
          </a:p>
          <a:p>
            <a:pPr algn="l">
              <a:spcAft>
                <a:spcPts val="200"/>
              </a:spcAft>
            </a:pPr>
            <a:r>
              <a:rPr b="0" i="0">
                <a:solidFill>
                  <a:srgbClr val="1A1A1A"/>
                </a:solidFill>
                <a:latin typeface="Courier New"/>
              </a:rPr>
              <a:t> </a:t>
            </a:r>
          </a:p>
          <a:p>
            <a:pPr algn="l">
              <a:spcAft>
                <a:spcPts val="200"/>
              </a:spcAft>
            </a:pPr>
            <a:r>
              <a:rPr b="0" i="1">
                <a:solidFill>
                  <a:srgbClr val="5F6B66"/>
                </a:solidFill>
                <a:latin typeface="Courier New"/>
              </a:rPr>
              <a:t># the original is unchanged</a:t>
            </a:r>
          </a:p>
          <a:p>
            <a:pPr algn="l">
              <a:spcAft>
                <a:spcPts val="200"/>
              </a:spcAft>
            </a:pPr>
            <a:r>
              <a:rPr b="0" i="0">
                <a:solidFill>
                  <a:srgbClr val="1A1A1A"/>
                </a:solidFill>
                <a:latin typeface="Courier New"/>
              </a:rPr>
              <a:t>sample</a:t>
            </a:r>
          </a:p>
          <a:p>
            <a:pPr algn="l">
              <a:spcAft>
                <a:spcPts val="200"/>
              </a:spcAft>
            </a:pPr>
            <a:r>
              <a:rPr b="0" i="0">
                <a:solidFill>
                  <a:srgbClr val="B5452B"/>
                </a:solidFill>
                <a:latin typeface="Courier New"/>
              </a:rPr>
              <a:t>→ 'Mr. Bennet looked up ...'</a:t>
            </a:r>
          </a:p>
        </p:txBody>
      </p:sp>
      <p:sp>
        <p:nvSpPr>
          <p:cNvPr id="7" name="TextBox 6"/>
          <p:cNvSpPr txBox="1"/>
          <p:nvPr/>
        </p:nvSpPr>
        <p:spPr>
          <a:xfrm>
            <a:off x="6949440" y="1417320"/>
            <a:ext cx="4663440" cy="4493538"/>
          </a:xfrm>
          <a:prstGeom prst="rect">
            <a:avLst/>
          </a:prstGeom>
          <a:noFill/>
        </p:spPr>
        <p:txBody>
          <a:bodyPr wrap="square" lIns="0" tIns="0" rIns="0" bIns="0" anchor="t">
            <a:spAutoFit/>
          </a:bodyPr>
          <a:lstStyle/>
          <a:p>
            <a:pPr algn="l">
              <a:spcAft>
                <a:spcPts val="600"/>
              </a:spcAft>
            </a:pPr>
            <a:r>
              <a:rPr sz="2400" b="1" i="0">
                <a:solidFill>
                  <a:srgbClr val="1F3A34"/>
                </a:solidFill>
                <a:latin typeface="Calibri"/>
              </a:rPr>
              <a:t>Arguments</a:t>
            </a:r>
          </a:p>
          <a:p>
            <a:pPr algn="l">
              <a:spcAft>
                <a:spcPts val="600"/>
              </a:spcAft>
            </a:pPr>
            <a:r>
              <a:rPr sz="2000" b="0" i="0">
                <a:solidFill>
                  <a:srgbClr val="1A1A1A"/>
                </a:solidFill>
                <a:latin typeface="Calibri"/>
              </a:rPr>
              <a:t>go inside the brackets, separated by commas.</a:t>
            </a:r>
          </a:p>
          <a:p>
            <a:pPr algn="l">
              <a:spcAft>
                <a:spcPts val="600"/>
              </a:spcAft>
            </a:pPr>
            <a:r>
              <a:rPr sz="2000" b="0" i="0">
                <a:solidFill>
                  <a:srgbClr val="1A1A1A"/>
                </a:solidFill>
                <a:latin typeface="Calibri"/>
              </a:rPr>
              <a:t> </a:t>
            </a:r>
          </a:p>
          <a:p>
            <a:pPr algn="l">
              <a:spcAft>
                <a:spcPts val="600"/>
              </a:spcAft>
            </a:pPr>
            <a:r>
              <a:rPr sz="2400" b="1" i="0">
                <a:solidFill>
                  <a:srgbClr val="1F3A34"/>
                </a:solidFill>
                <a:latin typeface="Calibri"/>
              </a:rPr>
              <a:t>Return values</a:t>
            </a:r>
          </a:p>
          <a:p>
            <a:pPr algn="l">
              <a:spcAft>
                <a:spcPts val="600"/>
              </a:spcAft>
            </a:pPr>
            <a:r>
              <a:rPr sz="2000" b="0" i="0">
                <a:solidFill>
                  <a:srgbClr val="1A1A1A"/>
                </a:solidFill>
                <a:latin typeface="Calibri"/>
              </a:rPr>
              <a:t>are what the tool gives back. Keep one by naming it:</a:t>
            </a:r>
          </a:p>
          <a:p>
            <a:pPr algn="l">
              <a:spcAft>
                <a:spcPts val="600"/>
              </a:spcAft>
            </a:pPr>
            <a:r>
              <a:rPr sz="2000" b="0" i="0">
                <a:solidFill>
                  <a:srgbClr val="B5452B"/>
                </a:solidFill>
                <a:latin typeface="Courier New"/>
              </a:rPr>
              <a:t>quiet = sample.lower()</a:t>
            </a:r>
          </a:p>
          <a:p>
            <a:pPr algn="l">
              <a:spcAft>
                <a:spcPts val="600"/>
              </a:spcAft>
            </a:pPr>
            <a:r>
              <a:rPr sz="2000" b="0" i="0">
                <a:solidFill>
                  <a:srgbClr val="1A1A1A"/>
                </a:solidFill>
                <a:latin typeface="Calibri"/>
              </a:rPr>
              <a:t> </a:t>
            </a:r>
          </a:p>
          <a:p>
            <a:pPr algn="l">
              <a:spcAft>
                <a:spcPts val="600"/>
              </a:spcAft>
            </a:pPr>
            <a:r>
              <a:rPr sz="2400" b="1" i="0">
                <a:solidFill>
                  <a:srgbClr val="1F3A34"/>
                </a:solidFill>
                <a:latin typeface="Calibri"/>
              </a:rPr>
              <a:t>Showing is not returning</a:t>
            </a:r>
          </a:p>
          <a:p>
            <a:pPr algn="l">
              <a:spcAft>
                <a:spcPts val="600"/>
              </a:spcAft>
            </a:pPr>
            <a:r>
              <a:rPr sz="2000" b="0" i="0">
                <a:solidFill>
                  <a:srgbClr val="B5452B"/>
                </a:solidFill>
                <a:latin typeface="Courier New"/>
              </a:rPr>
              <a:t>print(x)</a:t>
            </a:r>
            <a:r>
              <a:rPr sz="2000" b="0" i="0">
                <a:solidFill>
                  <a:srgbClr val="1A1A1A"/>
                </a:solidFill>
                <a:latin typeface="Calibri"/>
              </a:rPr>
              <a:t> displays x but gives back nothing.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1"/>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Strings: text and its methods</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7</a:t>
            </a:r>
          </a:p>
        </p:txBody>
      </p:sp>
      <p:sp>
        <p:nvSpPr>
          <p:cNvPr id="5" name="TextBox 4"/>
          <p:cNvSpPr txBox="1"/>
          <p:nvPr/>
        </p:nvSpPr>
        <p:spPr>
          <a:xfrm>
            <a:off x="548640" y="1371600"/>
            <a:ext cx="4937760" cy="369332"/>
          </a:xfrm>
          <a:prstGeom prst="rect">
            <a:avLst/>
          </a:prstGeom>
          <a:noFill/>
        </p:spPr>
        <p:txBody>
          <a:bodyPr wrap="square" lIns="0" tIns="0" rIns="0" bIns="0" anchor="t">
            <a:spAutoFit/>
          </a:bodyPr>
          <a:lstStyle/>
          <a:p>
            <a:pPr algn="l">
              <a:spcAft>
                <a:spcPts val="600"/>
              </a:spcAft>
            </a:pPr>
            <a:r>
              <a:rPr sz="2400" b="1" i="0">
                <a:solidFill>
                  <a:srgbClr val="1F3A34"/>
                </a:solidFill>
                <a:latin typeface="Calibri"/>
              </a:rPr>
              <a:t>Quotes must match</a:t>
            </a:r>
          </a:p>
        </p:txBody>
      </p:sp>
      <p:sp>
        <p:nvSpPr>
          <p:cNvPr id="6" name="Rounded Rectangle 5"/>
          <p:cNvSpPr/>
          <p:nvPr/>
        </p:nvSpPr>
        <p:spPr>
          <a:xfrm>
            <a:off x="548640" y="1874519"/>
            <a:ext cx="4937760" cy="192024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7" name="TextBox 6"/>
          <p:cNvSpPr txBox="1"/>
          <p:nvPr/>
        </p:nvSpPr>
        <p:spPr>
          <a:xfrm>
            <a:off x="731520" y="2011679"/>
            <a:ext cx="4572000" cy="974626"/>
          </a:xfrm>
          <a:prstGeom prst="rect">
            <a:avLst/>
          </a:prstGeom>
          <a:noFill/>
        </p:spPr>
        <p:txBody>
          <a:bodyPr wrap="square" lIns="45720" rIns="45720" anchor="t">
            <a:spAutoFit/>
          </a:bodyPr>
          <a:lstStyle/>
          <a:p>
            <a:pPr algn="l">
              <a:spcAft>
                <a:spcPts val="200"/>
              </a:spcAft>
            </a:pPr>
            <a:r>
              <a:rPr b="0" i="0">
                <a:solidFill>
                  <a:srgbClr val="1A1A1A"/>
                </a:solidFill>
                <a:latin typeface="Courier New"/>
              </a:rPr>
              <a:t>'Mr. Bennet'</a:t>
            </a:r>
          </a:p>
          <a:p>
            <a:pPr algn="l">
              <a:spcAft>
                <a:spcPts val="200"/>
              </a:spcAft>
            </a:pPr>
            <a:r>
              <a:rPr b="0" i="0">
                <a:solidFill>
                  <a:srgbClr val="1A1A1A"/>
                </a:solidFill>
                <a:latin typeface="Courier New"/>
              </a:rPr>
              <a:t>"Is that you, my dear?"</a:t>
            </a:r>
          </a:p>
          <a:p>
            <a:pPr algn="l">
              <a:spcAft>
                <a:spcPts val="200"/>
              </a:spcAft>
            </a:pPr>
            <a:r>
              <a:rPr b="0" i="0">
                <a:solidFill>
                  <a:srgbClr val="1A1A1A"/>
                </a:solidFill>
                <a:latin typeface="Courier New"/>
              </a:rPr>
              <a:t>'"Is that you?" he asked.'</a:t>
            </a:r>
          </a:p>
        </p:txBody>
      </p:sp>
      <p:sp>
        <p:nvSpPr>
          <p:cNvPr id="8" name="TextBox 7"/>
          <p:cNvSpPr txBox="1"/>
          <p:nvPr/>
        </p:nvSpPr>
        <p:spPr>
          <a:xfrm>
            <a:off x="548640" y="4023360"/>
            <a:ext cx="4937760" cy="615553"/>
          </a:xfrm>
          <a:prstGeom prst="rect">
            <a:avLst/>
          </a:prstGeom>
          <a:noFill/>
        </p:spPr>
        <p:txBody>
          <a:bodyPr wrap="square" lIns="0" tIns="0" rIns="0" bIns="0" anchor="t">
            <a:spAutoFit/>
          </a:bodyPr>
          <a:lstStyle/>
          <a:p>
            <a:pPr algn="l">
              <a:spcAft>
                <a:spcPts val="600"/>
              </a:spcAft>
            </a:pPr>
            <a:r>
              <a:rPr sz="2000" b="0" i="0">
                <a:solidFill>
                  <a:srgbClr val="1A1A1A"/>
                </a:solidFill>
                <a:latin typeface="Calibri"/>
              </a:rPr>
              <a:t>Text containing double quotes goes inside single quotes, and the other way round.</a:t>
            </a:r>
          </a:p>
        </p:txBody>
      </p:sp>
      <p:sp>
        <p:nvSpPr>
          <p:cNvPr id="9" name="TextBox 8"/>
          <p:cNvSpPr txBox="1"/>
          <p:nvPr/>
        </p:nvSpPr>
        <p:spPr>
          <a:xfrm>
            <a:off x="6035040" y="1492031"/>
            <a:ext cx="3108960" cy="307777"/>
          </a:xfrm>
          <a:prstGeom prst="rect">
            <a:avLst/>
          </a:prstGeom>
          <a:noFill/>
        </p:spPr>
        <p:txBody>
          <a:bodyPr wrap="square" lIns="0" tIns="0" rIns="0" bIns="0" anchor="ctr">
            <a:spAutoFit/>
          </a:bodyPr>
          <a:lstStyle/>
          <a:p>
            <a:pPr algn="l">
              <a:spcAft>
                <a:spcPts val="600"/>
              </a:spcAft>
            </a:pPr>
            <a:r>
              <a:rPr sz="2000" b="0" i="0">
                <a:solidFill>
                  <a:srgbClr val="B5452B"/>
                </a:solidFill>
                <a:latin typeface="Courier New"/>
              </a:rPr>
              <a:t>.lower()</a:t>
            </a:r>
          </a:p>
        </p:txBody>
      </p:sp>
      <p:sp>
        <p:nvSpPr>
          <p:cNvPr id="10" name="TextBox 9"/>
          <p:cNvSpPr txBox="1"/>
          <p:nvPr/>
        </p:nvSpPr>
        <p:spPr>
          <a:xfrm>
            <a:off x="9235440" y="1507420"/>
            <a:ext cx="2468880" cy="276999"/>
          </a:xfrm>
          <a:prstGeom prst="rect">
            <a:avLst/>
          </a:prstGeom>
          <a:noFill/>
        </p:spPr>
        <p:txBody>
          <a:bodyPr wrap="square" lIns="0" tIns="0" rIns="0" bIns="0" anchor="ctr">
            <a:spAutoFit/>
          </a:bodyPr>
          <a:lstStyle/>
          <a:p>
            <a:pPr algn="l">
              <a:spcAft>
                <a:spcPts val="600"/>
              </a:spcAft>
            </a:pPr>
            <a:r>
              <a:rPr b="0" i="0">
                <a:solidFill>
                  <a:srgbClr val="1A1A1A"/>
                </a:solidFill>
                <a:latin typeface="Calibri"/>
              </a:rPr>
              <a:t>all lower case</a:t>
            </a:r>
          </a:p>
        </p:txBody>
      </p:sp>
      <p:sp>
        <p:nvSpPr>
          <p:cNvPr id="11" name="TextBox 10"/>
          <p:cNvSpPr txBox="1"/>
          <p:nvPr/>
        </p:nvSpPr>
        <p:spPr>
          <a:xfrm>
            <a:off x="6035040" y="2113823"/>
            <a:ext cx="3108960" cy="307777"/>
          </a:xfrm>
          <a:prstGeom prst="rect">
            <a:avLst/>
          </a:prstGeom>
          <a:noFill/>
        </p:spPr>
        <p:txBody>
          <a:bodyPr wrap="square" lIns="0" tIns="0" rIns="0" bIns="0" anchor="ctr">
            <a:spAutoFit/>
          </a:bodyPr>
          <a:lstStyle/>
          <a:p>
            <a:pPr algn="l">
              <a:spcAft>
                <a:spcPts val="600"/>
              </a:spcAft>
            </a:pPr>
            <a:r>
              <a:rPr sz="2000" b="0" i="0">
                <a:solidFill>
                  <a:srgbClr val="B5452B"/>
                </a:solidFill>
                <a:latin typeface="Courier New"/>
              </a:rPr>
              <a:t>.upper()</a:t>
            </a:r>
          </a:p>
        </p:txBody>
      </p:sp>
      <p:sp>
        <p:nvSpPr>
          <p:cNvPr id="12" name="TextBox 11"/>
          <p:cNvSpPr txBox="1"/>
          <p:nvPr/>
        </p:nvSpPr>
        <p:spPr>
          <a:xfrm>
            <a:off x="9235440" y="2129212"/>
            <a:ext cx="2468880" cy="276999"/>
          </a:xfrm>
          <a:prstGeom prst="rect">
            <a:avLst/>
          </a:prstGeom>
          <a:noFill/>
        </p:spPr>
        <p:txBody>
          <a:bodyPr wrap="square" lIns="0" tIns="0" rIns="0" bIns="0" anchor="ctr">
            <a:spAutoFit/>
          </a:bodyPr>
          <a:lstStyle/>
          <a:p>
            <a:pPr algn="l">
              <a:spcAft>
                <a:spcPts val="600"/>
              </a:spcAft>
            </a:pPr>
            <a:r>
              <a:rPr b="0" i="0">
                <a:solidFill>
                  <a:srgbClr val="1A1A1A"/>
                </a:solidFill>
                <a:latin typeface="Calibri"/>
              </a:rPr>
              <a:t>all capitals</a:t>
            </a:r>
          </a:p>
        </p:txBody>
      </p:sp>
      <p:sp>
        <p:nvSpPr>
          <p:cNvPr id="13" name="TextBox 12"/>
          <p:cNvSpPr txBox="1"/>
          <p:nvPr/>
        </p:nvSpPr>
        <p:spPr>
          <a:xfrm>
            <a:off x="6035040" y="2735615"/>
            <a:ext cx="3108960" cy="307777"/>
          </a:xfrm>
          <a:prstGeom prst="rect">
            <a:avLst/>
          </a:prstGeom>
          <a:noFill/>
        </p:spPr>
        <p:txBody>
          <a:bodyPr wrap="square" lIns="0" tIns="0" rIns="0" bIns="0" anchor="ctr">
            <a:spAutoFit/>
          </a:bodyPr>
          <a:lstStyle/>
          <a:p>
            <a:pPr algn="l">
              <a:spcAft>
                <a:spcPts val="600"/>
              </a:spcAft>
            </a:pPr>
            <a:r>
              <a:rPr sz="2000" b="0" i="0">
                <a:solidFill>
                  <a:srgbClr val="B5452B"/>
                </a:solidFill>
                <a:latin typeface="Courier New"/>
              </a:rPr>
              <a:t>.count("x")</a:t>
            </a:r>
          </a:p>
        </p:txBody>
      </p:sp>
      <p:sp>
        <p:nvSpPr>
          <p:cNvPr id="14" name="TextBox 13"/>
          <p:cNvSpPr txBox="1"/>
          <p:nvPr/>
        </p:nvSpPr>
        <p:spPr>
          <a:xfrm>
            <a:off x="9235440" y="2751004"/>
            <a:ext cx="2468880" cy="276999"/>
          </a:xfrm>
          <a:prstGeom prst="rect">
            <a:avLst/>
          </a:prstGeom>
          <a:noFill/>
        </p:spPr>
        <p:txBody>
          <a:bodyPr wrap="square" lIns="0" tIns="0" rIns="0" bIns="0" anchor="ctr">
            <a:spAutoFit/>
          </a:bodyPr>
          <a:lstStyle/>
          <a:p>
            <a:pPr algn="l">
              <a:spcAft>
                <a:spcPts val="600"/>
              </a:spcAft>
            </a:pPr>
            <a:r>
              <a:rPr b="0" i="0">
                <a:solidFill>
                  <a:srgbClr val="1A1A1A"/>
                </a:solidFill>
                <a:latin typeface="Calibri"/>
              </a:rPr>
              <a:t>how many times x occurs</a:t>
            </a:r>
          </a:p>
        </p:txBody>
      </p:sp>
      <p:sp>
        <p:nvSpPr>
          <p:cNvPr id="15" name="TextBox 14"/>
          <p:cNvSpPr txBox="1"/>
          <p:nvPr/>
        </p:nvSpPr>
        <p:spPr>
          <a:xfrm>
            <a:off x="6035040" y="3357407"/>
            <a:ext cx="3108960" cy="307777"/>
          </a:xfrm>
          <a:prstGeom prst="rect">
            <a:avLst/>
          </a:prstGeom>
          <a:noFill/>
        </p:spPr>
        <p:txBody>
          <a:bodyPr wrap="square" lIns="0" tIns="0" rIns="0" bIns="0" anchor="ctr">
            <a:spAutoFit/>
          </a:bodyPr>
          <a:lstStyle/>
          <a:p>
            <a:pPr algn="l">
              <a:spcAft>
                <a:spcPts val="600"/>
              </a:spcAft>
            </a:pPr>
            <a:r>
              <a:rPr sz="2000" b="0" i="0">
                <a:solidFill>
                  <a:srgbClr val="B5452B"/>
                </a:solidFill>
                <a:latin typeface="Courier New"/>
              </a:rPr>
              <a:t>.replace("a", "b")</a:t>
            </a:r>
          </a:p>
        </p:txBody>
      </p:sp>
      <p:sp>
        <p:nvSpPr>
          <p:cNvPr id="16" name="TextBox 15"/>
          <p:cNvSpPr txBox="1"/>
          <p:nvPr/>
        </p:nvSpPr>
        <p:spPr>
          <a:xfrm>
            <a:off x="9235440" y="3372796"/>
            <a:ext cx="2468880" cy="276999"/>
          </a:xfrm>
          <a:prstGeom prst="rect">
            <a:avLst/>
          </a:prstGeom>
          <a:noFill/>
        </p:spPr>
        <p:txBody>
          <a:bodyPr wrap="square" lIns="0" tIns="0" rIns="0" bIns="0" anchor="ctr">
            <a:spAutoFit/>
          </a:bodyPr>
          <a:lstStyle/>
          <a:p>
            <a:pPr algn="l">
              <a:spcAft>
                <a:spcPts val="600"/>
              </a:spcAft>
            </a:pPr>
            <a:r>
              <a:rPr b="0" i="0">
                <a:solidFill>
                  <a:srgbClr val="1A1A1A"/>
                </a:solidFill>
                <a:latin typeface="Calibri"/>
              </a:rPr>
              <a:t>swap a for b</a:t>
            </a:r>
          </a:p>
        </p:txBody>
      </p:sp>
      <p:sp>
        <p:nvSpPr>
          <p:cNvPr id="17" name="TextBox 16"/>
          <p:cNvSpPr txBox="1"/>
          <p:nvPr/>
        </p:nvSpPr>
        <p:spPr>
          <a:xfrm>
            <a:off x="6035040" y="3979199"/>
            <a:ext cx="3108960" cy="307777"/>
          </a:xfrm>
          <a:prstGeom prst="rect">
            <a:avLst/>
          </a:prstGeom>
          <a:noFill/>
        </p:spPr>
        <p:txBody>
          <a:bodyPr wrap="square" lIns="0" tIns="0" rIns="0" bIns="0" anchor="ctr">
            <a:spAutoFit/>
          </a:bodyPr>
          <a:lstStyle/>
          <a:p>
            <a:pPr algn="l">
              <a:spcAft>
                <a:spcPts val="600"/>
              </a:spcAft>
            </a:pPr>
            <a:r>
              <a:rPr sz="2000" b="0" i="0">
                <a:solidFill>
                  <a:srgbClr val="B5452B"/>
                </a:solidFill>
                <a:latin typeface="Courier New"/>
              </a:rPr>
              <a:t>.split()</a:t>
            </a:r>
          </a:p>
        </p:txBody>
      </p:sp>
      <p:sp>
        <p:nvSpPr>
          <p:cNvPr id="18" name="TextBox 17"/>
          <p:cNvSpPr txBox="1"/>
          <p:nvPr/>
        </p:nvSpPr>
        <p:spPr>
          <a:xfrm>
            <a:off x="9235440" y="3994588"/>
            <a:ext cx="2468880" cy="276999"/>
          </a:xfrm>
          <a:prstGeom prst="rect">
            <a:avLst/>
          </a:prstGeom>
          <a:noFill/>
        </p:spPr>
        <p:txBody>
          <a:bodyPr wrap="square" lIns="0" tIns="0" rIns="0" bIns="0" anchor="ctr">
            <a:spAutoFit/>
          </a:bodyPr>
          <a:lstStyle/>
          <a:p>
            <a:pPr algn="l">
              <a:spcAft>
                <a:spcPts val="600"/>
              </a:spcAft>
            </a:pPr>
            <a:r>
              <a:rPr b="0" i="0">
                <a:solidFill>
                  <a:srgbClr val="1A1A1A"/>
                </a:solidFill>
                <a:latin typeface="Calibri"/>
              </a:rPr>
              <a:t>cut into a list of words</a:t>
            </a:r>
          </a:p>
        </p:txBody>
      </p:sp>
      <p:sp>
        <p:nvSpPr>
          <p:cNvPr id="19" name="TextBox 18"/>
          <p:cNvSpPr txBox="1"/>
          <p:nvPr/>
        </p:nvSpPr>
        <p:spPr>
          <a:xfrm>
            <a:off x="6035040" y="4600991"/>
            <a:ext cx="3108960" cy="307777"/>
          </a:xfrm>
          <a:prstGeom prst="rect">
            <a:avLst/>
          </a:prstGeom>
          <a:noFill/>
        </p:spPr>
        <p:txBody>
          <a:bodyPr wrap="square" lIns="0" tIns="0" rIns="0" bIns="0" anchor="ctr">
            <a:spAutoFit/>
          </a:bodyPr>
          <a:lstStyle/>
          <a:p>
            <a:pPr algn="l">
              <a:spcAft>
                <a:spcPts val="600"/>
              </a:spcAft>
            </a:pPr>
            <a:r>
              <a:rPr sz="2000" b="0" i="0">
                <a:solidFill>
                  <a:srgbClr val="B5452B"/>
                </a:solidFill>
                <a:latin typeface="Courier New"/>
              </a:rPr>
              <a:t>.strip(".,!?")</a:t>
            </a:r>
          </a:p>
        </p:txBody>
      </p:sp>
      <p:sp>
        <p:nvSpPr>
          <p:cNvPr id="20" name="TextBox 19"/>
          <p:cNvSpPr txBox="1"/>
          <p:nvPr/>
        </p:nvSpPr>
        <p:spPr>
          <a:xfrm>
            <a:off x="9235440" y="4480560"/>
            <a:ext cx="2468880" cy="548640"/>
          </a:xfrm>
          <a:prstGeom prst="rect">
            <a:avLst/>
          </a:prstGeom>
          <a:noFill/>
        </p:spPr>
        <p:txBody>
          <a:bodyPr wrap="square" lIns="0" tIns="0" rIns="0" bIns="0" anchor="ctr">
            <a:spAutoFit/>
          </a:bodyPr>
          <a:lstStyle/>
          <a:p>
            <a:pPr algn="l">
              <a:spcAft>
                <a:spcPts val="600"/>
              </a:spcAft>
            </a:pPr>
            <a:r>
              <a:rPr b="0" i="0">
                <a:solidFill>
                  <a:srgbClr val="1A1A1A"/>
                </a:solidFill>
                <a:latin typeface="Calibri"/>
              </a:rPr>
              <a:t>remove characters from the ends</a:t>
            </a:r>
          </a:p>
        </p:txBody>
      </p:sp>
      <p:sp>
        <p:nvSpPr>
          <p:cNvPr id="21" name="TextBox 20"/>
          <p:cNvSpPr txBox="1"/>
          <p:nvPr/>
        </p:nvSpPr>
        <p:spPr>
          <a:xfrm>
            <a:off x="6035040" y="5222783"/>
            <a:ext cx="3108960" cy="307777"/>
          </a:xfrm>
          <a:prstGeom prst="rect">
            <a:avLst/>
          </a:prstGeom>
          <a:noFill/>
        </p:spPr>
        <p:txBody>
          <a:bodyPr wrap="square" lIns="0" tIns="0" rIns="0" bIns="0" anchor="ctr">
            <a:spAutoFit/>
          </a:bodyPr>
          <a:lstStyle/>
          <a:p>
            <a:pPr algn="l">
              <a:spcAft>
                <a:spcPts val="600"/>
              </a:spcAft>
            </a:pPr>
            <a:r>
              <a:rPr sz="2000" b="0" i="0">
                <a:solidFill>
                  <a:srgbClr val="B5452B"/>
                </a:solidFill>
                <a:latin typeface="Courier New"/>
              </a:rPr>
              <a:t>.startswith("B")</a:t>
            </a:r>
          </a:p>
        </p:txBody>
      </p:sp>
      <p:sp>
        <p:nvSpPr>
          <p:cNvPr id="22" name="TextBox 21"/>
          <p:cNvSpPr txBox="1"/>
          <p:nvPr/>
        </p:nvSpPr>
        <p:spPr>
          <a:xfrm>
            <a:off x="9235440" y="5238172"/>
            <a:ext cx="2468880" cy="276999"/>
          </a:xfrm>
          <a:prstGeom prst="rect">
            <a:avLst/>
          </a:prstGeom>
          <a:noFill/>
        </p:spPr>
        <p:txBody>
          <a:bodyPr wrap="square" lIns="0" tIns="0" rIns="0" bIns="0" anchor="ctr">
            <a:spAutoFit/>
          </a:bodyPr>
          <a:lstStyle/>
          <a:p>
            <a:pPr algn="l">
              <a:spcAft>
                <a:spcPts val="600"/>
              </a:spcAft>
            </a:pPr>
            <a:r>
              <a:rPr b="0" i="0">
                <a:solidFill>
                  <a:srgbClr val="1A1A1A"/>
                </a:solidFill>
                <a:latin typeface="Calibri"/>
              </a:rPr>
              <a:t>True or False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1"/>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Lists: counting from 0, and from the end</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8</a:t>
            </a:r>
          </a:p>
        </p:txBody>
      </p:sp>
      <p:sp>
        <p:nvSpPr>
          <p:cNvPr id="5" name="TextBox 4"/>
          <p:cNvSpPr txBox="1"/>
          <p:nvPr/>
        </p:nvSpPr>
        <p:spPr>
          <a:xfrm>
            <a:off x="868680" y="1463039"/>
            <a:ext cx="1600200" cy="307777"/>
          </a:xfrm>
          <a:prstGeom prst="rect">
            <a:avLst/>
          </a:prstGeom>
          <a:noFill/>
        </p:spPr>
        <p:txBody>
          <a:bodyPr wrap="square" lIns="0" tIns="0" rIns="0" bIns="0" anchor="t">
            <a:spAutoFit/>
          </a:bodyPr>
          <a:lstStyle/>
          <a:p>
            <a:pPr algn="ctr">
              <a:spcAft>
                <a:spcPts val="600"/>
              </a:spcAft>
            </a:pPr>
            <a:r>
              <a:rPr sz="2000" b="0" i="0">
                <a:solidFill>
                  <a:srgbClr val="2E6F8E"/>
                </a:solidFill>
                <a:latin typeface="Courier New"/>
              </a:rPr>
              <a:t>0</a:t>
            </a:r>
          </a:p>
        </p:txBody>
      </p:sp>
      <p:sp>
        <p:nvSpPr>
          <p:cNvPr id="6" name="Rounded Rectangle 5"/>
          <p:cNvSpPr/>
          <p:nvPr/>
        </p:nvSpPr>
        <p:spPr>
          <a:xfrm>
            <a:off x="868680" y="1965960"/>
            <a:ext cx="1600200" cy="777240"/>
          </a:xfrm>
          <a:prstGeom prst="roundRect">
            <a:avLst>
              <a:gd name="adj" fmla="val 10000"/>
            </a:avLst>
          </a:prstGeom>
          <a:solidFill>
            <a:srgbClr val="1F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7" name="TextBox 6"/>
          <p:cNvSpPr txBox="1"/>
          <p:nvPr/>
        </p:nvSpPr>
        <p:spPr>
          <a:xfrm>
            <a:off x="868680" y="2154525"/>
            <a:ext cx="1600200" cy="400110"/>
          </a:xfrm>
          <a:prstGeom prst="rect">
            <a:avLst/>
          </a:prstGeom>
          <a:noFill/>
        </p:spPr>
        <p:txBody>
          <a:bodyPr wrap="square" lIns="45720" rIns="45720" anchor="ctr">
            <a:spAutoFit/>
          </a:bodyPr>
          <a:lstStyle/>
          <a:p>
            <a:pPr algn="ctr">
              <a:spcAft>
                <a:spcPts val="600"/>
              </a:spcAft>
            </a:pPr>
            <a:r>
              <a:rPr sz="2000" b="0" i="0">
                <a:solidFill>
                  <a:srgbClr val="FFFFFF"/>
                </a:solidFill>
                <a:latin typeface="Courier New"/>
              </a:rPr>
              <a:t>'The'</a:t>
            </a:r>
          </a:p>
        </p:txBody>
      </p:sp>
      <p:sp>
        <p:nvSpPr>
          <p:cNvPr id="8" name="TextBox 7"/>
          <p:cNvSpPr txBox="1"/>
          <p:nvPr/>
        </p:nvSpPr>
        <p:spPr>
          <a:xfrm>
            <a:off x="868680" y="2834639"/>
            <a:ext cx="1600200" cy="307777"/>
          </a:xfrm>
          <a:prstGeom prst="rect">
            <a:avLst/>
          </a:prstGeom>
          <a:noFill/>
        </p:spPr>
        <p:txBody>
          <a:bodyPr wrap="square" lIns="0" tIns="0" rIns="0" bIns="0" anchor="t">
            <a:spAutoFit/>
          </a:bodyPr>
          <a:lstStyle/>
          <a:p>
            <a:pPr algn="ctr">
              <a:spcAft>
                <a:spcPts val="600"/>
              </a:spcAft>
            </a:pPr>
            <a:r>
              <a:rPr sz="2000" b="0" i="0">
                <a:solidFill>
                  <a:srgbClr val="B5452B"/>
                </a:solidFill>
                <a:latin typeface="Courier New"/>
              </a:rPr>
              <a:t>-6</a:t>
            </a:r>
          </a:p>
        </p:txBody>
      </p:sp>
      <p:sp>
        <p:nvSpPr>
          <p:cNvPr id="9" name="TextBox 8"/>
          <p:cNvSpPr txBox="1"/>
          <p:nvPr/>
        </p:nvSpPr>
        <p:spPr>
          <a:xfrm>
            <a:off x="2578608" y="1463039"/>
            <a:ext cx="1600200" cy="307777"/>
          </a:xfrm>
          <a:prstGeom prst="rect">
            <a:avLst/>
          </a:prstGeom>
          <a:noFill/>
        </p:spPr>
        <p:txBody>
          <a:bodyPr wrap="square" lIns="0" tIns="0" rIns="0" bIns="0" anchor="t">
            <a:spAutoFit/>
          </a:bodyPr>
          <a:lstStyle/>
          <a:p>
            <a:pPr algn="ctr">
              <a:spcAft>
                <a:spcPts val="600"/>
              </a:spcAft>
            </a:pPr>
            <a:r>
              <a:rPr sz="2000" b="0" i="0">
                <a:solidFill>
                  <a:srgbClr val="2E6F8E"/>
                </a:solidFill>
                <a:latin typeface="Courier New"/>
              </a:rPr>
              <a:t>1</a:t>
            </a:r>
          </a:p>
        </p:txBody>
      </p:sp>
      <p:sp>
        <p:nvSpPr>
          <p:cNvPr id="10" name="Rounded Rectangle 9"/>
          <p:cNvSpPr/>
          <p:nvPr/>
        </p:nvSpPr>
        <p:spPr>
          <a:xfrm>
            <a:off x="2578608" y="1965960"/>
            <a:ext cx="1600200" cy="777240"/>
          </a:xfrm>
          <a:prstGeom prst="roundRect">
            <a:avLst>
              <a:gd name="adj" fmla="val 10000"/>
            </a:avLst>
          </a:prstGeom>
          <a:solidFill>
            <a:srgbClr val="1F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TextBox 10"/>
          <p:cNvSpPr txBox="1"/>
          <p:nvPr/>
        </p:nvSpPr>
        <p:spPr>
          <a:xfrm>
            <a:off x="2578608" y="2154525"/>
            <a:ext cx="1600200" cy="400110"/>
          </a:xfrm>
          <a:prstGeom prst="rect">
            <a:avLst/>
          </a:prstGeom>
          <a:noFill/>
        </p:spPr>
        <p:txBody>
          <a:bodyPr wrap="square" lIns="45720" rIns="45720" anchor="ctr">
            <a:spAutoFit/>
          </a:bodyPr>
          <a:lstStyle/>
          <a:p>
            <a:pPr algn="ctr">
              <a:spcAft>
                <a:spcPts val="600"/>
              </a:spcAft>
            </a:pPr>
            <a:r>
              <a:rPr sz="2000" b="0" i="0">
                <a:solidFill>
                  <a:srgbClr val="FFFFFF"/>
                </a:solidFill>
                <a:latin typeface="Courier New"/>
              </a:rPr>
              <a:t>'whole'</a:t>
            </a:r>
          </a:p>
        </p:txBody>
      </p:sp>
      <p:sp>
        <p:nvSpPr>
          <p:cNvPr id="12" name="TextBox 11"/>
          <p:cNvSpPr txBox="1"/>
          <p:nvPr/>
        </p:nvSpPr>
        <p:spPr>
          <a:xfrm>
            <a:off x="2578608" y="2834639"/>
            <a:ext cx="1600200" cy="307777"/>
          </a:xfrm>
          <a:prstGeom prst="rect">
            <a:avLst/>
          </a:prstGeom>
          <a:noFill/>
        </p:spPr>
        <p:txBody>
          <a:bodyPr wrap="square" lIns="0" tIns="0" rIns="0" bIns="0" anchor="t">
            <a:spAutoFit/>
          </a:bodyPr>
          <a:lstStyle/>
          <a:p>
            <a:pPr algn="ctr">
              <a:spcAft>
                <a:spcPts val="600"/>
              </a:spcAft>
            </a:pPr>
            <a:r>
              <a:rPr sz="2000" b="0" i="0">
                <a:solidFill>
                  <a:srgbClr val="B5452B"/>
                </a:solidFill>
                <a:latin typeface="Courier New"/>
              </a:rPr>
              <a:t>-5</a:t>
            </a:r>
          </a:p>
        </p:txBody>
      </p:sp>
      <p:sp>
        <p:nvSpPr>
          <p:cNvPr id="13" name="TextBox 12"/>
          <p:cNvSpPr txBox="1"/>
          <p:nvPr/>
        </p:nvSpPr>
        <p:spPr>
          <a:xfrm>
            <a:off x="4288536" y="1463039"/>
            <a:ext cx="1600200" cy="307777"/>
          </a:xfrm>
          <a:prstGeom prst="rect">
            <a:avLst/>
          </a:prstGeom>
          <a:noFill/>
        </p:spPr>
        <p:txBody>
          <a:bodyPr wrap="square" lIns="0" tIns="0" rIns="0" bIns="0" anchor="t">
            <a:spAutoFit/>
          </a:bodyPr>
          <a:lstStyle/>
          <a:p>
            <a:pPr algn="ctr">
              <a:spcAft>
                <a:spcPts val="600"/>
              </a:spcAft>
            </a:pPr>
            <a:r>
              <a:rPr sz="2000" b="0" i="0">
                <a:solidFill>
                  <a:srgbClr val="2E6F8E"/>
                </a:solidFill>
                <a:latin typeface="Courier New"/>
              </a:rPr>
              <a:t>2</a:t>
            </a:r>
          </a:p>
        </p:txBody>
      </p:sp>
      <p:sp>
        <p:nvSpPr>
          <p:cNvPr id="14" name="Rounded Rectangle 13"/>
          <p:cNvSpPr/>
          <p:nvPr/>
        </p:nvSpPr>
        <p:spPr>
          <a:xfrm>
            <a:off x="4288536" y="1965960"/>
            <a:ext cx="1600200" cy="777240"/>
          </a:xfrm>
          <a:prstGeom prst="roundRect">
            <a:avLst>
              <a:gd name="adj" fmla="val 10000"/>
            </a:avLst>
          </a:prstGeom>
          <a:solidFill>
            <a:srgbClr val="1F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5" name="TextBox 14"/>
          <p:cNvSpPr txBox="1"/>
          <p:nvPr/>
        </p:nvSpPr>
        <p:spPr>
          <a:xfrm>
            <a:off x="4288536" y="2154525"/>
            <a:ext cx="1600200" cy="400110"/>
          </a:xfrm>
          <a:prstGeom prst="rect">
            <a:avLst/>
          </a:prstGeom>
          <a:noFill/>
        </p:spPr>
        <p:txBody>
          <a:bodyPr wrap="square" lIns="45720" rIns="45720" anchor="ctr">
            <a:spAutoFit/>
          </a:bodyPr>
          <a:lstStyle/>
          <a:p>
            <a:pPr algn="ctr">
              <a:spcAft>
                <a:spcPts val="600"/>
              </a:spcAft>
            </a:pPr>
            <a:r>
              <a:rPr sz="2000" b="0" i="0">
                <a:solidFill>
                  <a:srgbClr val="FFFFFF"/>
                </a:solidFill>
                <a:latin typeface="Courier New"/>
              </a:rPr>
              <a:t>'street'</a:t>
            </a:r>
          </a:p>
        </p:txBody>
      </p:sp>
      <p:sp>
        <p:nvSpPr>
          <p:cNvPr id="16" name="TextBox 15"/>
          <p:cNvSpPr txBox="1"/>
          <p:nvPr/>
        </p:nvSpPr>
        <p:spPr>
          <a:xfrm>
            <a:off x="4288536" y="2834639"/>
            <a:ext cx="1600200" cy="307777"/>
          </a:xfrm>
          <a:prstGeom prst="rect">
            <a:avLst/>
          </a:prstGeom>
          <a:noFill/>
        </p:spPr>
        <p:txBody>
          <a:bodyPr wrap="square" lIns="0" tIns="0" rIns="0" bIns="0" anchor="t">
            <a:spAutoFit/>
          </a:bodyPr>
          <a:lstStyle/>
          <a:p>
            <a:pPr algn="ctr">
              <a:spcAft>
                <a:spcPts val="600"/>
              </a:spcAft>
            </a:pPr>
            <a:r>
              <a:rPr sz="2000" b="0" i="0">
                <a:solidFill>
                  <a:srgbClr val="B5452B"/>
                </a:solidFill>
                <a:latin typeface="Courier New"/>
              </a:rPr>
              <a:t>-4</a:t>
            </a:r>
          </a:p>
        </p:txBody>
      </p:sp>
      <p:sp>
        <p:nvSpPr>
          <p:cNvPr id="17" name="TextBox 16"/>
          <p:cNvSpPr txBox="1"/>
          <p:nvPr/>
        </p:nvSpPr>
        <p:spPr>
          <a:xfrm>
            <a:off x="5998464" y="1463039"/>
            <a:ext cx="1600200" cy="307777"/>
          </a:xfrm>
          <a:prstGeom prst="rect">
            <a:avLst/>
          </a:prstGeom>
          <a:noFill/>
        </p:spPr>
        <p:txBody>
          <a:bodyPr wrap="square" lIns="0" tIns="0" rIns="0" bIns="0" anchor="t">
            <a:spAutoFit/>
          </a:bodyPr>
          <a:lstStyle/>
          <a:p>
            <a:pPr algn="ctr">
              <a:spcAft>
                <a:spcPts val="600"/>
              </a:spcAft>
            </a:pPr>
            <a:r>
              <a:rPr sz="2000" b="0" i="0">
                <a:solidFill>
                  <a:srgbClr val="2E6F8E"/>
                </a:solidFill>
                <a:latin typeface="Courier New"/>
              </a:rPr>
              <a:t>3</a:t>
            </a:r>
          </a:p>
        </p:txBody>
      </p:sp>
      <p:sp>
        <p:nvSpPr>
          <p:cNvPr id="18" name="Rounded Rectangle 17"/>
          <p:cNvSpPr/>
          <p:nvPr/>
        </p:nvSpPr>
        <p:spPr>
          <a:xfrm>
            <a:off x="5998464" y="1965960"/>
            <a:ext cx="1600200" cy="777240"/>
          </a:xfrm>
          <a:prstGeom prst="roundRect">
            <a:avLst>
              <a:gd name="adj" fmla="val 10000"/>
            </a:avLst>
          </a:prstGeom>
          <a:solidFill>
            <a:srgbClr val="1F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9" name="TextBox 18"/>
          <p:cNvSpPr txBox="1"/>
          <p:nvPr/>
        </p:nvSpPr>
        <p:spPr>
          <a:xfrm>
            <a:off x="5998464" y="2154525"/>
            <a:ext cx="1600200" cy="400110"/>
          </a:xfrm>
          <a:prstGeom prst="rect">
            <a:avLst/>
          </a:prstGeom>
          <a:noFill/>
        </p:spPr>
        <p:txBody>
          <a:bodyPr wrap="square" lIns="45720" rIns="45720" anchor="ctr">
            <a:spAutoFit/>
          </a:bodyPr>
          <a:lstStyle/>
          <a:p>
            <a:pPr algn="ctr">
              <a:spcAft>
                <a:spcPts val="600"/>
              </a:spcAft>
            </a:pPr>
            <a:r>
              <a:rPr sz="2000" b="0" i="0">
                <a:solidFill>
                  <a:srgbClr val="FFFFFF"/>
                </a:solidFill>
                <a:latin typeface="Courier New"/>
              </a:rPr>
              <a:t>'knew'</a:t>
            </a:r>
          </a:p>
        </p:txBody>
      </p:sp>
      <p:sp>
        <p:nvSpPr>
          <p:cNvPr id="20" name="TextBox 19"/>
          <p:cNvSpPr txBox="1"/>
          <p:nvPr/>
        </p:nvSpPr>
        <p:spPr>
          <a:xfrm>
            <a:off x="5998464" y="2834639"/>
            <a:ext cx="1600200" cy="307777"/>
          </a:xfrm>
          <a:prstGeom prst="rect">
            <a:avLst/>
          </a:prstGeom>
          <a:noFill/>
        </p:spPr>
        <p:txBody>
          <a:bodyPr wrap="square" lIns="0" tIns="0" rIns="0" bIns="0" anchor="t">
            <a:spAutoFit/>
          </a:bodyPr>
          <a:lstStyle/>
          <a:p>
            <a:pPr algn="ctr">
              <a:spcAft>
                <a:spcPts val="600"/>
              </a:spcAft>
            </a:pPr>
            <a:r>
              <a:rPr sz="2000" b="0" i="0">
                <a:solidFill>
                  <a:srgbClr val="B5452B"/>
                </a:solidFill>
                <a:latin typeface="Courier New"/>
              </a:rPr>
              <a:t>-3</a:t>
            </a:r>
          </a:p>
        </p:txBody>
      </p:sp>
      <p:sp>
        <p:nvSpPr>
          <p:cNvPr id="21" name="TextBox 20"/>
          <p:cNvSpPr txBox="1"/>
          <p:nvPr/>
        </p:nvSpPr>
        <p:spPr>
          <a:xfrm>
            <a:off x="7708392" y="1463039"/>
            <a:ext cx="1600200" cy="307777"/>
          </a:xfrm>
          <a:prstGeom prst="rect">
            <a:avLst/>
          </a:prstGeom>
          <a:noFill/>
        </p:spPr>
        <p:txBody>
          <a:bodyPr wrap="square" lIns="0" tIns="0" rIns="0" bIns="0" anchor="t">
            <a:spAutoFit/>
          </a:bodyPr>
          <a:lstStyle/>
          <a:p>
            <a:pPr algn="ctr">
              <a:spcAft>
                <a:spcPts val="600"/>
              </a:spcAft>
            </a:pPr>
            <a:r>
              <a:rPr sz="2000" b="0" i="0">
                <a:solidFill>
                  <a:srgbClr val="2E6F8E"/>
                </a:solidFill>
                <a:latin typeface="Courier New"/>
              </a:rPr>
              <a:t>4</a:t>
            </a:r>
          </a:p>
        </p:txBody>
      </p:sp>
      <p:sp>
        <p:nvSpPr>
          <p:cNvPr id="22" name="Rounded Rectangle 21"/>
          <p:cNvSpPr/>
          <p:nvPr/>
        </p:nvSpPr>
        <p:spPr>
          <a:xfrm>
            <a:off x="7708392" y="1965960"/>
            <a:ext cx="1600200" cy="777240"/>
          </a:xfrm>
          <a:prstGeom prst="roundRect">
            <a:avLst>
              <a:gd name="adj" fmla="val 10000"/>
            </a:avLst>
          </a:prstGeom>
          <a:solidFill>
            <a:srgbClr val="1F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3" name="TextBox 22"/>
          <p:cNvSpPr txBox="1"/>
          <p:nvPr/>
        </p:nvSpPr>
        <p:spPr>
          <a:xfrm>
            <a:off x="7708392" y="2154525"/>
            <a:ext cx="1600200" cy="400110"/>
          </a:xfrm>
          <a:prstGeom prst="rect">
            <a:avLst/>
          </a:prstGeom>
          <a:noFill/>
        </p:spPr>
        <p:txBody>
          <a:bodyPr wrap="square" lIns="45720" rIns="45720" anchor="ctr">
            <a:spAutoFit/>
          </a:bodyPr>
          <a:lstStyle/>
          <a:p>
            <a:pPr algn="ctr">
              <a:spcAft>
                <a:spcPts val="600"/>
              </a:spcAft>
            </a:pPr>
            <a:r>
              <a:rPr sz="2000" b="0" i="0">
                <a:solidFill>
                  <a:srgbClr val="FFFFFF"/>
                </a:solidFill>
                <a:latin typeface="Courier New"/>
              </a:rPr>
              <a:t>'by'</a:t>
            </a:r>
          </a:p>
        </p:txBody>
      </p:sp>
      <p:sp>
        <p:nvSpPr>
          <p:cNvPr id="24" name="TextBox 23"/>
          <p:cNvSpPr txBox="1"/>
          <p:nvPr/>
        </p:nvSpPr>
        <p:spPr>
          <a:xfrm>
            <a:off x="7708392" y="2834639"/>
            <a:ext cx="1600200" cy="307777"/>
          </a:xfrm>
          <a:prstGeom prst="rect">
            <a:avLst/>
          </a:prstGeom>
          <a:noFill/>
        </p:spPr>
        <p:txBody>
          <a:bodyPr wrap="square" lIns="0" tIns="0" rIns="0" bIns="0" anchor="t">
            <a:spAutoFit/>
          </a:bodyPr>
          <a:lstStyle/>
          <a:p>
            <a:pPr algn="ctr">
              <a:spcAft>
                <a:spcPts val="600"/>
              </a:spcAft>
            </a:pPr>
            <a:r>
              <a:rPr sz="2000" b="0" i="0">
                <a:solidFill>
                  <a:srgbClr val="B5452B"/>
                </a:solidFill>
                <a:latin typeface="Courier New"/>
              </a:rPr>
              <a:t>-2</a:t>
            </a:r>
          </a:p>
        </p:txBody>
      </p:sp>
      <p:sp>
        <p:nvSpPr>
          <p:cNvPr id="25" name="TextBox 24"/>
          <p:cNvSpPr txBox="1"/>
          <p:nvPr/>
        </p:nvSpPr>
        <p:spPr>
          <a:xfrm>
            <a:off x="9418320" y="1463039"/>
            <a:ext cx="1600200" cy="307777"/>
          </a:xfrm>
          <a:prstGeom prst="rect">
            <a:avLst/>
          </a:prstGeom>
          <a:noFill/>
        </p:spPr>
        <p:txBody>
          <a:bodyPr wrap="square" lIns="0" tIns="0" rIns="0" bIns="0" anchor="t">
            <a:spAutoFit/>
          </a:bodyPr>
          <a:lstStyle/>
          <a:p>
            <a:pPr algn="ctr">
              <a:spcAft>
                <a:spcPts val="600"/>
              </a:spcAft>
            </a:pPr>
            <a:r>
              <a:rPr sz="2000" b="0" i="0">
                <a:solidFill>
                  <a:srgbClr val="2E6F8E"/>
                </a:solidFill>
                <a:latin typeface="Courier New"/>
              </a:rPr>
              <a:t>5</a:t>
            </a:r>
          </a:p>
        </p:txBody>
      </p:sp>
      <p:sp>
        <p:nvSpPr>
          <p:cNvPr id="26" name="Rounded Rectangle 25"/>
          <p:cNvSpPr/>
          <p:nvPr/>
        </p:nvSpPr>
        <p:spPr>
          <a:xfrm>
            <a:off x="9418320" y="1965960"/>
            <a:ext cx="1600200" cy="777240"/>
          </a:xfrm>
          <a:prstGeom prst="roundRect">
            <a:avLst>
              <a:gd name="adj" fmla="val 10000"/>
            </a:avLst>
          </a:prstGeom>
          <a:solidFill>
            <a:srgbClr val="1F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7" name="TextBox 26"/>
          <p:cNvSpPr txBox="1"/>
          <p:nvPr/>
        </p:nvSpPr>
        <p:spPr>
          <a:xfrm>
            <a:off x="9418320" y="2154525"/>
            <a:ext cx="1600200" cy="400110"/>
          </a:xfrm>
          <a:prstGeom prst="rect">
            <a:avLst/>
          </a:prstGeom>
          <a:noFill/>
        </p:spPr>
        <p:txBody>
          <a:bodyPr wrap="square" lIns="45720" rIns="45720" anchor="ctr">
            <a:spAutoFit/>
          </a:bodyPr>
          <a:lstStyle/>
          <a:p>
            <a:pPr algn="ctr">
              <a:spcAft>
                <a:spcPts val="600"/>
              </a:spcAft>
            </a:pPr>
            <a:r>
              <a:rPr sz="2000" b="0" i="0">
                <a:solidFill>
                  <a:srgbClr val="FFFFFF"/>
                </a:solidFill>
                <a:latin typeface="Courier New"/>
              </a:rPr>
              <a:t>'noon.'</a:t>
            </a:r>
          </a:p>
        </p:txBody>
      </p:sp>
      <p:sp>
        <p:nvSpPr>
          <p:cNvPr id="28" name="TextBox 27"/>
          <p:cNvSpPr txBox="1"/>
          <p:nvPr/>
        </p:nvSpPr>
        <p:spPr>
          <a:xfrm>
            <a:off x="9418320" y="2834639"/>
            <a:ext cx="1600200" cy="307777"/>
          </a:xfrm>
          <a:prstGeom prst="rect">
            <a:avLst/>
          </a:prstGeom>
          <a:noFill/>
        </p:spPr>
        <p:txBody>
          <a:bodyPr wrap="square" lIns="0" tIns="0" rIns="0" bIns="0" anchor="t">
            <a:spAutoFit/>
          </a:bodyPr>
          <a:lstStyle/>
          <a:p>
            <a:pPr algn="ctr">
              <a:spcAft>
                <a:spcPts val="600"/>
              </a:spcAft>
            </a:pPr>
            <a:r>
              <a:rPr sz="2000" b="0" i="0">
                <a:solidFill>
                  <a:srgbClr val="B5452B"/>
                </a:solidFill>
                <a:latin typeface="Courier New"/>
              </a:rPr>
              <a:t>-1</a:t>
            </a:r>
          </a:p>
        </p:txBody>
      </p:sp>
      <p:sp>
        <p:nvSpPr>
          <p:cNvPr id="29" name="Rounded Rectangle 28"/>
          <p:cNvSpPr/>
          <p:nvPr/>
        </p:nvSpPr>
        <p:spPr>
          <a:xfrm>
            <a:off x="548640" y="3520440"/>
            <a:ext cx="6309360" cy="256032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0" name="TextBox 29"/>
          <p:cNvSpPr txBox="1"/>
          <p:nvPr/>
        </p:nvSpPr>
        <p:spPr>
          <a:xfrm>
            <a:off x="731520" y="3657600"/>
            <a:ext cx="5943600" cy="1277273"/>
          </a:xfrm>
          <a:prstGeom prst="rect">
            <a:avLst/>
          </a:prstGeom>
          <a:noFill/>
        </p:spPr>
        <p:txBody>
          <a:bodyPr wrap="square" lIns="45720" rIns="45720" anchor="t">
            <a:spAutoFit/>
          </a:bodyPr>
          <a:lstStyle/>
          <a:p>
            <a:pPr algn="l">
              <a:spcAft>
                <a:spcPts val="200"/>
              </a:spcAft>
            </a:pPr>
            <a:r>
              <a:rPr b="0" i="0">
                <a:solidFill>
                  <a:srgbClr val="1A1A1A"/>
                </a:solidFill>
                <a:latin typeface="Courier New"/>
              </a:rPr>
              <a:t>ending[0]      → 'The'</a:t>
            </a:r>
          </a:p>
          <a:p>
            <a:pPr algn="l">
              <a:spcAft>
                <a:spcPts val="200"/>
              </a:spcAft>
            </a:pPr>
            <a:r>
              <a:rPr b="0" i="0">
                <a:solidFill>
                  <a:srgbClr val="1A1A1A"/>
                </a:solidFill>
                <a:latin typeface="Courier New"/>
              </a:rPr>
              <a:t>ending[-1]     → 'noon.'</a:t>
            </a:r>
          </a:p>
          <a:p>
            <a:pPr algn="l">
              <a:spcAft>
                <a:spcPts val="200"/>
              </a:spcAft>
            </a:pPr>
            <a:r>
              <a:rPr b="0" i="0">
                <a:solidFill>
                  <a:srgbClr val="1A1A1A"/>
                </a:solidFill>
                <a:latin typeface="Courier New"/>
              </a:rPr>
              <a:t>ending[1:3]    → ['whole', 'street']</a:t>
            </a:r>
          </a:p>
          <a:p>
            <a:pPr algn="l">
              <a:spcAft>
                <a:spcPts val="200"/>
              </a:spcAft>
            </a:pPr>
            <a:r>
              <a:rPr b="0" i="0">
                <a:solidFill>
                  <a:srgbClr val="1A1A1A"/>
                </a:solidFill>
                <a:latin typeface="Courier New"/>
              </a:rPr>
              <a:t>ending[-3:]    → ['knew', 'by', 'noon.']</a:t>
            </a:r>
          </a:p>
        </p:txBody>
      </p:sp>
      <p:sp>
        <p:nvSpPr>
          <p:cNvPr id="31" name="TextBox 30"/>
          <p:cNvSpPr txBox="1"/>
          <p:nvPr/>
        </p:nvSpPr>
        <p:spPr>
          <a:xfrm>
            <a:off x="7178040" y="3520440"/>
            <a:ext cx="4480560" cy="2154436"/>
          </a:xfrm>
          <a:prstGeom prst="rect">
            <a:avLst/>
          </a:prstGeom>
          <a:noFill/>
        </p:spPr>
        <p:txBody>
          <a:bodyPr wrap="square" lIns="0" tIns="0" rIns="0" bIns="0" anchor="t">
            <a:spAutoFit/>
          </a:bodyPr>
          <a:lstStyle/>
          <a:p>
            <a:pPr algn="l">
              <a:spcAft>
                <a:spcPts val="1200"/>
              </a:spcAft>
            </a:pPr>
            <a:r>
              <a:rPr sz="2000" b="0" i="0">
                <a:solidFill>
                  <a:srgbClr val="B5452B"/>
                </a:solidFill>
                <a:latin typeface="Courier New"/>
              </a:rPr>
              <a:t>[start:stop]</a:t>
            </a:r>
            <a:r>
              <a:rPr sz="2000" b="0" i="0">
                <a:solidFill>
                  <a:srgbClr val="1A1A1A"/>
                </a:solidFill>
                <a:latin typeface="Calibri"/>
              </a:rPr>
              <a:t> includes start, stops </a:t>
            </a:r>
            <a:r>
              <a:rPr sz="2000" b="0" i="1">
                <a:solidFill>
                  <a:srgbClr val="1A1A1A"/>
                </a:solidFill>
                <a:latin typeface="Calibri"/>
              </a:rPr>
              <a:t>before</a:t>
            </a:r>
            <a:r>
              <a:rPr sz="2000" b="0" i="0">
                <a:solidFill>
                  <a:srgbClr val="1A1A1A"/>
                </a:solidFill>
                <a:latin typeface="Calibri"/>
              </a:rPr>
              <a:t> stop.</a:t>
            </a:r>
          </a:p>
          <a:p>
            <a:pPr algn="l">
              <a:spcAft>
                <a:spcPts val="1200"/>
              </a:spcAft>
            </a:pPr>
            <a:r>
              <a:rPr sz="2000" b="1" i="0">
                <a:solidFill>
                  <a:srgbClr val="1A1A1A"/>
                </a:solidFill>
                <a:latin typeface="Calibri"/>
              </a:rPr>
              <a:t>Leave a number out</a:t>
            </a:r>
            <a:r>
              <a:rPr sz="2000" b="0" i="0">
                <a:solidFill>
                  <a:srgbClr val="1A1A1A"/>
                </a:solidFill>
                <a:latin typeface="Calibri"/>
              </a:rPr>
              <a:t> to mean from the beginning, or to the end.</a:t>
            </a:r>
          </a:p>
          <a:p>
            <a:pPr algn="l">
              <a:spcAft>
                <a:spcPts val="1200"/>
              </a:spcAft>
            </a:pPr>
            <a:r>
              <a:rPr sz="2000" b="0" i="0">
                <a:solidFill>
                  <a:srgbClr val="B5452B"/>
                </a:solidFill>
                <a:latin typeface="Courier New"/>
              </a:rPr>
              <a:t>len(ending)</a:t>
            </a:r>
            <a:r>
              <a:rPr sz="2000" b="0" i="0">
                <a:solidFill>
                  <a:srgbClr val="1A1A1A"/>
                </a:solidFill>
                <a:latin typeface="Calibri"/>
              </a:rPr>
              <a:t> is 6, but the last position is 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1"/>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List comprehensions: make a new list from an old one</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9</a:t>
            </a:r>
          </a:p>
        </p:txBody>
      </p:sp>
      <p:sp>
        <p:nvSpPr>
          <p:cNvPr id="5" name="TextBox 4"/>
          <p:cNvSpPr txBox="1"/>
          <p:nvPr/>
        </p:nvSpPr>
        <p:spPr>
          <a:xfrm>
            <a:off x="548640" y="1554480"/>
            <a:ext cx="11064240" cy="553998"/>
          </a:xfrm>
          <a:prstGeom prst="rect">
            <a:avLst/>
          </a:prstGeom>
          <a:noFill/>
        </p:spPr>
        <p:txBody>
          <a:bodyPr wrap="square" lIns="0" tIns="0" rIns="0" bIns="0" anchor="t">
            <a:spAutoFit/>
          </a:bodyPr>
          <a:lstStyle/>
          <a:p>
            <a:pPr algn="ctr">
              <a:spcAft>
                <a:spcPts val="600"/>
              </a:spcAft>
            </a:pPr>
            <a:r>
              <a:rPr sz="3600" b="1" i="0">
                <a:solidFill>
                  <a:srgbClr val="1A1A1A"/>
                </a:solidFill>
                <a:latin typeface="Courier New"/>
              </a:rPr>
              <a:t>[</a:t>
            </a:r>
            <a:r>
              <a:rPr sz="3600" b="1" i="0">
                <a:solidFill>
                  <a:srgbClr val="B5452B"/>
                </a:solidFill>
                <a:latin typeface="Courier New"/>
              </a:rPr>
              <a:t>len(w)</a:t>
            </a:r>
            <a:r>
              <a:rPr sz="3600" b="1" i="0">
                <a:solidFill>
                  <a:srgbClr val="1A1A1A"/>
                </a:solidFill>
                <a:latin typeface="Courier New"/>
              </a:rPr>
              <a:t> </a:t>
            </a:r>
            <a:r>
              <a:rPr sz="3600" b="1" i="0">
                <a:solidFill>
                  <a:srgbClr val="2E6F8E"/>
                </a:solidFill>
                <a:latin typeface="Courier New"/>
              </a:rPr>
              <a:t>for w in words</a:t>
            </a:r>
            <a:r>
              <a:rPr sz="3600" b="1" i="0">
                <a:solidFill>
                  <a:srgbClr val="1A1A1A"/>
                </a:solidFill>
                <a:latin typeface="Courier New"/>
              </a:rPr>
              <a:t> </a:t>
            </a:r>
            <a:r>
              <a:rPr sz="3600" b="1" i="0">
                <a:solidFill>
                  <a:srgbClr val="9A7412"/>
                </a:solidFill>
                <a:latin typeface="Courier New"/>
              </a:rPr>
              <a:t>if len(w) &gt; 5</a:t>
            </a:r>
            <a:r>
              <a:rPr sz="3600" b="1" i="0">
                <a:solidFill>
                  <a:srgbClr val="1A1A1A"/>
                </a:solidFill>
                <a:latin typeface="Courier New"/>
              </a:rPr>
              <a:t>]</a:t>
            </a:r>
          </a:p>
        </p:txBody>
      </p:sp>
      <p:sp>
        <p:nvSpPr>
          <p:cNvPr id="6" name="Rounded Rectangle 5"/>
          <p:cNvSpPr/>
          <p:nvPr/>
        </p:nvSpPr>
        <p:spPr>
          <a:xfrm>
            <a:off x="548640" y="2743200"/>
            <a:ext cx="3520440" cy="141732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7" name="TextBox 6"/>
          <p:cNvSpPr txBox="1"/>
          <p:nvPr/>
        </p:nvSpPr>
        <p:spPr>
          <a:xfrm>
            <a:off x="731520" y="2852928"/>
            <a:ext cx="3154680" cy="307777"/>
          </a:xfrm>
          <a:prstGeom prst="rect">
            <a:avLst/>
          </a:prstGeom>
          <a:noFill/>
        </p:spPr>
        <p:txBody>
          <a:bodyPr wrap="square" lIns="0" tIns="0" rIns="0" bIns="0" anchor="t">
            <a:spAutoFit/>
          </a:bodyPr>
          <a:lstStyle/>
          <a:p>
            <a:pPr algn="l">
              <a:spcAft>
                <a:spcPts val="600"/>
              </a:spcAft>
            </a:pPr>
            <a:r>
              <a:rPr sz="2000" b="1" i="0">
                <a:solidFill>
                  <a:srgbClr val="B5452B"/>
                </a:solidFill>
                <a:latin typeface="Calibri"/>
              </a:rPr>
              <a:t>what to make</a:t>
            </a:r>
          </a:p>
        </p:txBody>
      </p:sp>
      <p:sp>
        <p:nvSpPr>
          <p:cNvPr id="8" name="TextBox 7"/>
          <p:cNvSpPr txBox="1"/>
          <p:nvPr/>
        </p:nvSpPr>
        <p:spPr>
          <a:xfrm>
            <a:off x="731520" y="3291840"/>
            <a:ext cx="3154680" cy="276999"/>
          </a:xfrm>
          <a:prstGeom prst="rect">
            <a:avLst/>
          </a:prstGeom>
          <a:noFill/>
        </p:spPr>
        <p:txBody>
          <a:bodyPr wrap="square" lIns="0" tIns="0" rIns="0" bIns="0" anchor="t">
            <a:spAutoFit/>
          </a:bodyPr>
          <a:lstStyle/>
          <a:p>
            <a:pPr algn="l">
              <a:spcAft>
                <a:spcPts val="600"/>
              </a:spcAft>
            </a:pPr>
            <a:r>
              <a:rPr b="0" i="0">
                <a:solidFill>
                  <a:srgbClr val="1A1A1A"/>
                </a:solidFill>
                <a:latin typeface="Calibri"/>
              </a:rPr>
              <a:t>len(w): the length of each word</a:t>
            </a:r>
          </a:p>
        </p:txBody>
      </p:sp>
      <p:sp>
        <p:nvSpPr>
          <p:cNvPr id="9" name="Rounded Rectangle 8"/>
          <p:cNvSpPr/>
          <p:nvPr/>
        </p:nvSpPr>
        <p:spPr>
          <a:xfrm>
            <a:off x="4297679" y="2743200"/>
            <a:ext cx="3520440" cy="141732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0" name="TextBox 9"/>
          <p:cNvSpPr txBox="1"/>
          <p:nvPr/>
        </p:nvSpPr>
        <p:spPr>
          <a:xfrm>
            <a:off x="4480559" y="2852928"/>
            <a:ext cx="3154680" cy="307777"/>
          </a:xfrm>
          <a:prstGeom prst="rect">
            <a:avLst/>
          </a:prstGeom>
          <a:noFill/>
        </p:spPr>
        <p:txBody>
          <a:bodyPr wrap="square" lIns="0" tIns="0" rIns="0" bIns="0" anchor="t">
            <a:spAutoFit/>
          </a:bodyPr>
          <a:lstStyle/>
          <a:p>
            <a:pPr algn="l">
              <a:spcAft>
                <a:spcPts val="600"/>
              </a:spcAft>
            </a:pPr>
            <a:r>
              <a:rPr sz="2000" b="1" i="0">
                <a:solidFill>
                  <a:srgbClr val="2E6F8E"/>
                </a:solidFill>
                <a:latin typeface="Calibri"/>
              </a:rPr>
              <a:t>from where</a:t>
            </a:r>
          </a:p>
        </p:txBody>
      </p:sp>
      <p:sp>
        <p:nvSpPr>
          <p:cNvPr id="11" name="TextBox 10"/>
          <p:cNvSpPr txBox="1"/>
          <p:nvPr/>
        </p:nvSpPr>
        <p:spPr>
          <a:xfrm>
            <a:off x="4480559" y="3291840"/>
            <a:ext cx="3154680" cy="553998"/>
          </a:xfrm>
          <a:prstGeom prst="rect">
            <a:avLst/>
          </a:prstGeom>
          <a:noFill/>
        </p:spPr>
        <p:txBody>
          <a:bodyPr wrap="square" lIns="0" tIns="0" rIns="0" bIns="0" anchor="t">
            <a:spAutoFit/>
          </a:bodyPr>
          <a:lstStyle/>
          <a:p>
            <a:pPr algn="l">
              <a:spcAft>
                <a:spcPts val="600"/>
              </a:spcAft>
            </a:pPr>
            <a:r>
              <a:rPr b="0" i="0">
                <a:solidFill>
                  <a:srgbClr val="1A1A1A"/>
                </a:solidFill>
                <a:latin typeface="Calibri"/>
              </a:rPr>
              <a:t>for w in words: take each item in turn, call it w</a:t>
            </a:r>
          </a:p>
        </p:txBody>
      </p:sp>
      <p:sp>
        <p:nvSpPr>
          <p:cNvPr id="12" name="Rounded Rectangle 11"/>
          <p:cNvSpPr/>
          <p:nvPr/>
        </p:nvSpPr>
        <p:spPr>
          <a:xfrm>
            <a:off x="8046719" y="2743200"/>
            <a:ext cx="3520440" cy="141732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3" name="TextBox 12"/>
          <p:cNvSpPr txBox="1"/>
          <p:nvPr/>
        </p:nvSpPr>
        <p:spPr>
          <a:xfrm>
            <a:off x="8229599" y="2852928"/>
            <a:ext cx="3154680" cy="307777"/>
          </a:xfrm>
          <a:prstGeom prst="rect">
            <a:avLst/>
          </a:prstGeom>
          <a:noFill/>
        </p:spPr>
        <p:txBody>
          <a:bodyPr wrap="square" lIns="0" tIns="0" rIns="0" bIns="0" anchor="t">
            <a:spAutoFit/>
          </a:bodyPr>
          <a:lstStyle/>
          <a:p>
            <a:pPr algn="l">
              <a:spcAft>
                <a:spcPts val="600"/>
              </a:spcAft>
            </a:pPr>
            <a:r>
              <a:rPr sz="2000" b="1" i="0">
                <a:solidFill>
                  <a:srgbClr val="9A7412"/>
                </a:solidFill>
                <a:latin typeface="Calibri"/>
              </a:rPr>
              <a:t>which ones (optional)</a:t>
            </a:r>
          </a:p>
        </p:txBody>
      </p:sp>
      <p:sp>
        <p:nvSpPr>
          <p:cNvPr id="14" name="TextBox 13"/>
          <p:cNvSpPr txBox="1"/>
          <p:nvPr/>
        </p:nvSpPr>
        <p:spPr>
          <a:xfrm>
            <a:off x="8229599" y="3291840"/>
            <a:ext cx="3154680" cy="553998"/>
          </a:xfrm>
          <a:prstGeom prst="rect">
            <a:avLst/>
          </a:prstGeom>
          <a:noFill/>
        </p:spPr>
        <p:txBody>
          <a:bodyPr wrap="square" lIns="0" tIns="0" rIns="0" bIns="0" anchor="t">
            <a:spAutoFit/>
          </a:bodyPr>
          <a:lstStyle/>
          <a:p>
            <a:pPr algn="l">
              <a:spcAft>
                <a:spcPts val="600"/>
              </a:spcAft>
            </a:pPr>
            <a:r>
              <a:rPr b="0" i="0">
                <a:solidFill>
                  <a:srgbClr val="1A1A1A"/>
                </a:solidFill>
                <a:latin typeface="Calibri"/>
              </a:rPr>
              <a:t>if len(w) &gt; 5: keep only the items that pass</a:t>
            </a:r>
          </a:p>
        </p:txBody>
      </p:sp>
      <p:sp>
        <p:nvSpPr>
          <p:cNvPr id="15" name="Rounded Rectangle 14"/>
          <p:cNvSpPr/>
          <p:nvPr/>
        </p:nvSpPr>
        <p:spPr>
          <a:xfrm>
            <a:off x="548640" y="4434840"/>
            <a:ext cx="11091672" cy="169164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TextBox 15"/>
          <p:cNvSpPr txBox="1"/>
          <p:nvPr/>
        </p:nvSpPr>
        <p:spPr>
          <a:xfrm>
            <a:off x="731520" y="4572000"/>
            <a:ext cx="10725912" cy="974626"/>
          </a:xfrm>
          <a:prstGeom prst="rect">
            <a:avLst/>
          </a:prstGeom>
          <a:noFill/>
        </p:spPr>
        <p:txBody>
          <a:bodyPr wrap="square" lIns="45720" rIns="45720" anchor="t">
            <a:spAutoFit/>
          </a:bodyPr>
          <a:lstStyle/>
          <a:p>
            <a:pPr algn="l">
              <a:spcAft>
                <a:spcPts val="200"/>
              </a:spcAft>
            </a:pPr>
            <a:r>
              <a:rPr b="0" i="0">
                <a:solidFill>
                  <a:srgbClr val="1A1A1A"/>
                </a:solidFill>
                <a:latin typeface="Courier New"/>
              </a:rPr>
              <a:t>[w.upper() for w in words]               </a:t>
            </a:r>
            <a:r>
              <a:rPr b="0" i="1">
                <a:solidFill>
                  <a:srgbClr val="5F6B66"/>
                </a:solidFill>
                <a:latin typeface="Courier New"/>
              </a:rPr>
              <a:t># transform every item</a:t>
            </a:r>
          </a:p>
          <a:p>
            <a:pPr algn="l">
              <a:spcAft>
                <a:spcPts val="200"/>
              </a:spcAft>
            </a:pPr>
            <a:r>
              <a:rPr b="0" i="0">
                <a:solidFill>
                  <a:srgbClr val="1A1A1A"/>
                </a:solidFill>
                <a:latin typeface="Courier New"/>
              </a:rPr>
              <a:t>[w for w in words if w.startswith("B")]  </a:t>
            </a:r>
            <a:r>
              <a:rPr b="0" i="1">
                <a:solidFill>
                  <a:srgbClr val="5F6B66"/>
                </a:solidFill>
                <a:latin typeface="Courier New"/>
              </a:rPr>
              <a:t># keep some items</a:t>
            </a:r>
          </a:p>
          <a:p>
            <a:pPr algn="l">
              <a:spcAft>
                <a:spcPts val="200"/>
              </a:spcAft>
            </a:pPr>
            <a:r>
              <a:rPr b="0" i="0">
                <a:solidFill>
                  <a:srgbClr val="B5452B"/>
                </a:solidFill>
                <a:latin typeface="Courier New"/>
              </a:rPr>
              <a:t>→ ['Bennet', 'Bennet']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1"/>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for loops: do something for each item</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10</a:t>
            </a:r>
          </a:p>
        </p:txBody>
      </p:sp>
      <p:sp>
        <p:nvSpPr>
          <p:cNvPr id="5" name="Rounded Rectangle 4"/>
          <p:cNvSpPr/>
          <p:nvPr/>
        </p:nvSpPr>
        <p:spPr>
          <a:xfrm>
            <a:off x="548640" y="1417320"/>
            <a:ext cx="5852160" cy="274320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TextBox 5"/>
          <p:cNvSpPr txBox="1"/>
          <p:nvPr/>
        </p:nvSpPr>
        <p:spPr>
          <a:xfrm>
            <a:off x="731520" y="1554480"/>
            <a:ext cx="5486400" cy="1733808"/>
          </a:xfrm>
          <a:prstGeom prst="rect">
            <a:avLst/>
          </a:prstGeom>
          <a:noFill/>
        </p:spPr>
        <p:txBody>
          <a:bodyPr wrap="square" lIns="45720" rIns="45720" anchor="t">
            <a:spAutoFit/>
          </a:bodyPr>
          <a:lstStyle/>
          <a:p>
            <a:pPr algn="l">
              <a:spcAft>
                <a:spcPts val="200"/>
              </a:spcAft>
            </a:pPr>
            <a:r>
              <a:rPr sz="2000" b="0" i="0">
                <a:solidFill>
                  <a:srgbClr val="1A1A1A"/>
                </a:solidFill>
                <a:latin typeface="Courier New"/>
              </a:rPr>
              <a:t>for w in words[0:3]:</a:t>
            </a:r>
          </a:p>
          <a:p>
            <a:pPr algn="l">
              <a:spcAft>
                <a:spcPts val="200"/>
              </a:spcAft>
            </a:pPr>
            <a:r>
              <a:rPr sz="2000" b="0" i="0">
                <a:solidFill>
                  <a:srgbClr val="1A1A1A"/>
                </a:solidFill>
                <a:latin typeface="Courier New"/>
              </a:rPr>
              <a:t>    print(w, len(w))</a:t>
            </a:r>
          </a:p>
          <a:p>
            <a:pPr algn="l">
              <a:spcAft>
                <a:spcPts val="200"/>
              </a:spcAft>
            </a:pPr>
            <a:r>
              <a:rPr sz="2000" b="0" i="0">
                <a:solidFill>
                  <a:srgbClr val="B5452B"/>
                </a:solidFill>
                <a:latin typeface="Courier New"/>
              </a:rPr>
              <a:t>→ Mr. 3</a:t>
            </a:r>
          </a:p>
          <a:p>
            <a:pPr algn="l">
              <a:spcAft>
                <a:spcPts val="200"/>
              </a:spcAft>
            </a:pPr>
            <a:r>
              <a:rPr sz="2000" b="0" i="0">
                <a:solidFill>
                  <a:srgbClr val="B5452B"/>
                </a:solidFill>
                <a:latin typeface="Courier New"/>
              </a:rPr>
              <a:t>→ Bennet 6</a:t>
            </a:r>
          </a:p>
          <a:p>
            <a:pPr algn="l">
              <a:spcAft>
                <a:spcPts val="200"/>
              </a:spcAft>
            </a:pPr>
            <a:r>
              <a:rPr sz="2000" b="0" i="0">
                <a:solidFill>
                  <a:srgbClr val="B5452B"/>
                </a:solidFill>
                <a:latin typeface="Courier New"/>
              </a:rPr>
              <a:t>→ looked 6</a:t>
            </a:r>
          </a:p>
        </p:txBody>
      </p:sp>
      <p:sp>
        <p:nvSpPr>
          <p:cNvPr id="7" name="TextBox 6"/>
          <p:cNvSpPr txBox="1"/>
          <p:nvPr/>
        </p:nvSpPr>
        <p:spPr>
          <a:xfrm>
            <a:off x="6766560" y="1417320"/>
            <a:ext cx="4846320" cy="4108817"/>
          </a:xfrm>
          <a:prstGeom prst="rect">
            <a:avLst/>
          </a:prstGeom>
          <a:noFill/>
        </p:spPr>
        <p:txBody>
          <a:bodyPr wrap="square" lIns="0" tIns="0" rIns="0" bIns="0" anchor="t">
            <a:spAutoFit/>
          </a:bodyPr>
          <a:lstStyle/>
          <a:p>
            <a:pPr algn="l">
              <a:spcAft>
                <a:spcPts val="600"/>
              </a:spcAft>
            </a:pPr>
            <a:r>
              <a:rPr sz="2400" b="1" i="0">
                <a:solidFill>
                  <a:srgbClr val="1F3A34"/>
                </a:solidFill>
                <a:latin typeface="Calibri"/>
              </a:rPr>
              <a:t>The colon</a:t>
            </a:r>
          </a:p>
          <a:p>
            <a:pPr algn="l">
              <a:spcAft>
                <a:spcPts val="600"/>
              </a:spcAft>
            </a:pPr>
            <a:r>
              <a:rPr sz="2000" b="0" i="0">
                <a:solidFill>
                  <a:srgbClr val="1A1A1A"/>
                </a:solidFill>
                <a:latin typeface="Calibri"/>
              </a:rPr>
              <a:t>ends the first line.</a:t>
            </a:r>
          </a:p>
          <a:p>
            <a:pPr algn="l">
              <a:spcAft>
                <a:spcPts val="600"/>
              </a:spcAft>
            </a:pPr>
            <a:r>
              <a:rPr sz="2000" b="0" i="0">
                <a:solidFill>
                  <a:srgbClr val="1A1A1A"/>
                </a:solidFill>
                <a:latin typeface="Calibri"/>
              </a:rPr>
              <a:t> </a:t>
            </a:r>
          </a:p>
          <a:p>
            <a:pPr algn="l">
              <a:spcAft>
                <a:spcPts val="600"/>
              </a:spcAft>
            </a:pPr>
            <a:r>
              <a:rPr sz="2400" b="1" i="0">
                <a:solidFill>
                  <a:srgbClr val="1F3A34"/>
                </a:solidFill>
                <a:latin typeface="Calibri"/>
              </a:rPr>
              <a:t>The indentation</a:t>
            </a:r>
          </a:p>
          <a:p>
            <a:pPr algn="l">
              <a:spcAft>
                <a:spcPts val="600"/>
              </a:spcAft>
            </a:pPr>
            <a:r>
              <a:rPr sz="2000" b="0" i="0">
                <a:solidFill>
                  <a:srgbClr val="1A1A1A"/>
                </a:solidFill>
                <a:latin typeface="Calibri"/>
              </a:rPr>
              <a:t>(four spaces) marks what is repeated. Python uses indentation where other languages use brackets.</a:t>
            </a:r>
          </a:p>
          <a:p>
            <a:pPr algn="l">
              <a:spcAft>
                <a:spcPts val="600"/>
              </a:spcAft>
            </a:pPr>
            <a:r>
              <a:rPr sz="2000" b="0" i="0">
                <a:solidFill>
                  <a:srgbClr val="1A1A1A"/>
                </a:solidFill>
                <a:latin typeface="Calibri"/>
              </a:rPr>
              <a:t> </a:t>
            </a:r>
          </a:p>
          <a:p>
            <a:pPr algn="l">
              <a:spcAft>
                <a:spcPts val="600"/>
              </a:spcAft>
            </a:pPr>
            <a:r>
              <a:rPr sz="2400" b="1" i="0">
                <a:solidFill>
                  <a:srgbClr val="1F3A34"/>
                </a:solidFill>
                <a:latin typeface="Calibri"/>
              </a:rPr>
              <a:t>Comprehension or loop?</a:t>
            </a:r>
          </a:p>
          <a:p>
            <a:pPr algn="l">
              <a:spcAft>
                <a:spcPts val="600"/>
              </a:spcAft>
            </a:pPr>
            <a:r>
              <a:rPr sz="2000" b="0" i="0">
                <a:solidFill>
                  <a:srgbClr val="1A1A1A"/>
                </a:solidFill>
                <a:latin typeface="Calibri"/>
              </a:rPr>
              <a:t>To make a new list: comprehension. To do something, like printing: loop.</a:t>
            </a:r>
          </a:p>
        </p:txBody>
      </p:sp>
      <p:sp>
        <p:nvSpPr>
          <p:cNvPr id="8" name="TextBox 7"/>
          <p:cNvSpPr txBox="1"/>
          <p:nvPr/>
        </p:nvSpPr>
        <p:spPr>
          <a:xfrm>
            <a:off x="548640" y="4434840"/>
            <a:ext cx="5852160" cy="615553"/>
          </a:xfrm>
          <a:prstGeom prst="rect">
            <a:avLst/>
          </a:prstGeom>
          <a:noFill/>
        </p:spPr>
        <p:txBody>
          <a:bodyPr wrap="square" lIns="0" tIns="0" rIns="0" bIns="0" anchor="t">
            <a:spAutoFit/>
          </a:bodyPr>
          <a:lstStyle/>
          <a:p>
            <a:pPr algn="l">
              <a:spcAft>
                <a:spcPts val="600"/>
              </a:spcAft>
            </a:pPr>
            <a:r>
              <a:rPr sz="2000" b="1" i="0">
                <a:solidFill>
                  <a:srgbClr val="1A1A1A"/>
                </a:solidFill>
                <a:latin typeface="Calibri"/>
              </a:rPr>
              <a:t>Read it as: </a:t>
            </a:r>
            <a:r>
              <a:rPr sz="2000" b="0" i="1">
                <a:solidFill>
                  <a:srgbClr val="1A1A1A"/>
                </a:solidFill>
                <a:latin typeface="Calibri"/>
              </a:rPr>
              <a:t>for each of the first three words, call it w, then print w and its length.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1"/>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Asking questions: True or False</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11</a:t>
            </a:r>
          </a:p>
        </p:txBody>
      </p:sp>
      <p:sp>
        <p:nvSpPr>
          <p:cNvPr id="5" name="TextBox 4"/>
          <p:cNvSpPr txBox="1"/>
          <p:nvPr/>
        </p:nvSpPr>
        <p:spPr>
          <a:xfrm>
            <a:off x="548640" y="1529834"/>
            <a:ext cx="1645920" cy="369332"/>
          </a:xfrm>
          <a:prstGeom prst="rect">
            <a:avLst/>
          </a:prstGeom>
          <a:noFill/>
        </p:spPr>
        <p:txBody>
          <a:bodyPr wrap="square" lIns="0" tIns="0" rIns="0" bIns="0" anchor="ctr">
            <a:spAutoFit/>
          </a:bodyPr>
          <a:lstStyle/>
          <a:p>
            <a:pPr algn="l">
              <a:spcAft>
                <a:spcPts val="600"/>
              </a:spcAft>
            </a:pPr>
            <a:r>
              <a:rPr sz="2400" b="0" i="0">
                <a:solidFill>
                  <a:srgbClr val="B5452B"/>
                </a:solidFill>
                <a:latin typeface="Courier New"/>
              </a:rPr>
              <a:t>==</a:t>
            </a:r>
          </a:p>
        </p:txBody>
      </p:sp>
      <p:sp>
        <p:nvSpPr>
          <p:cNvPr id="6" name="TextBox 5"/>
          <p:cNvSpPr txBox="1"/>
          <p:nvPr/>
        </p:nvSpPr>
        <p:spPr>
          <a:xfrm>
            <a:off x="2286000" y="1560611"/>
            <a:ext cx="3200400" cy="307777"/>
          </a:xfrm>
          <a:prstGeom prst="rect">
            <a:avLst/>
          </a:prstGeom>
          <a:noFill/>
        </p:spPr>
        <p:txBody>
          <a:bodyPr wrap="square" lIns="0" tIns="0" rIns="0" bIns="0" anchor="ctr">
            <a:spAutoFit/>
          </a:bodyPr>
          <a:lstStyle/>
          <a:p>
            <a:pPr algn="l">
              <a:spcAft>
                <a:spcPts val="600"/>
              </a:spcAft>
            </a:pPr>
            <a:r>
              <a:rPr sz="2000" b="0" i="0">
                <a:solidFill>
                  <a:srgbClr val="1A1A1A"/>
                </a:solidFill>
                <a:latin typeface="Calibri"/>
              </a:rPr>
              <a:t>equal</a:t>
            </a:r>
          </a:p>
        </p:txBody>
      </p:sp>
      <p:sp>
        <p:nvSpPr>
          <p:cNvPr id="7" name="TextBox 6"/>
          <p:cNvSpPr txBox="1"/>
          <p:nvPr/>
        </p:nvSpPr>
        <p:spPr>
          <a:xfrm>
            <a:off x="548640" y="2215634"/>
            <a:ext cx="1645920" cy="369332"/>
          </a:xfrm>
          <a:prstGeom prst="rect">
            <a:avLst/>
          </a:prstGeom>
          <a:noFill/>
        </p:spPr>
        <p:txBody>
          <a:bodyPr wrap="square" lIns="0" tIns="0" rIns="0" bIns="0" anchor="ctr">
            <a:spAutoFit/>
          </a:bodyPr>
          <a:lstStyle/>
          <a:p>
            <a:pPr algn="l">
              <a:spcAft>
                <a:spcPts val="600"/>
              </a:spcAft>
            </a:pPr>
            <a:r>
              <a:rPr sz="2400" b="0" i="0">
                <a:solidFill>
                  <a:srgbClr val="B5452B"/>
                </a:solidFill>
                <a:latin typeface="Courier New"/>
              </a:rPr>
              <a:t>!=</a:t>
            </a:r>
          </a:p>
        </p:txBody>
      </p:sp>
      <p:sp>
        <p:nvSpPr>
          <p:cNvPr id="8" name="TextBox 7"/>
          <p:cNvSpPr txBox="1"/>
          <p:nvPr/>
        </p:nvSpPr>
        <p:spPr>
          <a:xfrm>
            <a:off x="2286000" y="2246411"/>
            <a:ext cx="3200400" cy="307777"/>
          </a:xfrm>
          <a:prstGeom prst="rect">
            <a:avLst/>
          </a:prstGeom>
          <a:noFill/>
        </p:spPr>
        <p:txBody>
          <a:bodyPr wrap="square" lIns="0" tIns="0" rIns="0" bIns="0" anchor="ctr">
            <a:spAutoFit/>
          </a:bodyPr>
          <a:lstStyle/>
          <a:p>
            <a:pPr algn="l">
              <a:spcAft>
                <a:spcPts val="600"/>
              </a:spcAft>
            </a:pPr>
            <a:r>
              <a:rPr sz="2000" b="0" i="0">
                <a:solidFill>
                  <a:srgbClr val="1A1A1A"/>
                </a:solidFill>
                <a:latin typeface="Calibri"/>
              </a:rPr>
              <a:t>not equal</a:t>
            </a:r>
          </a:p>
        </p:txBody>
      </p:sp>
      <p:sp>
        <p:nvSpPr>
          <p:cNvPr id="9" name="TextBox 8"/>
          <p:cNvSpPr txBox="1"/>
          <p:nvPr/>
        </p:nvSpPr>
        <p:spPr>
          <a:xfrm>
            <a:off x="548640" y="2901434"/>
            <a:ext cx="1645920" cy="369332"/>
          </a:xfrm>
          <a:prstGeom prst="rect">
            <a:avLst/>
          </a:prstGeom>
          <a:noFill/>
        </p:spPr>
        <p:txBody>
          <a:bodyPr wrap="square" lIns="0" tIns="0" rIns="0" bIns="0" anchor="ctr">
            <a:spAutoFit/>
          </a:bodyPr>
          <a:lstStyle/>
          <a:p>
            <a:pPr algn="l">
              <a:spcAft>
                <a:spcPts val="600"/>
              </a:spcAft>
            </a:pPr>
            <a:r>
              <a:rPr sz="2400" b="0" i="0">
                <a:solidFill>
                  <a:srgbClr val="B5452B"/>
                </a:solidFill>
                <a:latin typeface="Courier New"/>
              </a:rPr>
              <a:t>&lt;   &gt;</a:t>
            </a:r>
          </a:p>
        </p:txBody>
      </p:sp>
      <p:sp>
        <p:nvSpPr>
          <p:cNvPr id="10" name="TextBox 9"/>
          <p:cNvSpPr txBox="1"/>
          <p:nvPr/>
        </p:nvSpPr>
        <p:spPr>
          <a:xfrm>
            <a:off x="2286000" y="2932211"/>
            <a:ext cx="3200400" cy="307777"/>
          </a:xfrm>
          <a:prstGeom prst="rect">
            <a:avLst/>
          </a:prstGeom>
          <a:noFill/>
        </p:spPr>
        <p:txBody>
          <a:bodyPr wrap="square" lIns="0" tIns="0" rIns="0" bIns="0" anchor="ctr">
            <a:spAutoFit/>
          </a:bodyPr>
          <a:lstStyle/>
          <a:p>
            <a:pPr algn="l">
              <a:spcAft>
                <a:spcPts val="600"/>
              </a:spcAft>
            </a:pPr>
            <a:r>
              <a:rPr sz="2000" b="0" i="0">
                <a:solidFill>
                  <a:srgbClr val="1A1A1A"/>
                </a:solidFill>
                <a:latin typeface="Calibri"/>
              </a:rPr>
              <a:t>less than, greater than</a:t>
            </a:r>
          </a:p>
        </p:txBody>
      </p:sp>
      <p:sp>
        <p:nvSpPr>
          <p:cNvPr id="11" name="TextBox 10"/>
          <p:cNvSpPr txBox="1"/>
          <p:nvPr/>
        </p:nvSpPr>
        <p:spPr>
          <a:xfrm>
            <a:off x="548640" y="3587234"/>
            <a:ext cx="1645920" cy="369332"/>
          </a:xfrm>
          <a:prstGeom prst="rect">
            <a:avLst/>
          </a:prstGeom>
          <a:noFill/>
        </p:spPr>
        <p:txBody>
          <a:bodyPr wrap="square" lIns="0" tIns="0" rIns="0" bIns="0" anchor="ctr">
            <a:spAutoFit/>
          </a:bodyPr>
          <a:lstStyle/>
          <a:p>
            <a:pPr algn="l">
              <a:spcAft>
                <a:spcPts val="600"/>
              </a:spcAft>
            </a:pPr>
            <a:r>
              <a:rPr sz="2400" b="0" i="0">
                <a:solidFill>
                  <a:srgbClr val="B5452B"/>
                </a:solidFill>
                <a:latin typeface="Courier New"/>
              </a:rPr>
              <a:t>&lt;=  &gt;=</a:t>
            </a:r>
          </a:p>
        </p:txBody>
      </p:sp>
      <p:sp>
        <p:nvSpPr>
          <p:cNvPr id="12" name="TextBox 11"/>
          <p:cNvSpPr txBox="1"/>
          <p:nvPr/>
        </p:nvSpPr>
        <p:spPr>
          <a:xfrm>
            <a:off x="2286000" y="3618011"/>
            <a:ext cx="3200400" cy="307777"/>
          </a:xfrm>
          <a:prstGeom prst="rect">
            <a:avLst/>
          </a:prstGeom>
          <a:noFill/>
        </p:spPr>
        <p:txBody>
          <a:bodyPr wrap="square" lIns="0" tIns="0" rIns="0" bIns="0" anchor="ctr">
            <a:spAutoFit/>
          </a:bodyPr>
          <a:lstStyle/>
          <a:p>
            <a:pPr algn="l">
              <a:spcAft>
                <a:spcPts val="600"/>
              </a:spcAft>
            </a:pPr>
            <a:r>
              <a:rPr sz="2000" b="0" i="0">
                <a:solidFill>
                  <a:srgbClr val="1A1A1A"/>
                </a:solidFill>
                <a:latin typeface="Calibri"/>
              </a:rPr>
              <a:t>or equal to</a:t>
            </a:r>
          </a:p>
        </p:txBody>
      </p:sp>
      <p:sp>
        <p:nvSpPr>
          <p:cNvPr id="13" name="TextBox 12"/>
          <p:cNvSpPr txBox="1"/>
          <p:nvPr/>
        </p:nvSpPr>
        <p:spPr>
          <a:xfrm>
            <a:off x="548640" y="4273034"/>
            <a:ext cx="1645920" cy="369332"/>
          </a:xfrm>
          <a:prstGeom prst="rect">
            <a:avLst/>
          </a:prstGeom>
          <a:noFill/>
        </p:spPr>
        <p:txBody>
          <a:bodyPr wrap="square" lIns="0" tIns="0" rIns="0" bIns="0" anchor="ctr">
            <a:spAutoFit/>
          </a:bodyPr>
          <a:lstStyle/>
          <a:p>
            <a:pPr algn="l">
              <a:spcAft>
                <a:spcPts val="600"/>
              </a:spcAft>
            </a:pPr>
            <a:r>
              <a:rPr sz="2400" b="0" i="0">
                <a:solidFill>
                  <a:srgbClr val="B5452B"/>
                </a:solidFill>
                <a:latin typeface="Courier New"/>
              </a:rPr>
              <a:t>in</a:t>
            </a:r>
          </a:p>
        </p:txBody>
      </p:sp>
      <p:sp>
        <p:nvSpPr>
          <p:cNvPr id="14" name="TextBox 13"/>
          <p:cNvSpPr txBox="1"/>
          <p:nvPr/>
        </p:nvSpPr>
        <p:spPr>
          <a:xfrm>
            <a:off x="2286000" y="4303811"/>
            <a:ext cx="3200400" cy="307777"/>
          </a:xfrm>
          <a:prstGeom prst="rect">
            <a:avLst/>
          </a:prstGeom>
          <a:noFill/>
        </p:spPr>
        <p:txBody>
          <a:bodyPr wrap="square" lIns="0" tIns="0" rIns="0" bIns="0" anchor="ctr">
            <a:spAutoFit/>
          </a:bodyPr>
          <a:lstStyle/>
          <a:p>
            <a:pPr algn="l">
              <a:spcAft>
                <a:spcPts val="600"/>
              </a:spcAft>
            </a:pPr>
            <a:r>
              <a:rPr sz="2000" b="0" i="0">
                <a:solidFill>
                  <a:srgbClr val="1A1A1A"/>
                </a:solidFill>
                <a:latin typeface="Calibri"/>
              </a:rPr>
              <a:t>is it inside?</a:t>
            </a:r>
          </a:p>
        </p:txBody>
      </p:sp>
      <p:sp>
        <p:nvSpPr>
          <p:cNvPr id="15" name="TextBox 14"/>
          <p:cNvSpPr txBox="1"/>
          <p:nvPr/>
        </p:nvSpPr>
        <p:spPr>
          <a:xfrm>
            <a:off x="548640" y="4958834"/>
            <a:ext cx="1645920" cy="369332"/>
          </a:xfrm>
          <a:prstGeom prst="rect">
            <a:avLst/>
          </a:prstGeom>
          <a:noFill/>
        </p:spPr>
        <p:txBody>
          <a:bodyPr wrap="square" lIns="0" tIns="0" rIns="0" bIns="0" anchor="ctr">
            <a:spAutoFit/>
          </a:bodyPr>
          <a:lstStyle/>
          <a:p>
            <a:pPr algn="l">
              <a:spcAft>
                <a:spcPts val="600"/>
              </a:spcAft>
            </a:pPr>
            <a:r>
              <a:rPr sz="2400" b="0" i="0">
                <a:solidFill>
                  <a:srgbClr val="B5452B"/>
                </a:solidFill>
                <a:latin typeface="Courier New"/>
              </a:rPr>
              <a:t>not in</a:t>
            </a:r>
          </a:p>
        </p:txBody>
      </p:sp>
      <p:sp>
        <p:nvSpPr>
          <p:cNvPr id="16" name="TextBox 15"/>
          <p:cNvSpPr txBox="1"/>
          <p:nvPr/>
        </p:nvSpPr>
        <p:spPr>
          <a:xfrm>
            <a:off x="2286000" y="4989611"/>
            <a:ext cx="3200400" cy="307777"/>
          </a:xfrm>
          <a:prstGeom prst="rect">
            <a:avLst/>
          </a:prstGeom>
          <a:noFill/>
        </p:spPr>
        <p:txBody>
          <a:bodyPr wrap="square" lIns="0" tIns="0" rIns="0" bIns="0" anchor="ctr">
            <a:spAutoFit/>
          </a:bodyPr>
          <a:lstStyle/>
          <a:p>
            <a:pPr algn="l">
              <a:spcAft>
                <a:spcPts val="600"/>
              </a:spcAft>
            </a:pPr>
            <a:r>
              <a:rPr sz="2000" b="0" i="0">
                <a:solidFill>
                  <a:srgbClr val="1A1A1A"/>
                </a:solidFill>
                <a:latin typeface="Calibri"/>
              </a:rPr>
              <a:t>is it absent?</a:t>
            </a:r>
          </a:p>
        </p:txBody>
      </p:sp>
      <p:sp>
        <p:nvSpPr>
          <p:cNvPr id="17" name="Rounded Rectangle 16"/>
          <p:cNvSpPr/>
          <p:nvPr/>
        </p:nvSpPr>
        <p:spPr>
          <a:xfrm>
            <a:off x="5852160" y="1417320"/>
            <a:ext cx="5788152" cy="420624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8" name="TextBox 17"/>
          <p:cNvSpPr txBox="1"/>
          <p:nvPr/>
        </p:nvSpPr>
        <p:spPr>
          <a:xfrm>
            <a:off x="6035040" y="1554480"/>
            <a:ext cx="5422392" cy="2400657"/>
          </a:xfrm>
          <a:prstGeom prst="rect">
            <a:avLst/>
          </a:prstGeom>
          <a:noFill/>
        </p:spPr>
        <p:txBody>
          <a:bodyPr wrap="square" lIns="45720" rIns="45720" anchor="t">
            <a:spAutoFit/>
          </a:bodyPr>
          <a:lstStyle/>
          <a:p>
            <a:pPr algn="l">
              <a:spcAft>
                <a:spcPts val="200"/>
              </a:spcAft>
            </a:pPr>
            <a:r>
              <a:rPr sz="2000" b="0" i="0">
                <a:solidFill>
                  <a:srgbClr val="1A1A1A"/>
                </a:solidFill>
                <a:latin typeface="Courier New"/>
              </a:rPr>
              <a:t>"Bennet" in words</a:t>
            </a:r>
          </a:p>
          <a:p>
            <a:pPr algn="l">
              <a:spcAft>
                <a:spcPts val="200"/>
              </a:spcAft>
            </a:pPr>
            <a:r>
              <a:rPr sz="2000" b="0" i="0">
                <a:solidFill>
                  <a:srgbClr val="B5452B"/>
                </a:solidFill>
                <a:latin typeface="Courier New"/>
              </a:rPr>
              <a:t>→ True</a:t>
            </a:r>
          </a:p>
          <a:p>
            <a:pPr algn="l">
              <a:spcAft>
                <a:spcPts val="200"/>
              </a:spcAft>
            </a:pPr>
            <a:r>
              <a:rPr sz="2000" b="0" i="0">
                <a:solidFill>
                  <a:srgbClr val="1A1A1A"/>
                </a:solidFill>
                <a:latin typeface="Courier New"/>
              </a:rPr>
              <a:t> </a:t>
            </a:r>
          </a:p>
          <a:p>
            <a:pPr algn="l">
              <a:spcAft>
                <a:spcPts val="200"/>
              </a:spcAft>
            </a:pPr>
            <a:r>
              <a:rPr sz="2000" b="0" i="0">
                <a:solidFill>
                  <a:srgbClr val="1A1A1A"/>
                </a:solidFill>
                <a:latin typeface="Courier New"/>
              </a:rPr>
              <a:t>if len(w) &gt; 5:</a:t>
            </a:r>
          </a:p>
          <a:p>
            <a:pPr algn="l">
              <a:spcAft>
                <a:spcPts val="200"/>
              </a:spcAft>
            </a:pPr>
            <a:r>
              <a:rPr sz="2000" b="0" i="0">
                <a:solidFill>
                  <a:srgbClr val="1A1A1A"/>
                </a:solidFill>
                <a:latin typeface="Courier New"/>
              </a:rPr>
              <a:t>    print("long word:", w)</a:t>
            </a:r>
          </a:p>
          <a:p>
            <a:pPr algn="l">
              <a:spcAft>
                <a:spcPts val="200"/>
              </a:spcAft>
            </a:pPr>
            <a:r>
              <a:rPr sz="2000" b="0" i="0">
                <a:solidFill>
                  <a:srgbClr val="1A1A1A"/>
                </a:solidFill>
                <a:latin typeface="Courier New"/>
              </a:rPr>
              <a:t>else:</a:t>
            </a:r>
          </a:p>
          <a:p>
            <a:pPr algn="l">
              <a:spcAft>
                <a:spcPts val="200"/>
              </a:spcAft>
            </a:pPr>
            <a:r>
              <a:rPr sz="2000" b="0" i="0">
                <a:solidFill>
                  <a:srgbClr val="1A1A1A"/>
                </a:solidFill>
                <a:latin typeface="Courier New"/>
              </a:rPr>
              <a:t>    print("short word:", w)</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1"/>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Writing your own functions</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12</a:t>
            </a:r>
          </a:p>
        </p:txBody>
      </p:sp>
      <p:sp>
        <p:nvSpPr>
          <p:cNvPr id="5" name="Rounded Rectangle 4"/>
          <p:cNvSpPr/>
          <p:nvPr/>
        </p:nvSpPr>
        <p:spPr>
          <a:xfrm>
            <a:off x="548640" y="1417320"/>
            <a:ext cx="6583680" cy="283464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TextBox 5"/>
          <p:cNvSpPr txBox="1"/>
          <p:nvPr/>
        </p:nvSpPr>
        <p:spPr>
          <a:xfrm>
            <a:off x="731520" y="1554480"/>
            <a:ext cx="6217920" cy="2410916"/>
          </a:xfrm>
          <a:prstGeom prst="rect">
            <a:avLst/>
          </a:prstGeom>
          <a:noFill/>
        </p:spPr>
        <p:txBody>
          <a:bodyPr wrap="square" lIns="45720" rIns="45720" anchor="t">
            <a:spAutoFit/>
          </a:bodyPr>
          <a:lstStyle/>
          <a:p>
            <a:pPr algn="l">
              <a:spcAft>
                <a:spcPts val="200"/>
              </a:spcAft>
            </a:pPr>
            <a:r>
              <a:rPr sz="2400" b="0" i="0">
                <a:solidFill>
                  <a:srgbClr val="1A1A1A"/>
                </a:solidFill>
                <a:latin typeface="Courier New"/>
              </a:rPr>
              <a:t>def clean(w):</a:t>
            </a:r>
          </a:p>
          <a:p>
            <a:pPr algn="l">
              <a:spcAft>
                <a:spcPts val="200"/>
              </a:spcAft>
            </a:pPr>
            <a:r>
              <a:rPr sz="2400" b="0" i="0">
                <a:solidFill>
                  <a:srgbClr val="1A1A1A"/>
                </a:solidFill>
                <a:latin typeface="Courier New"/>
              </a:rPr>
              <a:t>    return w.strip('.,;:!?"').lower()</a:t>
            </a:r>
          </a:p>
          <a:p>
            <a:pPr algn="l">
              <a:spcAft>
                <a:spcPts val="200"/>
              </a:spcAft>
            </a:pPr>
            <a:r>
              <a:rPr sz="2400" b="0" i="0">
                <a:solidFill>
                  <a:srgbClr val="1A1A1A"/>
                </a:solidFill>
                <a:latin typeface="Courier New"/>
              </a:rPr>
              <a:t> </a:t>
            </a:r>
          </a:p>
          <a:p>
            <a:pPr algn="l">
              <a:spcAft>
                <a:spcPts val="200"/>
              </a:spcAft>
            </a:pPr>
            <a:r>
              <a:rPr sz="2400" b="0" i="0">
                <a:solidFill>
                  <a:srgbClr val="1A1A1A"/>
                </a:solidFill>
                <a:latin typeface="Courier New"/>
              </a:rPr>
              <a:t>clean('"Bennet,')</a:t>
            </a:r>
          </a:p>
          <a:p>
            <a:pPr algn="l">
              <a:spcAft>
                <a:spcPts val="200"/>
              </a:spcAft>
            </a:pPr>
            <a:r>
              <a:rPr sz="2400" b="0" i="0">
                <a:solidFill>
                  <a:srgbClr val="B5452B"/>
                </a:solidFill>
                <a:latin typeface="Courier New"/>
              </a:rPr>
              <a:t>→ 'bennet'</a:t>
            </a:r>
          </a:p>
        </p:txBody>
      </p:sp>
      <p:sp>
        <p:nvSpPr>
          <p:cNvPr id="7" name="TextBox 6"/>
          <p:cNvSpPr txBox="1"/>
          <p:nvPr/>
        </p:nvSpPr>
        <p:spPr>
          <a:xfrm>
            <a:off x="7498079" y="1598414"/>
            <a:ext cx="1188720" cy="369332"/>
          </a:xfrm>
          <a:prstGeom prst="rect">
            <a:avLst/>
          </a:prstGeom>
          <a:noFill/>
        </p:spPr>
        <p:txBody>
          <a:bodyPr wrap="square" lIns="0" tIns="0" rIns="0" bIns="0" anchor="ctr">
            <a:spAutoFit/>
          </a:bodyPr>
          <a:lstStyle/>
          <a:p>
            <a:pPr algn="l">
              <a:spcAft>
                <a:spcPts val="600"/>
              </a:spcAft>
            </a:pPr>
            <a:r>
              <a:rPr sz="2400" b="0" i="0">
                <a:solidFill>
                  <a:srgbClr val="B5452B"/>
                </a:solidFill>
                <a:latin typeface="Courier New"/>
              </a:rPr>
              <a:t>def</a:t>
            </a:r>
          </a:p>
        </p:txBody>
      </p:sp>
      <p:sp>
        <p:nvSpPr>
          <p:cNvPr id="8" name="TextBox 7"/>
          <p:cNvSpPr txBox="1"/>
          <p:nvPr/>
        </p:nvSpPr>
        <p:spPr>
          <a:xfrm>
            <a:off x="8686800" y="1551801"/>
            <a:ext cx="3017520" cy="553998"/>
          </a:xfrm>
          <a:prstGeom prst="rect">
            <a:avLst/>
          </a:prstGeom>
          <a:noFill/>
        </p:spPr>
        <p:txBody>
          <a:bodyPr wrap="square" lIns="0" tIns="0" rIns="0" bIns="0" anchor="ctr">
            <a:spAutoFit/>
          </a:bodyPr>
          <a:lstStyle/>
          <a:p>
            <a:pPr algn="l">
              <a:spcAft>
                <a:spcPts val="600"/>
              </a:spcAft>
            </a:pPr>
            <a:r>
              <a:rPr b="0" i="0">
                <a:solidFill>
                  <a:srgbClr val="1A1A1A"/>
                </a:solidFill>
                <a:latin typeface="Calibri"/>
              </a:rPr>
              <a:t>starts a definition, then the name and its inputs</a:t>
            </a:r>
          </a:p>
        </p:txBody>
      </p:sp>
      <p:sp>
        <p:nvSpPr>
          <p:cNvPr id="9" name="TextBox 8"/>
          <p:cNvSpPr txBox="1"/>
          <p:nvPr/>
        </p:nvSpPr>
        <p:spPr>
          <a:xfrm>
            <a:off x="7498079" y="2375654"/>
            <a:ext cx="1188720" cy="369332"/>
          </a:xfrm>
          <a:prstGeom prst="rect">
            <a:avLst/>
          </a:prstGeom>
          <a:noFill/>
        </p:spPr>
        <p:txBody>
          <a:bodyPr wrap="square" lIns="0" tIns="0" rIns="0" bIns="0" anchor="ctr">
            <a:spAutoFit/>
          </a:bodyPr>
          <a:lstStyle/>
          <a:p>
            <a:pPr algn="l">
              <a:spcAft>
                <a:spcPts val="600"/>
              </a:spcAft>
            </a:pPr>
            <a:r>
              <a:rPr sz="2400" b="0" i="0">
                <a:solidFill>
                  <a:srgbClr val="B5452B"/>
                </a:solidFill>
                <a:latin typeface="Courier New"/>
              </a:rPr>
              <a:t>(w)</a:t>
            </a:r>
          </a:p>
        </p:txBody>
      </p:sp>
      <p:sp>
        <p:nvSpPr>
          <p:cNvPr id="10" name="TextBox 9"/>
          <p:cNvSpPr txBox="1"/>
          <p:nvPr/>
        </p:nvSpPr>
        <p:spPr>
          <a:xfrm>
            <a:off x="8686800" y="2329041"/>
            <a:ext cx="3017520" cy="553998"/>
          </a:xfrm>
          <a:prstGeom prst="rect">
            <a:avLst/>
          </a:prstGeom>
          <a:noFill/>
        </p:spPr>
        <p:txBody>
          <a:bodyPr wrap="square" lIns="0" tIns="0" rIns="0" bIns="0" anchor="ctr">
            <a:spAutoFit/>
          </a:bodyPr>
          <a:lstStyle/>
          <a:p>
            <a:pPr algn="l">
              <a:spcAft>
                <a:spcPts val="600"/>
              </a:spcAft>
            </a:pPr>
            <a:r>
              <a:rPr b="0" i="0">
                <a:solidFill>
                  <a:srgbClr val="1A1A1A"/>
                </a:solidFill>
                <a:latin typeface="Calibri"/>
              </a:rPr>
              <a:t>the input: a placeholder for whatever is passed in</a:t>
            </a:r>
          </a:p>
        </p:txBody>
      </p:sp>
      <p:sp>
        <p:nvSpPr>
          <p:cNvPr id="11" name="TextBox 10"/>
          <p:cNvSpPr txBox="1"/>
          <p:nvPr/>
        </p:nvSpPr>
        <p:spPr>
          <a:xfrm>
            <a:off x="7498079" y="3152894"/>
            <a:ext cx="1188720" cy="369332"/>
          </a:xfrm>
          <a:prstGeom prst="rect">
            <a:avLst/>
          </a:prstGeom>
          <a:noFill/>
        </p:spPr>
        <p:txBody>
          <a:bodyPr wrap="square" lIns="0" tIns="0" rIns="0" bIns="0" anchor="ctr">
            <a:spAutoFit/>
          </a:bodyPr>
          <a:lstStyle/>
          <a:p>
            <a:pPr algn="l">
              <a:spcAft>
                <a:spcPts val="600"/>
              </a:spcAft>
            </a:pPr>
            <a:r>
              <a:rPr sz="2400" b="0" i="0">
                <a:solidFill>
                  <a:srgbClr val="B5452B"/>
                </a:solidFill>
                <a:latin typeface="Courier New"/>
              </a:rPr>
              <a:t>:</a:t>
            </a:r>
          </a:p>
        </p:txBody>
      </p:sp>
      <p:sp>
        <p:nvSpPr>
          <p:cNvPr id="12" name="TextBox 11"/>
          <p:cNvSpPr txBox="1"/>
          <p:nvPr/>
        </p:nvSpPr>
        <p:spPr>
          <a:xfrm>
            <a:off x="8686800" y="3106281"/>
            <a:ext cx="3017520" cy="553998"/>
          </a:xfrm>
          <a:prstGeom prst="rect">
            <a:avLst/>
          </a:prstGeom>
          <a:noFill/>
        </p:spPr>
        <p:txBody>
          <a:bodyPr wrap="square" lIns="0" tIns="0" rIns="0" bIns="0" anchor="ctr">
            <a:spAutoFit/>
          </a:bodyPr>
          <a:lstStyle/>
          <a:p>
            <a:pPr algn="l">
              <a:spcAft>
                <a:spcPts val="600"/>
              </a:spcAft>
            </a:pPr>
            <a:r>
              <a:rPr b="0" i="0">
                <a:solidFill>
                  <a:srgbClr val="1A1A1A"/>
                </a:solidFill>
                <a:latin typeface="Calibri"/>
              </a:rPr>
              <a:t>and an indented body, just like a loop</a:t>
            </a:r>
          </a:p>
        </p:txBody>
      </p:sp>
      <p:sp>
        <p:nvSpPr>
          <p:cNvPr id="13" name="TextBox 12"/>
          <p:cNvSpPr txBox="1"/>
          <p:nvPr/>
        </p:nvSpPr>
        <p:spPr>
          <a:xfrm>
            <a:off x="7498079" y="3930134"/>
            <a:ext cx="1188720" cy="369332"/>
          </a:xfrm>
          <a:prstGeom prst="rect">
            <a:avLst/>
          </a:prstGeom>
          <a:noFill/>
        </p:spPr>
        <p:txBody>
          <a:bodyPr wrap="square" lIns="0" tIns="0" rIns="0" bIns="0" anchor="ctr">
            <a:spAutoFit/>
          </a:bodyPr>
          <a:lstStyle/>
          <a:p>
            <a:pPr algn="l">
              <a:spcAft>
                <a:spcPts val="600"/>
              </a:spcAft>
            </a:pPr>
            <a:r>
              <a:rPr sz="2400" b="0" i="0">
                <a:solidFill>
                  <a:srgbClr val="B5452B"/>
                </a:solidFill>
                <a:latin typeface="Courier New"/>
              </a:rPr>
              <a:t>return</a:t>
            </a:r>
          </a:p>
        </p:txBody>
      </p:sp>
      <p:sp>
        <p:nvSpPr>
          <p:cNvPr id="14" name="TextBox 13"/>
          <p:cNvSpPr txBox="1"/>
          <p:nvPr/>
        </p:nvSpPr>
        <p:spPr>
          <a:xfrm>
            <a:off x="8686800" y="4022020"/>
            <a:ext cx="3017520" cy="276999"/>
          </a:xfrm>
          <a:prstGeom prst="rect">
            <a:avLst/>
          </a:prstGeom>
          <a:noFill/>
        </p:spPr>
        <p:txBody>
          <a:bodyPr wrap="square" lIns="0" tIns="0" rIns="0" bIns="0" anchor="ctr">
            <a:spAutoFit/>
          </a:bodyPr>
          <a:lstStyle/>
          <a:p>
            <a:pPr algn="l">
              <a:spcAft>
                <a:spcPts val="600"/>
              </a:spcAft>
            </a:pPr>
            <a:r>
              <a:rPr b="0" i="0">
                <a:solidFill>
                  <a:srgbClr val="1A1A1A"/>
                </a:solidFill>
                <a:latin typeface="Calibri"/>
              </a:rPr>
              <a:t>what the function gives back</a:t>
            </a:r>
          </a:p>
        </p:txBody>
      </p:sp>
      <p:sp>
        <p:nvSpPr>
          <p:cNvPr id="15" name="TextBox 14"/>
          <p:cNvSpPr txBox="1"/>
          <p:nvPr/>
        </p:nvSpPr>
        <p:spPr>
          <a:xfrm>
            <a:off x="548640" y="4572000"/>
            <a:ext cx="10972800" cy="615553"/>
          </a:xfrm>
          <a:prstGeom prst="rect">
            <a:avLst/>
          </a:prstGeom>
          <a:noFill/>
        </p:spPr>
        <p:txBody>
          <a:bodyPr wrap="square" lIns="0" tIns="0" rIns="0" bIns="0" anchor="t">
            <a:spAutoFit/>
          </a:bodyPr>
          <a:lstStyle/>
          <a:p>
            <a:pPr algn="l">
              <a:spcAft>
                <a:spcPts val="600"/>
              </a:spcAft>
            </a:pPr>
            <a:r>
              <a:rPr sz="2000" b="1" i="0">
                <a:solidFill>
                  <a:srgbClr val="1F3A34"/>
                </a:solidFill>
                <a:latin typeface="Calibri"/>
              </a:rPr>
              <a:t>Why bother? </a:t>
            </a:r>
            <a:r>
              <a:rPr sz="2000" b="0" i="0">
                <a:solidFill>
                  <a:srgbClr val="1A1A1A"/>
                </a:solidFill>
                <a:latin typeface="Calibri"/>
              </a:rPr>
              <a:t>A function puts a decision, such as what counts as a word, in one named place, where you can read it, test it and report it in your methods.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1"/>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Modules, packages, libraries</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13</a:t>
            </a:r>
          </a:p>
        </p:txBody>
      </p:sp>
      <p:sp>
        <p:nvSpPr>
          <p:cNvPr id="5" name="Rounded Rectangle 4"/>
          <p:cNvSpPr/>
          <p:nvPr/>
        </p:nvSpPr>
        <p:spPr>
          <a:xfrm>
            <a:off x="548640" y="1417320"/>
            <a:ext cx="5486400" cy="105156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TextBox 5"/>
          <p:cNvSpPr txBox="1"/>
          <p:nvPr/>
        </p:nvSpPr>
        <p:spPr>
          <a:xfrm>
            <a:off x="777240" y="1508760"/>
            <a:ext cx="5029200" cy="369332"/>
          </a:xfrm>
          <a:prstGeom prst="rect">
            <a:avLst/>
          </a:prstGeom>
          <a:noFill/>
        </p:spPr>
        <p:txBody>
          <a:bodyPr wrap="square" lIns="0" tIns="0" rIns="0" bIns="0" anchor="t">
            <a:spAutoFit/>
          </a:bodyPr>
          <a:lstStyle/>
          <a:p>
            <a:pPr algn="l">
              <a:spcAft>
                <a:spcPts val="600"/>
              </a:spcAft>
            </a:pPr>
            <a:r>
              <a:rPr sz="2400" b="1" i="0">
                <a:solidFill>
                  <a:srgbClr val="B5452B"/>
                </a:solidFill>
                <a:latin typeface="Calibri"/>
              </a:rPr>
              <a:t>module</a:t>
            </a:r>
          </a:p>
        </p:txBody>
      </p:sp>
      <p:sp>
        <p:nvSpPr>
          <p:cNvPr id="7" name="TextBox 6"/>
          <p:cNvSpPr txBox="1"/>
          <p:nvPr/>
        </p:nvSpPr>
        <p:spPr>
          <a:xfrm>
            <a:off x="777240" y="1920240"/>
            <a:ext cx="5029200" cy="553998"/>
          </a:xfrm>
          <a:prstGeom prst="rect">
            <a:avLst/>
          </a:prstGeom>
          <a:noFill/>
        </p:spPr>
        <p:txBody>
          <a:bodyPr wrap="square" lIns="0" tIns="0" rIns="0" bIns="0" anchor="t">
            <a:spAutoFit/>
          </a:bodyPr>
          <a:lstStyle/>
          <a:p>
            <a:pPr algn="l">
              <a:spcAft>
                <a:spcPts val="600"/>
              </a:spcAft>
            </a:pPr>
            <a:r>
              <a:rPr b="0" i="0">
                <a:solidFill>
                  <a:srgbClr val="1A1A1A"/>
                </a:solidFill>
                <a:latin typeface="Calibri"/>
              </a:rPr>
              <a:t>one file of Python code you can import: </a:t>
            </a:r>
            <a:r>
              <a:rPr b="0" i="0">
                <a:solidFill>
                  <a:srgbClr val="1F3A34"/>
                </a:solidFill>
                <a:latin typeface="Courier New"/>
              </a:rPr>
              <a:t>re, statistics</a:t>
            </a:r>
          </a:p>
        </p:txBody>
      </p:sp>
      <p:sp>
        <p:nvSpPr>
          <p:cNvPr id="8" name="Rounded Rectangle 7"/>
          <p:cNvSpPr/>
          <p:nvPr/>
        </p:nvSpPr>
        <p:spPr>
          <a:xfrm>
            <a:off x="548640" y="2651760"/>
            <a:ext cx="5486400" cy="105156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9" name="TextBox 8"/>
          <p:cNvSpPr txBox="1"/>
          <p:nvPr/>
        </p:nvSpPr>
        <p:spPr>
          <a:xfrm>
            <a:off x="777240" y="2743200"/>
            <a:ext cx="5029200" cy="369332"/>
          </a:xfrm>
          <a:prstGeom prst="rect">
            <a:avLst/>
          </a:prstGeom>
          <a:noFill/>
        </p:spPr>
        <p:txBody>
          <a:bodyPr wrap="square" lIns="0" tIns="0" rIns="0" bIns="0" anchor="t">
            <a:spAutoFit/>
          </a:bodyPr>
          <a:lstStyle/>
          <a:p>
            <a:pPr algn="l">
              <a:spcAft>
                <a:spcPts val="600"/>
              </a:spcAft>
            </a:pPr>
            <a:r>
              <a:rPr sz="2400" b="1" i="0">
                <a:solidFill>
                  <a:srgbClr val="B5452B"/>
                </a:solidFill>
                <a:latin typeface="Calibri"/>
              </a:rPr>
              <a:t>package</a:t>
            </a:r>
          </a:p>
        </p:txBody>
      </p:sp>
      <p:sp>
        <p:nvSpPr>
          <p:cNvPr id="10" name="TextBox 9"/>
          <p:cNvSpPr txBox="1"/>
          <p:nvPr/>
        </p:nvSpPr>
        <p:spPr>
          <a:xfrm>
            <a:off x="777240" y="3154680"/>
            <a:ext cx="5029200" cy="553998"/>
          </a:xfrm>
          <a:prstGeom prst="rect">
            <a:avLst/>
          </a:prstGeom>
          <a:noFill/>
        </p:spPr>
        <p:txBody>
          <a:bodyPr wrap="square" lIns="0" tIns="0" rIns="0" bIns="0" anchor="t">
            <a:spAutoFit/>
          </a:bodyPr>
          <a:lstStyle/>
          <a:p>
            <a:pPr algn="l">
              <a:spcAft>
                <a:spcPts val="600"/>
              </a:spcAft>
            </a:pPr>
            <a:r>
              <a:rPr b="0" i="0">
                <a:solidFill>
                  <a:srgbClr val="1A1A1A"/>
                </a:solidFill>
                <a:latin typeface="Calibri"/>
              </a:rPr>
              <a:t>a collection of modules, usually installed first: </a:t>
            </a:r>
            <a:r>
              <a:rPr b="0" i="0">
                <a:solidFill>
                  <a:srgbClr val="1F3A34"/>
                </a:solidFill>
                <a:latin typeface="Courier New"/>
              </a:rPr>
              <a:t>nltk, pandas</a:t>
            </a:r>
          </a:p>
        </p:txBody>
      </p:sp>
      <p:sp>
        <p:nvSpPr>
          <p:cNvPr id="11" name="Rounded Rectangle 10"/>
          <p:cNvSpPr/>
          <p:nvPr/>
        </p:nvSpPr>
        <p:spPr>
          <a:xfrm>
            <a:off x="548640" y="3886200"/>
            <a:ext cx="5486400" cy="105156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 name="TextBox 11"/>
          <p:cNvSpPr txBox="1"/>
          <p:nvPr/>
        </p:nvSpPr>
        <p:spPr>
          <a:xfrm>
            <a:off x="777240" y="3977639"/>
            <a:ext cx="5029200" cy="369332"/>
          </a:xfrm>
          <a:prstGeom prst="rect">
            <a:avLst/>
          </a:prstGeom>
          <a:noFill/>
        </p:spPr>
        <p:txBody>
          <a:bodyPr wrap="square" lIns="0" tIns="0" rIns="0" bIns="0" anchor="t">
            <a:spAutoFit/>
          </a:bodyPr>
          <a:lstStyle/>
          <a:p>
            <a:pPr algn="l">
              <a:spcAft>
                <a:spcPts val="600"/>
              </a:spcAft>
            </a:pPr>
            <a:r>
              <a:rPr sz="2400" b="1" i="0">
                <a:solidFill>
                  <a:srgbClr val="B5452B"/>
                </a:solidFill>
                <a:latin typeface="Calibri"/>
              </a:rPr>
              <a:t>library</a:t>
            </a:r>
          </a:p>
        </p:txBody>
      </p:sp>
      <p:sp>
        <p:nvSpPr>
          <p:cNvPr id="13" name="TextBox 12"/>
          <p:cNvSpPr txBox="1"/>
          <p:nvPr/>
        </p:nvSpPr>
        <p:spPr>
          <a:xfrm>
            <a:off x="777240" y="4389120"/>
            <a:ext cx="5029200" cy="553998"/>
          </a:xfrm>
          <a:prstGeom prst="rect">
            <a:avLst/>
          </a:prstGeom>
          <a:noFill/>
        </p:spPr>
        <p:txBody>
          <a:bodyPr wrap="square" lIns="0" tIns="0" rIns="0" bIns="0" anchor="t">
            <a:spAutoFit/>
          </a:bodyPr>
          <a:lstStyle/>
          <a:p>
            <a:pPr algn="l">
              <a:spcAft>
                <a:spcPts val="600"/>
              </a:spcAft>
            </a:pPr>
            <a:r>
              <a:rPr b="0" i="0">
                <a:solidFill>
                  <a:srgbClr val="1A1A1A"/>
                </a:solidFill>
                <a:latin typeface="Calibri"/>
              </a:rPr>
              <a:t>informal: either of the above: </a:t>
            </a:r>
            <a:r>
              <a:rPr b="0" i="0">
                <a:solidFill>
                  <a:srgbClr val="1F3A34"/>
                </a:solidFill>
                <a:latin typeface="Courier New"/>
              </a:rPr>
              <a:t>“the pandas library”</a:t>
            </a:r>
          </a:p>
        </p:txBody>
      </p:sp>
      <p:sp>
        <p:nvSpPr>
          <p:cNvPr id="14" name="Rounded Rectangle 13"/>
          <p:cNvSpPr/>
          <p:nvPr/>
        </p:nvSpPr>
        <p:spPr>
          <a:xfrm>
            <a:off x="6400800" y="1417320"/>
            <a:ext cx="5239512" cy="3520440"/>
          </a:xfrm>
          <a:prstGeom prst="roundRect">
            <a:avLst>
              <a:gd name="adj" fmla="val 6000"/>
            </a:avLst>
          </a:prstGeom>
          <a:solidFill>
            <a:srgbClr val="EE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5" name="TextBox 14"/>
          <p:cNvSpPr txBox="1"/>
          <p:nvPr/>
        </p:nvSpPr>
        <p:spPr>
          <a:xfrm>
            <a:off x="6583680" y="1554480"/>
            <a:ext cx="4873752" cy="3041858"/>
          </a:xfrm>
          <a:prstGeom prst="rect">
            <a:avLst/>
          </a:prstGeom>
          <a:noFill/>
        </p:spPr>
        <p:txBody>
          <a:bodyPr wrap="square" lIns="45720" rIns="45720" anchor="t">
            <a:spAutoFit/>
          </a:bodyPr>
          <a:lstStyle/>
          <a:p>
            <a:pPr algn="l">
              <a:spcAft>
                <a:spcPts val="200"/>
              </a:spcAft>
            </a:pPr>
            <a:r>
              <a:rPr b="0" i="0">
                <a:solidFill>
                  <a:srgbClr val="1A1A1A"/>
                </a:solidFill>
                <a:latin typeface="Courier New"/>
              </a:rPr>
              <a:t>import statistics</a:t>
            </a:r>
          </a:p>
          <a:p>
            <a:pPr algn="l">
              <a:spcAft>
                <a:spcPts val="200"/>
              </a:spcAft>
            </a:pPr>
            <a:r>
              <a:rPr b="0" i="0">
                <a:solidFill>
                  <a:srgbClr val="1A1A1A"/>
                </a:solidFill>
                <a:latin typeface="Courier New"/>
              </a:rPr>
              <a:t>statistics.mean([3, 6, 6, 2, 4])</a:t>
            </a:r>
          </a:p>
          <a:p>
            <a:pPr algn="l">
              <a:spcAft>
                <a:spcPts val="200"/>
              </a:spcAft>
            </a:pPr>
            <a:r>
              <a:rPr b="0" i="0">
                <a:solidFill>
                  <a:srgbClr val="B5452B"/>
                </a:solidFill>
                <a:latin typeface="Courier New"/>
              </a:rPr>
              <a:t>→ 4.2</a:t>
            </a:r>
          </a:p>
          <a:p>
            <a:pPr algn="l">
              <a:spcAft>
                <a:spcPts val="200"/>
              </a:spcAft>
            </a:pPr>
            <a:r>
              <a:rPr b="0" i="0">
                <a:solidFill>
                  <a:srgbClr val="1A1A1A"/>
                </a:solidFill>
                <a:latin typeface="Courier New"/>
              </a:rPr>
              <a:t> </a:t>
            </a:r>
          </a:p>
          <a:p>
            <a:pPr algn="l">
              <a:spcAft>
                <a:spcPts val="200"/>
              </a:spcAft>
            </a:pPr>
            <a:r>
              <a:rPr b="0" i="0">
                <a:solidFill>
                  <a:srgbClr val="1A1A1A"/>
                </a:solidFill>
                <a:latin typeface="Courier New"/>
              </a:rPr>
              <a:t>from nltk.tokenize import sent_tokenize</a:t>
            </a:r>
          </a:p>
          <a:p>
            <a:pPr algn="l">
              <a:spcAft>
                <a:spcPts val="200"/>
              </a:spcAft>
            </a:pPr>
            <a:r>
              <a:rPr b="0" i="0">
                <a:solidFill>
                  <a:srgbClr val="1A1A1A"/>
                </a:solidFill>
                <a:latin typeface="Courier New"/>
              </a:rPr>
              <a:t> </a:t>
            </a:r>
          </a:p>
          <a:p>
            <a:pPr algn="l">
              <a:spcAft>
                <a:spcPts val="200"/>
              </a:spcAft>
            </a:pPr>
            <a:r>
              <a:rPr b="0" i="1">
                <a:solidFill>
                  <a:srgbClr val="5F6B66"/>
                </a:solidFill>
                <a:latin typeface="Courier New"/>
              </a:rPr>
              <a:t># in Colab, if a package is missing:</a:t>
            </a:r>
          </a:p>
          <a:p>
            <a:pPr algn="l">
              <a:spcAft>
                <a:spcPts val="200"/>
              </a:spcAft>
            </a:pPr>
            <a:r>
              <a:rPr b="0" i="0">
                <a:solidFill>
                  <a:srgbClr val="1A1A1A"/>
                </a:solidFill>
                <a:latin typeface="Courier New"/>
              </a:rPr>
              <a:t>!pip install something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500241"/>
            <a:ext cx="11094415" cy="553998"/>
          </a:xfrm>
          <a:prstGeom prst="rect">
            <a:avLst/>
          </a:prstGeom>
          <a:noFill/>
        </p:spPr>
        <p:txBody>
          <a:bodyPr wrap="square" lIns="0" tIns="0" rIns="0" bIns="0" anchor="ctr">
            <a:spAutoFit/>
          </a:bodyPr>
          <a:lstStyle/>
          <a:p>
            <a:pPr algn="l">
              <a:spcAft>
                <a:spcPts val="600"/>
              </a:spcAft>
            </a:pPr>
            <a:r>
              <a:rPr sz="3600" b="0" i="0">
                <a:solidFill>
                  <a:srgbClr val="1F3A34"/>
                </a:solidFill>
                <a:latin typeface="Cambria"/>
              </a:rPr>
              <a:t>Reading error messages: start at the last line</a:t>
            </a:r>
          </a:p>
        </p:txBody>
      </p:sp>
      <p:sp>
        <p:nvSpPr>
          <p:cNvPr id="3" name="TextBox 2"/>
          <p:cNvSpPr txBox="1"/>
          <p:nvPr/>
        </p:nvSpPr>
        <p:spPr>
          <a:xfrm>
            <a:off x="548640" y="6355080"/>
            <a:ext cx="5486400" cy="184666"/>
          </a:xfrm>
          <a:prstGeom prst="rect">
            <a:avLst/>
          </a:prstGeom>
          <a:noFill/>
        </p:spPr>
        <p:txBody>
          <a:bodyPr wrap="square" lIns="0" tIns="0" rIns="0" bIns="0" anchor="t">
            <a:spAutoFit/>
          </a:bodyPr>
          <a:lstStyle/>
          <a:p>
            <a:pPr algn="l">
              <a:spcAft>
                <a:spcPts val="600"/>
              </a:spcAft>
            </a:pPr>
            <a:r>
              <a:rPr sz="1200" b="0" i="0">
                <a:solidFill>
                  <a:srgbClr val="5F6B66"/>
                </a:solidFill>
                <a:latin typeface="Calibri"/>
              </a:rPr>
              <a:t>MSc Digital Scholarship 2026</a:t>
            </a:r>
          </a:p>
        </p:txBody>
      </p:sp>
      <p:sp>
        <p:nvSpPr>
          <p:cNvPr id="4" name="TextBox 3"/>
          <p:cNvSpPr txBox="1"/>
          <p:nvPr/>
        </p:nvSpPr>
        <p:spPr>
          <a:xfrm>
            <a:off x="10728655" y="6355080"/>
            <a:ext cx="914400" cy="184666"/>
          </a:xfrm>
          <a:prstGeom prst="rect">
            <a:avLst/>
          </a:prstGeom>
          <a:noFill/>
        </p:spPr>
        <p:txBody>
          <a:bodyPr wrap="square" lIns="0" tIns="0" rIns="0" bIns="0" anchor="t">
            <a:spAutoFit/>
          </a:bodyPr>
          <a:lstStyle/>
          <a:p>
            <a:pPr algn="r">
              <a:spcAft>
                <a:spcPts val="600"/>
              </a:spcAft>
            </a:pPr>
            <a:r>
              <a:rPr sz="1200" b="0" i="0">
                <a:solidFill>
                  <a:srgbClr val="5F6B66"/>
                </a:solidFill>
                <a:latin typeface="Calibri"/>
              </a:rPr>
              <a:t>14</a:t>
            </a:r>
          </a:p>
        </p:txBody>
      </p:sp>
      <p:graphicFrame>
        <p:nvGraphicFramePr>
          <p:cNvPr id="5" name="Table 4"/>
          <p:cNvGraphicFramePr>
            <a:graphicFrameLocks noGrp="1"/>
          </p:cNvGraphicFramePr>
          <p:nvPr/>
        </p:nvGraphicFramePr>
        <p:xfrm>
          <a:off x="548640" y="1417320"/>
          <a:ext cx="11091672" cy="384048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233672">
                  <a:extLst>
                    <a:ext uri="{9D8B030D-6E8A-4147-A177-3AD203B41FA5}">
                      <a16:colId xmlns:a16="http://schemas.microsoft.com/office/drawing/2014/main" val="20002"/>
                    </a:ext>
                  </a:extLst>
                </a:gridCol>
              </a:tblGrid>
              <a:tr h="640080">
                <a:tc>
                  <a:txBody>
                    <a:bodyPr/>
                    <a:lstStyle/>
                    <a:p>
                      <a:r>
                        <a:rPr sz="1700" b="1">
                          <a:solidFill>
                            <a:srgbClr val="FFFFFF"/>
                          </a:solidFill>
                          <a:latin typeface="Calibri"/>
                        </a:rPr>
                        <a:t>Error</a:t>
                      </a:r>
                    </a:p>
                  </a:txBody>
                  <a:tcPr anchor="ctr">
                    <a:solidFill>
                      <a:srgbClr val="1F3A34"/>
                    </a:solidFill>
                  </a:tcPr>
                </a:tc>
                <a:tc>
                  <a:txBody>
                    <a:bodyPr/>
                    <a:lstStyle/>
                    <a:p>
                      <a:r>
                        <a:rPr sz="1700" b="1">
                          <a:solidFill>
                            <a:srgbClr val="FFFFFF"/>
                          </a:solidFill>
                          <a:latin typeface="Calibri"/>
                        </a:rPr>
                        <a:t>What it usually means</a:t>
                      </a:r>
                    </a:p>
                  </a:txBody>
                  <a:tcPr anchor="ctr">
                    <a:solidFill>
                      <a:srgbClr val="1F3A34"/>
                    </a:solidFill>
                  </a:tcPr>
                </a:tc>
                <a:tc>
                  <a:txBody>
                    <a:bodyPr/>
                    <a:lstStyle/>
                    <a:p>
                      <a:r>
                        <a:rPr sz="1700" b="1">
                          <a:solidFill>
                            <a:srgbClr val="FFFFFF"/>
                          </a:solidFill>
                          <a:latin typeface="Calibri"/>
                        </a:rPr>
                        <a:t>Typical cause</a:t>
                      </a:r>
                    </a:p>
                  </a:txBody>
                  <a:tcPr anchor="ctr">
                    <a:solidFill>
                      <a:srgbClr val="1F3A34"/>
                    </a:solidFill>
                  </a:tcPr>
                </a:tc>
                <a:extLst>
                  <a:ext uri="{0D108BD9-81ED-4DB2-BD59-A6C34878D82A}">
                    <a16:rowId xmlns:a16="http://schemas.microsoft.com/office/drawing/2014/main" val="10000"/>
                  </a:ext>
                </a:extLst>
              </a:tr>
              <a:tr h="640080">
                <a:tc>
                  <a:txBody>
                    <a:bodyPr/>
                    <a:lstStyle/>
                    <a:p>
                      <a:r>
                        <a:rPr sz="1700" b="0">
                          <a:solidFill>
                            <a:srgbClr val="B5452B"/>
                          </a:solidFill>
                          <a:latin typeface="Courier New"/>
                        </a:rPr>
                        <a:t>NameError</a:t>
                      </a:r>
                    </a:p>
                  </a:txBody>
                  <a:tcPr anchor="ctr">
                    <a:solidFill>
                      <a:srgbClr val="EEF3F0"/>
                    </a:solidFill>
                  </a:tcPr>
                </a:tc>
                <a:tc>
                  <a:txBody>
                    <a:bodyPr/>
                    <a:lstStyle/>
                    <a:p>
                      <a:r>
                        <a:rPr sz="1700" b="0">
                          <a:solidFill>
                            <a:srgbClr val="1A1A1A"/>
                          </a:solidFill>
                          <a:latin typeface="Calibri"/>
                        </a:rPr>
                        <a:t>a name Python doesn't know</a:t>
                      </a:r>
                    </a:p>
                  </a:txBody>
                  <a:tcPr anchor="ctr">
                    <a:solidFill>
                      <a:srgbClr val="EEF3F0"/>
                    </a:solidFill>
                  </a:tcPr>
                </a:tc>
                <a:tc>
                  <a:txBody>
                    <a:bodyPr/>
                    <a:lstStyle/>
                    <a:p>
                      <a:r>
                        <a:rPr sz="1700" b="0">
                          <a:solidFill>
                            <a:srgbClr val="1A1A1A"/>
                          </a:solidFill>
                          <a:latin typeface="Courier New"/>
                        </a:rPr>
                        <a:t>Print(x), sampel, a missing import</a:t>
                      </a:r>
                    </a:p>
                  </a:txBody>
                  <a:tcPr anchor="ctr">
                    <a:solidFill>
                      <a:srgbClr val="EEF3F0"/>
                    </a:solidFill>
                  </a:tcPr>
                </a:tc>
                <a:extLst>
                  <a:ext uri="{0D108BD9-81ED-4DB2-BD59-A6C34878D82A}">
                    <a16:rowId xmlns:a16="http://schemas.microsoft.com/office/drawing/2014/main" val="10001"/>
                  </a:ext>
                </a:extLst>
              </a:tr>
              <a:tr h="640080">
                <a:tc>
                  <a:txBody>
                    <a:bodyPr/>
                    <a:lstStyle/>
                    <a:p>
                      <a:r>
                        <a:rPr sz="1700" b="0">
                          <a:solidFill>
                            <a:srgbClr val="B5452B"/>
                          </a:solidFill>
                          <a:latin typeface="Courier New"/>
                        </a:rPr>
                        <a:t>AttributeError</a:t>
                      </a:r>
                    </a:p>
                  </a:txBody>
                  <a:tcPr anchor="ctr">
                    <a:solidFill>
                      <a:srgbClr val="FFFFFF"/>
                    </a:solidFill>
                  </a:tcPr>
                </a:tc>
                <a:tc>
                  <a:txBody>
                    <a:bodyPr/>
                    <a:lstStyle/>
                    <a:p>
                      <a:r>
                        <a:rPr sz="1700" b="0">
                          <a:solidFill>
                            <a:srgbClr val="1A1A1A"/>
                          </a:solidFill>
                          <a:latin typeface="Calibri"/>
                        </a:rPr>
                        <a:t>no such method for this type</a:t>
                      </a:r>
                    </a:p>
                  </a:txBody>
                  <a:tcPr anchor="ctr">
                    <a:solidFill>
                      <a:srgbClr val="FFFFFF"/>
                    </a:solidFill>
                  </a:tcPr>
                </a:tc>
                <a:tc>
                  <a:txBody>
                    <a:bodyPr/>
                    <a:lstStyle/>
                    <a:p>
                      <a:r>
                        <a:rPr sz="1700" b="0">
                          <a:solidFill>
                            <a:srgbClr val="1A1A1A"/>
                          </a:solidFill>
                          <a:latin typeface="Courier New"/>
                        </a:rPr>
                        <a:t>sample.Upper()</a:t>
                      </a:r>
                    </a:p>
                  </a:txBody>
                  <a:tcPr anchor="ctr">
                    <a:solidFill>
                      <a:srgbClr val="FFFFFF"/>
                    </a:solidFill>
                  </a:tcPr>
                </a:tc>
                <a:extLst>
                  <a:ext uri="{0D108BD9-81ED-4DB2-BD59-A6C34878D82A}">
                    <a16:rowId xmlns:a16="http://schemas.microsoft.com/office/drawing/2014/main" val="10002"/>
                  </a:ext>
                </a:extLst>
              </a:tr>
              <a:tr h="640080">
                <a:tc>
                  <a:txBody>
                    <a:bodyPr/>
                    <a:lstStyle/>
                    <a:p>
                      <a:r>
                        <a:rPr sz="1700" b="0">
                          <a:solidFill>
                            <a:srgbClr val="B5452B"/>
                          </a:solidFill>
                          <a:latin typeface="Courier New"/>
                        </a:rPr>
                        <a:t>IndexError</a:t>
                      </a:r>
                    </a:p>
                  </a:txBody>
                  <a:tcPr anchor="ctr">
                    <a:solidFill>
                      <a:srgbClr val="EEF3F0"/>
                    </a:solidFill>
                  </a:tcPr>
                </a:tc>
                <a:tc>
                  <a:txBody>
                    <a:bodyPr/>
                    <a:lstStyle/>
                    <a:p>
                      <a:r>
                        <a:rPr sz="1700" b="0">
                          <a:solidFill>
                            <a:srgbClr val="1A1A1A"/>
                          </a:solidFill>
                          <a:latin typeface="Calibri"/>
                        </a:rPr>
                        <a:t>position past the end of a list</a:t>
                      </a:r>
                    </a:p>
                  </a:txBody>
                  <a:tcPr anchor="ctr">
                    <a:solidFill>
                      <a:srgbClr val="EEF3F0"/>
                    </a:solidFill>
                  </a:tcPr>
                </a:tc>
                <a:tc>
                  <a:txBody>
                    <a:bodyPr/>
                    <a:lstStyle/>
                    <a:p>
                      <a:r>
                        <a:rPr sz="1700" b="0">
                          <a:solidFill>
                            <a:srgbClr val="1A1A1A"/>
                          </a:solidFill>
                          <a:latin typeface="Courier New"/>
                        </a:rPr>
                        <a:t>words[100]</a:t>
                      </a:r>
                    </a:p>
                  </a:txBody>
                  <a:tcPr anchor="ctr">
                    <a:solidFill>
                      <a:srgbClr val="EEF3F0"/>
                    </a:solidFill>
                  </a:tcPr>
                </a:tc>
                <a:extLst>
                  <a:ext uri="{0D108BD9-81ED-4DB2-BD59-A6C34878D82A}">
                    <a16:rowId xmlns:a16="http://schemas.microsoft.com/office/drawing/2014/main" val="10003"/>
                  </a:ext>
                </a:extLst>
              </a:tr>
              <a:tr h="640080">
                <a:tc>
                  <a:txBody>
                    <a:bodyPr/>
                    <a:lstStyle/>
                    <a:p>
                      <a:r>
                        <a:rPr sz="1700" b="0">
                          <a:solidFill>
                            <a:srgbClr val="B5452B"/>
                          </a:solidFill>
                          <a:latin typeface="Courier New"/>
                        </a:rPr>
                        <a:t>TypeError</a:t>
                      </a:r>
                    </a:p>
                  </a:txBody>
                  <a:tcPr anchor="ctr">
                    <a:solidFill>
                      <a:srgbClr val="FFFFFF"/>
                    </a:solidFill>
                  </a:tcPr>
                </a:tc>
                <a:tc>
                  <a:txBody>
                    <a:bodyPr/>
                    <a:lstStyle/>
                    <a:p>
                      <a:r>
                        <a:rPr sz="1700" b="0">
                          <a:solidFill>
                            <a:srgbClr val="1A1A1A"/>
                          </a:solidFill>
                          <a:latin typeface="Calibri"/>
                        </a:rPr>
                        <a:t>wrong type for this operation</a:t>
                      </a:r>
                    </a:p>
                  </a:txBody>
                  <a:tcPr anchor="ctr">
                    <a:solidFill>
                      <a:srgbClr val="FFFFFF"/>
                    </a:solidFill>
                  </a:tcPr>
                </a:tc>
                <a:tc>
                  <a:txBody>
                    <a:bodyPr/>
                    <a:lstStyle/>
                    <a:p>
                      <a:r>
                        <a:rPr sz="1700" b="0">
                          <a:solidFill>
                            <a:srgbClr val="1A1A1A"/>
                          </a:solidFill>
                          <a:latin typeface="Courier New"/>
                        </a:rPr>
                        <a:t>"Page " + 5</a:t>
                      </a:r>
                    </a:p>
                  </a:txBody>
                  <a:tcPr anchor="ctr">
                    <a:solidFill>
                      <a:srgbClr val="FFFFFF"/>
                    </a:solidFill>
                  </a:tcPr>
                </a:tc>
                <a:extLst>
                  <a:ext uri="{0D108BD9-81ED-4DB2-BD59-A6C34878D82A}">
                    <a16:rowId xmlns:a16="http://schemas.microsoft.com/office/drawing/2014/main" val="10004"/>
                  </a:ext>
                </a:extLst>
              </a:tr>
              <a:tr h="640080">
                <a:tc>
                  <a:txBody>
                    <a:bodyPr/>
                    <a:lstStyle/>
                    <a:p>
                      <a:r>
                        <a:rPr sz="1700" b="0">
                          <a:solidFill>
                            <a:srgbClr val="B5452B"/>
                          </a:solidFill>
                          <a:latin typeface="Courier New"/>
                        </a:rPr>
                        <a:t>SyntaxError</a:t>
                      </a:r>
                    </a:p>
                  </a:txBody>
                  <a:tcPr anchor="ctr">
                    <a:solidFill>
                      <a:srgbClr val="EEF3F0"/>
                    </a:solidFill>
                  </a:tcPr>
                </a:tc>
                <a:tc>
                  <a:txBody>
                    <a:bodyPr/>
                    <a:lstStyle/>
                    <a:p>
                      <a:r>
                        <a:rPr sz="1700" b="0">
                          <a:solidFill>
                            <a:srgbClr val="1A1A1A"/>
                          </a:solidFill>
                          <a:latin typeface="Calibri"/>
                        </a:rPr>
                        <a:t>not valid Python</a:t>
                      </a:r>
                    </a:p>
                  </a:txBody>
                  <a:tcPr anchor="ctr">
                    <a:solidFill>
                      <a:srgbClr val="EEF3F0"/>
                    </a:solidFill>
                  </a:tcPr>
                </a:tc>
                <a:tc>
                  <a:txBody>
                    <a:bodyPr/>
                    <a:lstStyle/>
                    <a:p>
                      <a:r>
                        <a:rPr sz="1700" b="0">
                          <a:solidFill>
                            <a:srgbClr val="1A1A1A"/>
                          </a:solidFill>
                          <a:latin typeface="Courier New"/>
                        </a:rPr>
                        <a:t>a missing quote, bracket or colon</a:t>
                      </a:r>
                    </a:p>
                  </a:txBody>
                  <a:tcPr anchor="ctr">
                    <a:solidFill>
                      <a:srgbClr val="EEF3F0"/>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548640" y="5532120"/>
            <a:ext cx="10972800" cy="307777"/>
          </a:xfrm>
          <a:prstGeom prst="rect">
            <a:avLst/>
          </a:prstGeom>
          <a:noFill/>
        </p:spPr>
        <p:txBody>
          <a:bodyPr wrap="square" lIns="0" tIns="0" rIns="0" bIns="0" anchor="t">
            <a:spAutoFit/>
          </a:bodyPr>
          <a:lstStyle/>
          <a:p>
            <a:pPr algn="l">
              <a:spcAft>
                <a:spcPts val="600"/>
              </a:spcAft>
            </a:pPr>
            <a:r>
              <a:rPr sz="2000" b="1" i="0">
                <a:solidFill>
                  <a:srgbClr val="1F3A34"/>
                </a:solidFill>
                <a:latin typeface="Calibri"/>
              </a:rPr>
              <a:t>The worst error has no message: </a:t>
            </a:r>
            <a:r>
              <a:rPr sz="2000" b="0" i="1">
                <a:solidFill>
                  <a:srgbClr val="1A1A1A"/>
                </a:solidFill>
                <a:latin typeface="Calibri"/>
              </a:rPr>
              <a:t>code that runs and gives the wrong answer.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69464"/>
            <a:ext cx="11094415" cy="615553"/>
          </a:xfrm>
          <a:prstGeom prst="rect">
            <a:avLst/>
          </a:prstGeom>
          <a:noFill/>
        </p:spPr>
        <p:txBody>
          <a:bodyPr wrap="square" lIns="0" tIns="0" rIns="0" bIns="0" anchor="ctr">
            <a:spAutoFit/>
          </a:bodyPr>
          <a:lstStyle/>
          <a:p>
            <a:pPr algn="l">
              <a:spcAft>
                <a:spcPts val="600"/>
              </a:spcAft>
            </a:pPr>
            <a:r>
              <a:rPr sz="4000" b="0" i="0">
                <a:solidFill>
                  <a:srgbClr val="1F3A34"/>
                </a:solidFill>
                <a:latin typeface="Cambria"/>
              </a:rPr>
              <a:t>Habits for working with AI-written code</a:t>
            </a:r>
          </a:p>
        </p:txBody>
      </p:sp>
      <p:sp>
        <p:nvSpPr>
          <p:cNvPr id="3" name="TextBox 2"/>
          <p:cNvSpPr txBox="1"/>
          <p:nvPr/>
        </p:nvSpPr>
        <p:spPr>
          <a:xfrm>
            <a:off x="548640" y="6355080"/>
            <a:ext cx="5486400" cy="215444"/>
          </a:xfrm>
          <a:prstGeom prst="rect">
            <a:avLst/>
          </a:prstGeom>
          <a:noFill/>
        </p:spPr>
        <p:txBody>
          <a:bodyPr wrap="square" lIns="0" tIns="0" rIns="0" bIns="0" anchor="t">
            <a:spAutoFit/>
          </a:bodyPr>
          <a:lstStyle/>
          <a:p>
            <a:pPr algn="l">
              <a:spcAft>
                <a:spcPts val="600"/>
              </a:spcAft>
            </a:pPr>
            <a:r>
              <a:rPr sz="1400" b="0" i="0">
                <a:solidFill>
                  <a:srgbClr val="5F6B66"/>
                </a:solidFill>
                <a:latin typeface="Calibri"/>
              </a:rPr>
              <a:t>MSc Digital Scholarship 2026</a:t>
            </a:r>
          </a:p>
        </p:txBody>
      </p:sp>
      <p:sp>
        <p:nvSpPr>
          <p:cNvPr id="4" name="TextBox 3"/>
          <p:cNvSpPr txBox="1"/>
          <p:nvPr/>
        </p:nvSpPr>
        <p:spPr>
          <a:xfrm>
            <a:off x="10728655" y="6355080"/>
            <a:ext cx="914400" cy="215444"/>
          </a:xfrm>
          <a:prstGeom prst="rect">
            <a:avLst/>
          </a:prstGeom>
          <a:noFill/>
        </p:spPr>
        <p:txBody>
          <a:bodyPr wrap="square" lIns="0" tIns="0" rIns="0" bIns="0" anchor="t">
            <a:spAutoFit/>
          </a:bodyPr>
          <a:lstStyle/>
          <a:p>
            <a:pPr algn="r">
              <a:spcAft>
                <a:spcPts val="600"/>
              </a:spcAft>
            </a:pPr>
            <a:r>
              <a:rPr sz="1400" b="0" i="0">
                <a:solidFill>
                  <a:srgbClr val="5F6B66"/>
                </a:solidFill>
                <a:latin typeface="Calibri"/>
              </a:rPr>
              <a:t>15</a:t>
            </a:r>
          </a:p>
        </p:txBody>
      </p:sp>
      <p:sp>
        <p:nvSpPr>
          <p:cNvPr id="5" name="Oval 4"/>
          <p:cNvSpPr/>
          <p:nvPr/>
        </p:nvSpPr>
        <p:spPr>
          <a:xfrm>
            <a:off x="548640" y="1490472"/>
            <a:ext cx="566928" cy="566928"/>
          </a:xfrm>
          <a:prstGeom prst="ellipse">
            <a:avLst/>
          </a:prstGeom>
          <a:solidFill>
            <a:srgbClr val="B54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 name="TextBox 5"/>
          <p:cNvSpPr txBox="1"/>
          <p:nvPr/>
        </p:nvSpPr>
        <p:spPr>
          <a:xfrm>
            <a:off x="548640" y="1558493"/>
            <a:ext cx="566928" cy="430887"/>
          </a:xfrm>
          <a:prstGeom prst="rect">
            <a:avLst/>
          </a:prstGeom>
          <a:noFill/>
        </p:spPr>
        <p:txBody>
          <a:bodyPr wrap="square" lIns="0" tIns="0" rIns="0" bIns="0" anchor="ctr">
            <a:spAutoFit/>
          </a:bodyPr>
          <a:lstStyle/>
          <a:p>
            <a:pPr algn="ctr">
              <a:spcAft>
                <a:spcPts val="600"/>
              </a:spcAft>
            </a:pPr>
            <a:r>
              <a:rPr sz="2800" b="1" i="0">
                <a:solidFill>
                  <a:srgbClr val="FFFFFF"/>
                </a:solidFill>
                <a:latin typeface="Calibri"/>
              </a:rPr>
              <a:t>1</a:t>
            </a:r>
          </a:p>
        </p:txBody>
      </p:sp>
      <p:sp>
        <p:nvSpPr>
          <p:cNvPr id="7" name="TextBox 6"/>
          <p:cNvSpPr txBox="1"/>
          <p:nvPr/>
        </p:nvSpPr>
        <p:spPr>
          <a:xfrm>
            <a:off x="1371600" y="1417320"/>
            <a:ext cx="10241280" cy="430887"/>
          </a:xfrm>
          <a:prstGeom prst="rect">
            <a:avLst/>
          </a:prstGeom>
          <a:noFill/>
        </p:spPr>
        <p:txBody>
          <a:bodyPr wrap="square" lIns="0" tIns="0" rIns="0" bIns="0" anchor="t">
            <a:spAutoFit/>
          </a:bodyPr>
          <a:lstStyle/>
          <a:p>
            <a:pPr algn="l">
              <a:spcAft>
                <a:spcPts val="600"/>
              </a:spcAft>
            </a:pPr>
            <a:r>
              <a:rPr sz="2800" b="1" i="0">
                <a:solidFill>
                  <a:srgbClr val="1F3A34"/>
                </a:solidFill>
                <a:latin typeface="Calibri"/>
              </a:rPr>
              <a:t>Test on something you can check by hand</a:t>
            </a:r>
          </a:p>
        </p:txBody>
      </p:sp>
      <p:sp>
        <p:nvSpPr>
          <p:cNvPr id="8" name="TextBox 7"/>
          <p:cNvSpPr txBox="1"/>
          <p:nvPr/>
        </p:nvSpPr>
        <p:spPr>
          <a:xfrm>
            <a:off x="1371600" y="1828800"/>
            <a:ext cx="10241280" cy="307777"/>
          </a:xfrm>
          <a:prstGeom prst="rect">
            <a:avLst/>
          </a:prstGeom>
          <a:noFill/>
        </p:spPr>
        <p:txBody>
          <a:bodyPr wrap="square" lIns="0" tIns="0" rIns="0" bIns="0" anchor="t">
            <a:spAutoFit/>
          </a:bodyPr>
          <a:lstStyle/>
          <a:p>
            <a:pPr algn="l">
              <a:spcAft>
                <a:spcPts val="600"/>
              </a:spcAft>
            </a:pPr>
            <a:r>
              <a:rPr sz="2000" b="0" i="0">
                <a:solidFill>
                  <a:srgbClr val="5F6B66"/>
                </a:solidFill>
                <a:latin typeface="Calibri"/>
              </a:rPr>
              <a:t>a few sentences where you know the answer</a:t>
            </a:r>
          </a:p>
        </p:txBody>
      </p:sp>
      <p:sp>
        <p:nvSpPr>
          <p:cNvPr id="9" name="Oval 8"/>
          <p:cNvSpPr/>
          <p:nvPr/>
        </p:nvSpPr>
        <p:spPr>
          <a:xfrm>
            <a:off x="548640" y="2404872"/>
            <a:ext cx="566928" cy="566928"/>
          </a:xfrm>
          <a:prstGeom prst="ellipse">
            <a:avLst/>
          </a:prstGeom>
          <a:solidFill>
            <a:srgbClr val="B54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0" name="TextBox 9"/>
          <p:cNvSpPr txBox="1"/>
          <p:nvPr/>
        </p:nvSpPr>
        <p:spPr>
          <a:xfrm>
            <a:off x="548640" y="2472893"/>
            <a:ext cx="566928" cy="430887"/>
          </a:xfrm>
          <a:prstGeom prst="rect">
            <a:avLst/>
          </a:prstGeom>
          <a:noFill/>
        </p:spPr>
        <p:txBody>
          <a:bodyPr wrap="square" lIns="0" tIns="0" rIns="0" bIns="0" anchor="ctr">
            <a:spAutoFit/>
          </a:bodyPr>
          <a:lstStyle/>
          <a:p>
            <a:pPr algn="ctr">
              <a:spcAft>
                <a:spcPts val="600"/>
              </a:spcAft>
            </a:pPr>
            <a:r>
              <a:rPr sz="2800" b="1" i="0">
                <a:solidFill>
                  <a:srgbClr val="FFFFFF"/>
                </a:solidFill>
                <a:latin typeface="Calibri"/>
              </a:rPr>
              <a:t>2</a:t>
            </a:r>
          </a:p>
        </p:txBody>
      </p:sp>
      <p:sp>
        <p:nvSpPr>
          <p:cNvPr id="11" name="TextBox 10"/>
          <p:cNvSpPr txBox="1"/>
          <p:nvPr/>
        </p:nvSpPr>
        <p:spPr>
          <a:xfrm>
            <a:off x="1371600" y="2331720"/>
            <a:ext cx="10241280" cy="430887"/>
          </a:xfrm>
          <a:prstGeom prst="rect">
            <a:avLst/>
          </a:prstGeom>
          <a:noFill/>
        </p:spPr>
        <p:txBody>
          <a:bodyPr wrap="square" lIns="0" tIns="0" rIns="0" bIns="0" anchor="t">
            <a:spAutoFit/>
          </a:bodyPr>
          <a:lstStyle/>
          <a:p>
            <a:pPr algn="l">
              <a:spcAft>
                <a:spcPts val="600"/>
              </a:spcAft>
            </a:pPr>
            <a:r>
              <a:rPr sz="2800" b="1" i="0">
                <a:solidFill>
                  <a:srgbClr val="1F3A34"/>
                </a:solidFill>
                <a:latin typeface="Calibri"/>
              </a:rPr>
              <a:t>Ask what it assumed</a:t>
            </a:r>
          </a:p>
        </p:txBody>
      </p:sp>
      <p:sp>
        <p:nvSpPr>
          <p:cNvPr id="12" name="TextBox 11"/>
          <p:cNvSpPr txBox="1"/>
          <p:nvPr/>
        </p:nvSpPr>
        <p:spPr>
          <a:xfrm>
            <a:off x="1371600" y="2743200"/>
            <a:ext cx="10241280" cy="307777"/>
          </a:xfrm>
          <a:prstGeom prst="rect">
            <a:avLst/>
          </a:prstGeom>
          <a:noFill/>
        </p:spPr>
        <p:txBody>
          <a:bodyPr wrap="square" lIns="0" tIns="0" rIns="0" bIns="0" anchor="t">
            <a:spAutoFit/>
          </a:bodyPr>
          <a:lstStyle/>
          <a:p>
            <a:pPr algn="l">
              <a:spcAft>
                <a:spcPts val="600"/>
              </a:spcAft>
            </a:pPr>
            <a:r>
              <a:rPr sz="2000" b="0" i="0">
                <a:solidFill>
                  <a:srgbClr val="5F6B66"/>
                </a:solidFill>
                <a:latin typeface="Calibri"/>
              </a:rPr>
              <a:t>what counts as a word, a sentence, the text?</a:t>
            </a:r>
          </a:p>
        </p:txBody>
      </p:sp>
      <p:sp>
        <p:nvSpPr>
          <p:cNvPr id="13" name="Oval 12"/>
          <p:cNvSpPr/>
          <p:nvPr/>
        </p:nvSpPr>
        <p:spPr>
          <a:xfrm>
            <a:off x="548640" y="3319272"/>
            <a:ext cx="566928" cy="566928"/>
          </a:xfrm>
          <a:prstGeom prst="ellipse">
            <a:avLst/>
          </a:prstGeom>
          <a:solidFill>
            <a:srgbClr val="B54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4" name="TextBox 13"/>
          <p:cNvSpPr txBox="1"/>
          <p:nvPr/>
        </p:nvSpPr>
        <p:spPr>
          <a:xfrm>
            <a:off x="548640" y="3387293"/>
            <a:ext cx="566928" cy="430887"/>
          </a:xfrm>
          <a:prstGeom prst="rect">
            <a:avLst/>
          </a:prstGeom>
          <a:noFill/>
        </p:spPr>
        <p:txBody>
          <a:bodyPr wrap="square" lIns="0" tIns="0" rIns="0" bIns="0" anchor="ctr">
            <a:spAutoFit/>
          </a:bodyPr>
          <a:lstStyle/>
          <a:p>
            <a:pPr algn="ctr">
              <a:spcAft>
                <a:spcPts val="600"/>
              </a:spcAft>
            </a:pPr>
            <a:r>
              <a:rPr sz="2800" b="1" i="0">
                <a:solidFill>
                  <a:srgbClr val="FFFFFF"/>
                </a:solidFill>
                <a:latin typeface="Calibri"/>
              </a:rPr>
              <a:t>3</a:t>
            </a:r>
          </a:p>
        </p:txBody>
      </p:sp>
      <p:sp>
        <p:nvSpPr>
          <p:cNvPr id="15" name="TextBox 14"/>
          <p:cNvSpPr txBox="1"/>
          <p:nvPr/>
        </p:nvSpPr>
        <p:spPr>
          <a:xfrm>
            <a:off x="1371600" y="3246120"/>
            <a:ext cx="10241280" cy="430887"/>
          </a:xfrm>
          <a:prstGeom prst="rect">
            <a:avLst/>
          </a:prstGeom>
          <a:noFill/>
        </p:spPr>
        <p:txBody>
          <a:bodyPr wrap="square" lIns="0" tIns="0" rIns="0" bIns="0" anchor="t">
            <a:spAutoFit/>
          </a:bodyPr>
          <a:lstStyle/>
          <a:p>
            <a:pPr algn="l">
              <a:spcAft>
                <a:spcPts val="600"/>
              </a:spcAft>
            </a:pPr>
            <a:r>
              <a:rPr sz="2800" b="1" i="0">
                <a:solidFill>
                  <a:srgbClr val="1F3A34"/>
                </a:solidFill>
                <a:latin typeface="Calibri"/>
              </a:rPr>
              <a:t>Read the explanation against the code</a:t>
            </a:r>
          </a:p>
        </p:txBody>
      </p:sp>
      <p:sp>
        <p:nvSpPr>
          <p:cNvPr id="16" name="TextBox 15"/>
          <p:cNvSpPr txBox="1"/>
          <p:nvPr/>
        </p:nvSpPr>
        <p:spPr>
          <a:xfrm>
            <a:off x="1371600" y="3657600"/>
            <a:ext cx="10241280" cy="307777"/>
          </a:xfrm>
          <a:prstGeom prst="rect">
            <a:avLst/>
          </a:prstGeom>
          <a:noFill/>
        </p:spPr>
        <p:txBody>
          <a:bodyPr wrap="square" lIns="0" tIns="0" rIns="0" bIns="0" anchor="t">
            <a:spAutoFit/>
          </a:bodyPr>
          <a:lstStyle/>
          <a:p>
            <a:pPr algn="l">
              <a:spcAft>
                <a:spcPts val="600"/>
              </a:spcAft>
            </a:pPr>
            <a:r>
              <a:rPr sz="2000" b="0" i="0">
                <a:solidFill>
                  <a:srgbClr val="5F6B66"/>
                </a:solidFill>
                <a:latin typeface="Calibri"/>
              </a:rPr>
              <a:t>AI explanations can be confidently wrong</a:t>
            </a:r>
          </a:p>
        </p:txBody>
      </p:sp>
      <p:sp>
        <p:nvSpPr>
          <p:cNvPr id="17" name="Oval 16"/>
          <p:cNvSpPr/>
          <p:nvPr/>
        </p:nvSpPr>
        <p:spPr>
          <a:xfrm>
            <a:off x="548640" y="4233672"/>
            <a:ext cx="566928" cy="566928"/>
          </a:xfrm>
          <a:prstGeom prst="ellipse">
            <a:avLst/>
          </a:prstGeom>
          <a:solidFill>
            <a:srgbClr val="B54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8" name="TextBox 17"/>
          <p:cNvSpPr txBox="1"/>
          <p:nvPr/>
        </p:nvSpPr>
        <p:spPr>
          <a:xfrm>
            <a:off x="548640" y="4301693"/>
            <a:ext cx="566928" cy="430887"/>
          </a:xfrm>
          <a:prstGeom prst="rect">
            <a:avLst/>
          </a:prstGeom>
          <a:noFill/>
        </p:spPr>
        <p:txBody>
          <a:bodyPr wrap="square" lIns="0" tIns="0" rIns="0" bIns="0" anchor="ctr">
            <a:spAutoFit/>
          </a:bodyPr>
          <a:lstStyle/>
          <a:p>
            <a:pPr algn="ctr">
              <a:spcAft>
                <a:spcPts val="600"/>
              </a:spcAft>
            </a:pPr>
            <a:r>
              <a:rPr sz="2800" b="1" i="0">
                <a:solidFill>
                  <a:srgbClr val="FFFFFF"/>
                </a:solidFill>
                <a:latin typeface="Calibri"/>
              </a:rPr>
              <a:t>4</a:t>
            </a:r>
          </a:p>
        </p:txBody>
      </p:sp>
      <p:sp>
        <p:nvSpPr>
          <p:cNvPr id="19" name="TextBox 18"/>
          <p:cNvSpPr txBox="1"/>
          <p:nvPr/>
        </p:nvSpPr>
        <p:spPr>
          <a:xfrm>
            <a:off x="1371600" y="4160520"/>
            <a:ext cx="10241280" cy="430887"/>
          </a:xfrm>
          <a:prstGeom prst="rect">
            <a:avLst/>
          </a:prstGeom>
          <a:noFill/>
        </p:spPr>
        <p:txBody>
          <a:bodyPr wrap="square" lIns="0" tIns="0" rIns="0" bIns="0" anchor="t">
            <a:spAutoFit/>
          </a:bodyPr>
          <a:lstStyle/>
          <a:p>
            <a:pPr algn="l">
              <a:spcAft>
                <a:spcPts val="600"/>
              </a:spcAft>
            </a:pPr>
            <a:r>
              <a:rPr sz="2800" b="1" i="0">
                <a:solidFill>
                  <a:srgbClr val="1F3A34"/>
                </a:solidFill>
                <a:latin typeface="Calibri"/>
              </a:rPr>
              <a:t>Ask twice, ask another AI</a:t>
            </a:r>
          </a:p>
        </p:txBody>
      </p:sp>
      <p:sp>
        <p:nvSpPr>
          <p:cNvPr id="20" name="TextBox 19"/>
          <p:cNvSpPr txBox="1"/>
          <p:nvPr/>
        </p:nvSpPr>
        <p:spPr>
          <a:xfrm>
            <a:off x="1371600" y="4572000"/>
            <a:ext cx="10241280" cy="307777"/>
          </a:xfrm>
          <a:prstGeom prst="rect">
            <a:avLst/>
          </a:prstGeom>
          <a:noFill/>
        </p:spPr>
        <p:txBody>
          <a:bodyPr wrap="square" lIns="0" tIns="0" rIns="0" bIns="0" anchor="t">
            <a:spAutoFit/>
          </a:bodyPr>
          <a:lstStyle/>
          <a:p>
            <a:pPr algn="l">
              <a:spcAft>
                <a:spcPts val="600"/>
              </a:spcAft>
            </a:pPr>
            <a:r>
              <a:rPr sz="2000" b="0" i="0">
                <a:solidFill>
                  <a:srgbClr val="5F6B66"/>
                </a:solidFill>
                <a:latin typeface="Calibri"/>
              </a:rPr>
              <a:t>same prompt, same answer?</a:t>
            </a:r>
          </a:p>
        </p:txBody>
      </p:sp>
      <p:sp>
        <p:nvSpPr>
          <p:cNvPr id="21" name="Oval 20"/>
          <p:cNvSpPr/>
          <p:nvPr/>
        </p:nvSpPr>
        <p:spPr>
          <a:xfrm>
            <a:off x="548640" y="5148072"/>
            <a:ext cx="566928" cy="566928"/>
          </a:xfrm>
          <a:prstGeom prst="ellipse">
            <a:avLst/>
          </a:prstGeom>
          <a:solidFill>
            <a:srgbClr val="B545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2" name="TextBox 21"/>
          <p:cNvSpPr txBox="1"/>
          <p:nvPr/>
        </p:nvSpPr>
        <p:spPr>
          <a:xfrm>
            <a:off x="548640" y="5216093"/>
            <a:ext cx="566928" cy="430887"/>
          </a:xfrm>
          <a:prstGeom prst="rect">
            <a:avLst/>
          </a:prstGeom>
          <a:noFill/>
        </p:spPr>
        <p:txBody>
          <a:bodyPr wrap="square" lIns="0" tIns="0" rIns="0" bIns="0" anchor="ctr">
            <a:spAutoFit/>
          </a:bodyPr>
          <a:lstStyle/>
          <a:p>
            <a:pPr algn="ctr">
              <a:spcAft>
                <a:spcPts val="600"/>
              </a:spcAft>
            </a:pPr>
            <a:r>
              <a:rPr sz="2800" b="1" i="0">
                <a:solidFill>
                  <a:srgbClr val="FFFFFF"/>
                </a:solidFill>
                <a:latin typeface="Calibri"/>
              </a:rPr>
              <a:t>5</a:t>
            </a:r>
          </a:p>
        </p:txBody>
      </p:sp>
      <p:sp>
        <p:nvSpPr>
          <p:cNvPr id="23" name="TextBox 22"/>
          <p:cNvSpPr txBox="1"/>
          <p:nvPr/>
        </p:nvSpPr>
        <p:spPr>
          <a:xfrm>
            <a:off x="1371600" y="5074920"/>
            <a:ext cx="10241280" cy="430887"/>
          </a:xfrm>
          <a:prstGeom prst="rect">
            <a:avLst/>
          </a:prstGeom>
          <a:noFill/>
        </p:spPr>
        <p:txBody>
          <a:bodyPr wrap="square" lIns="0" tIns="0" rIns="0" bIns="0" anchor="t">
            <a:spAutoFit/>
          </a:bodyPr>
          <a:lstStyle/>
          <a:p>
            <a:pPr algn="l">
              <a:spcAft>
                <a:spcPts val="600"/>
              </a:spcAft>
            </a:pPr>
            <a:r>
              <a:rPr sz="2800" b="1" i="0">
                <a:solidFill>
                  <a:srgbClr val="1F3A34"/>
                </a:solidFill>
                <a:latin typeface="Calibri"/>
              </a:rPr>
              <a:t>Report your decisions</a:t>
            </a:r>
          </a:p>
        </p:txBody>
      </p:sp>
      <p:sp>
        <p:nvSpPr>
          <p:cNvPr id="24" name="TextBox 23"/>
          <p:cNvSpPr txBox="1"/>
          <p:nvPr/>
        </p:nvSpPr>
        <p:spPr>
          <a:xfrm>
            <a:off x="1371600" y="5486400"/>
            <a:ext cx="10241280" cy="307777"/>
          </a:xfrm>
          <a:prstGeom prst="rect">
            <a:avLst/>
          </a:prstGeom>
          <a:noFill/>
        </p:spPr>
        <p:txBody>
          <a:bodyPr wrap="square" lIns="0" tIns="0" rIns="0" bIns="0" anchor="t">
            <a:spAutoFit/>
          </a:bodyPr>
          <a:lstStyle/>
          <a:p>
            <a:pPr algn="l">
              <a:spcAft>
                <a:spcPts val="600"/>
              </a:spcAft>
            </a:pPr>
            <a:r>
              <a:rPr sz="2000" b="0" i="0">
                <a:solidFill>
                  <a:srgbClr val="5F6B66"/>
                </a:solidFill>
                <a:latin typeface="Calibri"/>
              </a:rPr>
              <a:t>they belong in your methods, not hidden in code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775871"/>
            <a:ext cx="10545775" cy="677108"/>
          </a:xfrm>
          <a:prstGeom prst="rect">
            <a:avLst/>
          </a:prstGeom>
          <a:noFill/>
        </p:spPr>
        <p:txBody>
          <a:bodyPr wrap="square" lIns="0" tIns="0" rIns="0" bIns="0" anchor="b">
            <a:spAutoFit/>
          </a:bodyPr>
          <a:lstStyle/>
          <a:p>
            <a:pPr algn="l" fontAlgn="t">
              <a:spcAft>
                <a:spcPts val="600"/>
              </a:spcAft>
            </a:pPr>
            <a:r>
              <a:rPr sz="4400" b="0" i="0" dirty="0">
                <a:latin typeface="Cambria"/>
              </a:rPr>
              <a:t>Your turn: ask an AI</a:t>
            </a:r>
          </a:p>
        </p:txBody>
      </p:sp>
      <p:sp>
        <p:nvSpPr>
          <p:cNvPr id="3" name="TextBox 2"/>
          <p:cNvSpPr txBox="1"/>
          <p:nvPr/>
        </p:nvSpPr>
        <p:spPr>
          <a:xfrm>
            <a:off x="822959" y="2120949"/>
            <a:ext cx="10545775" cy="2616101"/>
          </a:xfrm>
          <a:prstGeom prst="rect">
            <a:avLst/>
          </a:prstGeom>
          <a:noFill/>
        </p:spPr>
        <p:txBody>
          <a:bodyPr wrap="square" lIns="0" tIns="0" rIns="0" bIns="0" anchor="t">
            <a:spAutoFit/>
          </a:bodyPr>
          <a:lstStyle/>
          <a:p>
            <a:pPr algn="l">
              <a:spcAft>
                <a:spcPts val="1200"/>
              </a:spcAft>
            </a:pPr>
            <a:r>
              <a:rPr sz="3200" b="0" i="0" dirty="0">
                <a:latin typeface="Calibri"/>
              </a:rPr>
              <a:t>“Write Python code for Google </a:t>
            </a:r>
            <a:r>
              <a:rPr sz="3200" b="0" i="0" dirty="0" err="1">
                <a:latin typeface="Calibri"/>
              </a:rPr>
              <a:t>Colab</a:t>
            </a:r>
            <a:r>
              <a:rPr sz="3200" b="0" i="0" dirty="0">
                <a:latin typeface="Calibri"/>
              </a:rPr>
              <a:t> that downloads Pride and Prejudice from Project Gutenberg and lists the 20 most common words.”</a:t>
            </a:r>
          </a:p>
          <a:p>
            <a:pPr algn="l">
              <a:spcAft>
                <a:spcPts val="1200"/>
              </a:spcAft>
            </a:pPr>
            <a:r>
              <a:rPr sz="3200" b="0" i="0" dirty="0">
                <a:latin typeface="Calibri"/>
              </a:rPr>
              <a:t>Then: does it run? What did it read? What counts as a word? Did it remove anything? How many times does it count “pride”?</a:t>
            </a:r>
          </a:p>
        </p:txBody>
      </p:sp>
      <p:sp>
        <p:nvSpPr>
          <p:cNvPr id="4" name="TextBox 3"/>
          <p:cNvSpPr txBox="1"/>
          <p:nvPr/>
        </p:nvSpPr>
        <p:spPr>
          <a:xfrm>
            <a:off x="822960" y="6035040"/>
            <a:ext cx="10545775" cy="215444"/>
          </a:xfrm>
          <a:prstGeom prst="rect">
            <a:avLst/>
          </a:prstGeom>
          <a:noFill/>
        </p:spPr>
        <p:txBody>
          <a:bodyPr wrap="square" lIns="0" tIns="0" rIns="0" bIns="0" anchor="t">
            <a:spAutoFit/>
          </a:bodyPr>
          <a:lstStyle/>
          <a:p>
            <a:pPr algn="l">
              <a:spcAft>
                <a:spcPts val="600"/>
              </a:spcAft>
            </a:pPr>
            <a:r>
              <a:rPr sz="1400" b="0" i="0">
                <a:latin typeface="Calibri"/>
              </a:rPr>
              <a:t>MSc Digital Scholarship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2137</Words>
  <Application>Microsoft Macintosh PowerPoint</Application>
  <PresentationFormat>Widescreen</PresentationFormat>
  <Paragraphs>302</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OSP01184</cp:lastModifiedBy>
  <cp:revision>2</cp:revision>
  <dcterms:created xsi:type="dcterms:W3CDTF">2013-01-27T09:14:16Z</dcterms:created>
  <dcterms:modified xsi:type="dcterms:W3CDTF">2026-10-22T07:11:19Z</dcterms:modified>
  <cp:category/>
</cp:coreProperties>
</file>