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we've learned Python by using it: immersion. Now the grammar book. Nothing on these slides is new; it's the system behind what you've already typed.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Analogy with learning a natural language. Most of you learned a second language with both: immersion and a grammar book. Each makes sense of the other. The notebooks were immersion. Today is the grammar.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cares about types because each type has its own operations. Try type() on anything you're unsure about. Common confusion: '10' (a string) vs 10 (a number).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common beginner confusion. '=' is assignment: make this name refer to this value. '==' is comparison: are these equal? Answer True or False. Capitals matter: 'Bennet' is not 'bennet'.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slide. All three patterns appeared in the notebooks. The difference is what comes before the dot. re.split(pattern, sample) and sample.split() do similar jobs but are different tools, so the text goes in a different 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Arguments go in the brackets, separated by commas. Most tools give back (return) a value you can store, e.g. quiet = sample.lower(). print is the odd one out: it shows something but gives back nothing (None). String methods never change the original string; they return a new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or double quotes, but they must match. Text containing double quotes goes inside single quotes, and the other way round. These are the string methods we've used; there are many more, and an AI can tell you about them, but test what it says. startswith and endswith give True or False.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Positions start at 0. Negative numbers count back from the end. A slice [start:stop] includes start but stops before stop. Leaving a number out means 'from the beginning' or 'to the end'. len(ending) is 6, but the last position is 5. Exercise from the warm-up: three ways to get the last three words. Which works for any list?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a new list from an old one. Read from the middle outwards. The 'if' part is optional. If you know R: this is the job sapply / Filter, or plain vectorised code, do there. If you know Lisp: map and filter.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as: for each of the first three words, call it w, then print w and its length. The colon and the indentation are compulsory: Python uses indentation, not brackets, to know what is inside the loop. Colab indents for you after a colon. A comprehension makes a value; a loop performs an action.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Comparisons give True or False. They appear in the 'if' part of a comprehension and in if statements. 'in' is very useful for text: is this word in this list, is this string inside that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 defines, return gives back. The name in brackets (w) is a placeholder for whatever you pass in. Why bother? A function puts a decision, such as what counts as a word, in one named place, where you can read it, test it and report it in your methods.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Vocabulary students will meet in documentation and AI answers. A module is one file of Python code you can import (re, statistics). A package is a collection of modules, usually installed first (nltk, pandas). 'Library' is informal for either. In Colab most packages are already installed; if not, !pip install name in a cell. In R the equivalent word is package, loaded with library().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Errors are normal and informative. Read the last line first; the arrow in the traceback shows which line. NameError: a typo such as Print or sampel, or a missing import. SyntaxError: a missing quote, bracket or colon. The most dangerous code is code with no error that gives the wrong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habits we'll practise in the next exercise. Report your decisions: they belong in your methods, not hidden in code. Lead into the word-frequency prompt.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vague prompt. Compare with the concordance count for 'pride' (56 in the full download). Look for: Gutenberg licence left in; case; punctuation and curly quotes; underscores for italics; stop words silently removed (the very words stylometry needs). Compare top-20 lists across AIs in the 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280160"/>
            <a:ext cx="10545775" cy="2377440"/>
          </a:xfrm>
          <a:prstGeom prst="rect">
            <a:avLst/>
          </a:prstGeom>
          <a:noFill/>
        </p:spPr>
        <p:txBody>
          <a:bodyPr wrap="square" anchor="b" lIns="0" rIns="0" tIns="0" bIns="0">
            <a:spAutoFit/>
          </a:bodyPr>
          <a:lstStyle/>
          <a:p>
            <a:pPr algn="l">
              <a:spcAft>
                <a:spcPts val="0"/>
              </a:spcAft>
            </a:pPr>
            <a:r>
              <a:rPr sz="5400" b="0" i="0">
                <a:solidFill>
                  <a:srgbClr val="1F3A34"/>
                </a:solidFill>
                <a:latin typeface="Cambria"/>
              </a:rPr>
              <a:t>Python: the grammar behind</a:t>
            </a:r>
          </a:p>
          <a:p>
            <a:pPr algn="l">
              <a:spcAft>
                <a:spcPts val="0"/>
              </a:spcAft>
            </a:pPr>
            <a:r>
              <a:rPr sz="5400" b="0" i="0">
                <a:solidFill>
                  <a:srgbClr val="1F3A34"/>
                </a:solidFill>
                <a:latin typeface="Cambria"/>
              </a:rPr>
              <a:t>what you've been doing</a:t>
            </a:r>
          </a:p>
        </p:txBody>
      </p:sp>
      <p:sp>
        <p:nvSpPr>
          <p:cNvPr id="3" name="TextBox 2"/>
          <p:cNvSpPr txBox="1"/>
          <p:nvPr/>
        </p:nvSpPr>
        <p:spPr>
          <a:xfrm>
            <a:off x="822960" y="3931920"/>
            <a:ext cx="10545775" cy="914400"/>
          </a:xfrm>
          <a:prstGeom prst="rect">
            <a:avLst/>
          </a:prstGeom>
          <a:noFill/>
        </p:spPr>
        <p:txBody>
          <a:bodyPr wrap="square" anchor="t" lIns="0" rIns="0" tIns="0" bIns="0">
            <a:spAutoFit/>
          </a:bodyPr>
          <a:lstStyle/>
          <a:p>
            <a:pPr algn="l">
              <a:spcAft>
                <a:spcPts val="600"/>
              </a:spcAft>
            </a:pPr>
            <a:r>
              <a:rPr sz="2800" b="0" i="0">
                <a:solidFill>
                  <a:srgbClr val="1A1A1A"/>
                </a:solidFill>
                <a:latin typeface="Calibri"/>
              </a:rPr>
              <a:t>Syntax and constructs, from values to functions</a:t>
            </a:r>
          </a:p>
        </p:txBody>
      </p:sp>
      <p:sp>
        <p:nvSpPr>
          <p:cNvPr id="4" name="TextBox 3"/>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5" name="TextBox 4"/>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Two ways to learn a language</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2</a:t>
            </a:r>
          </a:p>
        </p:txBody>
      </p:sp>
      <p:sp>
        <p:nvSpPr>
          <p:cNvPr id="5" name="TextBox 4"/>
          <p:cNvSpPr txBox="1"/>
          <p:nvPr/>
        </p:nvSpPr>
        <p:spPr>
          <a:xfrm>
            <a:off x="548640" y="1371600"/>
            <a:ext cx="5394960" cy="548640"/>
          </a:xfrm>
          <a:prstGeom prst="rect">
            <a:avLst/>
          </a:prstGeom>
          <a:noFill/>
        </p:spPr>
        <p:txBody>
          <a:bodyPr wrap="square" anchor="t" lIns="0" rIns="0" tIns="0" bIns="0">
            <a:spAutoFit/>
          </a:bodyPr>
          <a:lstStyle/>
          <a:p>
            <a:pPr algn="l">
              <a:spcAft>
                <a:spcPts val="600"/>
              </a:spcAft>
            </a:pPr>
            <a:r>
              <a:rPr sz="3200" b="0" i="0">
                <a:solidFill>
                  <a:srgbClr val="B5452B"/>
                </a:solidFill>
                <a:latin typeface="Cambria"/>
              </a:rPr>
              <a:t>Immersion</a:t>
            </a:r>
          </a:p>
        </p:txBody>
      </p:sp>
      <p:sp>
        <p:nvSpPr>
          <p:cNvPr id="6" name="TextBox 5"/>
          <p:cNvSpPr txBox="1"/>
          <p:nvPr/>
        </p:nvSpPr>
        <p:spPr>
          <a:xfrm>
            <a:off x="548640" y="2011680"/>
            <a:ext cx="5394960" cy="1097280"/>
          </a:xfrm>
          <a:prstGeom prst="rect">
            <a:avLst/>
          </a:prstGeom>
          <a:noFill/>
        </p:spPr>
        <p:txBody>
          <a:bodyPr wrap="square" anchor="t" lIns="0" rIns="0" tIns="0" bIns="0">
            <a:spAutoFit/>
          </a:bodyPr>
          <a:lstStyle/>
          <a:p>
            <a:pPr algn="l">
              <a:spcAft>
                <a:spcPts val="600"/>
              </a:spcAft>
            </a:pPr>
            <a:r>
              <a:rPr sz="2400" b="0" i="0">
                <a:solidFill>
                  <a:srgbClr val="1A1A1A"/>
                </a:solidFill>
                <a:latin typeface="Calibri"/>
              </a:rPr>
              <a:t>What we did in Colab: run it, change it, see what happens.</a:t>
            </a:r>
          </a:p>
        </p:txBody>
      </p:sp>
      <p:sp>
        <p:nvSpPr>
          <p:cNvPr id="7" name="Rounded Rectangle 6"/>
          <p:cNvSpPr/>
          <p:nvPr/>
        </p:nvSpPr>
        <p:spPr>
          <a:xfrm>
            <a:off x="548640" y="3200400"/>
            <a:ext cx="5394960" cy="192024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337560"/>
            <a:ext cx="5029200" cy="1645920"/>
          </a:xfrm>
          <a:prstGeom prst="rect">
            <a:avLst/>
          </a:prstGeom>
          <a:noFill/>
        </p:spPr>
        <p:txBody>
          <a:bodyPr wrap="square" anchor="t" lIns="45720" rIns="45720">
            <a:spAutoFit/>
          </a:bodyPr>
          <a:lstStyle/>
          <a:p>
            <a:pPr algn="l">
              <a:spcAft>
                <a:spcPts val="200"/>
              </a:spcAft>
            </a:pPr>
            <a:r>
              <a:rPr sz="2400" b="0" i="0">
                <a:solidFill>
                  <a:srgbClr val="1A1A1A"/>
                </a:solidFill>
                <a:latin typeface="Courier New"/>
              </a:rPr>
              <a:t>words = sample.split()</a:t>
            </a:r>
          </a:p>
          <a:p>
            <a:pPr algn="l">
              <a:spcAft>
                <a:spcPts val="200"/>
              </a:spcAft>
            </a:pPr>
            <a:r>
              <a:rPr sz="2400" b="0" i="0">
                <a:solidFill>
                  <a:srgbClr val="1A1A1A"/>
                </a:solidFill>
                <a:latin typeface="Courier New"/>
              </a:rPr>
              <a:t>words[-3:]</a:t>
            </a:r>
          </a:p>
          <a:p>
            <a:pPr algn="l">
              <a:spcAft>
                <a:spcPts val="200"/>
              </a:spcAft>
            </a:pPr>
            <a:r>
              <a:rPr sz="2400" b="0" i="0">
                <a:solidFill>
                  <a:srgbClr val="B5452B"/>
                </a:solidFill>
                <a:latin typeface="Courier New"/>
              </a:rPr>
              <a:t>→ ['knew', 'by', 'noon.']</a:t>
            </a:r>
          </a:p>
        </p:txBody>
      </p:sp>
      <p:sp>
        <p:nvSpPr>
          <p:cNvPr id="9" name="TextBox 8"/>
          <p:cNvSpPr txBox="1"/>
          <p:nvPr/>
        </p:nvSpPr>
        <p:spPr>
          <a:xfrm>
            <a:off x="6263640" y="1371600"/>
            <a:ext cx="5394960" cy="548640"/>
          </a:xfrm>
          <a:prstGeom prst="rect">
            <a:avLst/>
          </a:prstGeom>
          <a:noFill/>
        </p:spPr>
        <p:txBody>
          <a:bodyPr wrap="square" anchor="t" lIns="0" rIns="0" tIns="0" bIns="0">
            <a:spAutoFit/>
          </a:bodyPr>
          <a:lstStyle/>
          <a:p>
            <a:pPr algn="l">
              <a:spcAft>
                <a:spcPts val="600"/>
              </a:spcAft>
            </a:pPr>
            <a:r>
              <a:rPr sz="3200" b="0" i="0">
                <a:solidFill>
                  <a:srgbClr val="B5452B"/>
                </a:solidFill>
                <a:latin typeface="Cambria"/>
              </a:rPr>
              <a:t>The grammar book</a:t>
            </a:r>
          </a:p>
        </p:txBody>
      </p:sp>
      <p:sp>
        <p:nvSpPr>
          <p:cNvPr id="10" name="TextBox 9"/>
          <p:cNvSpPr txBox="1"/>
          <p:nvPr/>
        </p:nvSpPr>
        <p:spPr>
          <a:xfrm>
            <a:off x="6263640" y="2011680"/>
            <a:ext cx="5394960" cy="1097280"/>
          </a:xfrm>
          <a:prstGeom prst="rect">
            <a:avLst/>
          </a:prstGeom>
          <a:noFill/>
        </p:spPr>
        <p:txBody>
          <a:bodyPr wrap="square" anchor="t" lIns="0" rIns="0" tIns="0" bIns="0">
            <a:spAutoFit/>
          </a:bodyPr>
          <a:lstStyle/>
          <a:p>
            <a:pPr algn="l">
              <a:spcAft>
                <a:spcPts val="600"/>
              </a:spcAft>
            </a:pPr>
            <a:r>
              <a:rPr sz="2400" b="0" i="0">
                <a:solidFill>
                  <a:srgbClr val="1A1A1A"/>
                </a:solidFill>
                <a:latin typeface="Calibri"/>
              </a:rPr>
              <a:t>Today: name the parts, see the patterns.</a:t>
            </a:r>
          </a:p>
        </p:txBody>
      </p:sp>
      <p:sp>
        <p:nvSpPr>
          <p:cNvPr id="11" name="Rounded Rectangle 10"/>
          <p:cNvSpPr/>
          <p:nvPr/>
        </p:nvSpPr>
        <p:spPr>
          <a:xfrm>
            <a:off x="6263640" y="3200400"/>
            <a:ext cx="5394960" cy="192024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337560"/>
            <a:ext cx="5029200" cy="1645920"/>
          </a:xfrm>
          <a:prstGeom prst="rect">
            <a:avLst/>
          </a:prstGeom>
          <a:noFill/>
        </p:spPr>
        <p:txBody>
          <a:bodyPr wrap="square" anchor="t" lIns="45720" rIns="45720">
            <a:spAutoFit/>
          </a:bodyPr>
          <a:lstStyle/>
          <a:p>
            <a:pPr algn="l">
              <a:spcAft>
                <a:spcPts val="200"/>
              </a:spcAft>
            </a:pPr>
            <a:r>
              <a:rPr sz="2400" b="0" i="0">
                <a:solidFill>
                  <a:srgbClr val="1A1A1A"/>
                </a:solidFill>
                <a:latin typeface="Courier New"/>
              </a:rPr>
              <a:t>thing.method(argument)</a:t>
            </a:r>
          </a:p>
          <a:p>
            <a:pPr algn="l">
              <a:spcAft>
                <a:spcPts val="200"/>
              </a:spcAft>
            </a:pPr>
            <a:r>
              <a:rPr sz="2400" b="0" i="0">
                <a:solidFill>
                  <a:srgbClr val="1A1A1A"/>
                </a:solidFill>
                <a:latin typeface="Courier New"/>
              </a:rPr>
              <a:t>list[start:stop]</a:t>
            </a:r>
          </a:p>
        </p:txBody>
      </p:sp>
      <p:sp>
        <p:nvSpPr>
          <p:cNvPr id="13" name="TextBox 12"/>
          <p:cNvSpPr txBox="1"/>
          <p:nvPr/>
        </p:nvSpPr>
        <p:spPr>
          <a:xfrm>
            <a:off x="548640" y="5394960"/>
            <a:ext cx="10972800" cy="640080"/>
          </a:xfrm>
          <a:prstGeom prst="rect">
            <a:avLst/>
          </a:prstGeom>
          <a:noFill/>
        </p:spPr>
        <p:txBody>
          <a:bodyPr wrap="square" anchor="t" lIns="0" rIns="0" tIns="0" bIns="0">
            <a:spAutoFit/>
          </a:bodyPr>
          <a:lstStyle/>
          <a:p>
            <a:pPr algn="l">
              <a:spcAft>
                <a:spcPts val="600"/>
              </a:spcAft>
            </a:pPr>
            <a:r>
              <a:rPr sz="2800" b="0" i="1">
                <a:solidFill>
                  <a:srgbClr val="1F3A34"/>
                </a:solidFill>
                <a:latin typeface="Calibri"/>
              </a:rPr>
              <a:t>Both help. Each makes sense of the other.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Every value has a type</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3</a:t>
            </a:r>
          </a:p>
        </p:txBody>
      </p:sp>
      <p:sp>
        <p:nvSpPr>
          <p:cNvPr id="5" name="Rounded Rectangle 4"/>
          <p:cNvSpPr/>
          <p:nvPr/>
        </p:nvSpPr>
        <p:spPr>
          <a:xfrm>
            <a:off x="548640" y="1371600"/>
            <a:ext cx="1371600" cy="731520"/>
          </a:xfrm>
          <a:prstGeom prst="roundRect">
            <a:avLst>
              <a:gd name="adj" fmla="val 6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371600" cy="731520"/>
          </a:xfrm>
          <a:prstGeom prst="rect">
            <a:avLst/>
          </a:prstGeom>
          <a:noFill/>
        </p:spPr>
        <p:txBody>
          <a:bodyPr wrap="square" anchor="ctr" lIns="45720" rIns="45720">
            <a:spAutoFit/>
          </a:bodyPr>
          <a:lstStyle/>
          <a:p>
            <a:pPr algn="ctr">
              <a:spcAft>
                <a:spcPts val="600"/>
              </a:spcAft>
            </a:pPr>
            <a:r>
              <a:rPr sz="2400" b="0" i="0">
                <a:solidFill>
                  <a:srgbClr val="FFFFFF"/>
                </a:solidFill>
                <a:latin typeface="Courier New"/>
              </a:rPr>
              <a:t>str</a:t>
            </a:r>
          </a:p>
        </p:txBody>
      </p:sp>
      <p:sp>
        <p:nvSpPr>
          <p:cNvPr id="7" name="TextBox 6"/>
          <p:cNvSpPr txBox="1"/>
          <p:nvPr/>
        </p:nvSpPr>
        <p:spPr>
          <a:xfrm>
            <a:off x="2103120" y="1371600"/>
            <a:ext cx="2377440" cy="731520"/>
          </a:xfrm>
          <a:prstGeom prst="rect">
            <a:avLst/>
          </a:prstGeom>
          <a:noFill/>
        </p:spPr>
        <p:txBody>
          <a:bodyPr wrap="square" anchor="ctr" lIns="45720" rIns="45720">
            <a:spAutoFit/>
          </a:bodyPr>
          <a:lstStyle/>
          <a:p>
            <a:pPr algn="l">
              <a:spcAft>
                <a:spcPts val="600"/>
              </a:spcAft>
            </a:pPr>
            <a:r>
              <a:rPr sz="2400" b="0" i="0">
                <a:solidFill>
                  <a:srgbClr val="1A1A1A"/>
                </a:solidFill>
                <a:latin typeface="Calibri"/>
              </a:rPr>
              <a:t>text</a:t>
            </a:r>
          </a:p>
        </p:txBody>
      </p:sp>
      <p:sp>
        <p:nvSpPr>
          <p:cNvPr id="8" name="TextBox 7"/>
          <p:cNvSpPr txBox="1"/>
          <p:nvPr/>
        </p:nvSpPr>
        <p:spPr>
          <a:xfrm>
            <a:off x="4480560" y="1371600"/>
            <a:ext cx="3291840" cy="731520"/>
          </a:xfrm>
          <a:prstGeom prst="rect">
            <a:avLst/>
          </a:prstGeom>
          <a:noFill/>
        </p:spPr>
        <p:txBody>
          <a:bodyPr wrap="square" anchor="ctr" lIns="45720" rIns="45720">
            <a:spAutoFit/>
          </a:bodyPr>
          <a:lstStyle/>
          <a:p>
            <a:pPr algn="l">
              <a:spcAft>
                <a:spcPts val="600"/>
              </a:spcAft>
            </a:pPr>
            <a:r>
              <a:rPr sz="2400" b="0" i="0">
                <a:solidFill>
                  <a:srgbClr val="B5452B"/>
                </a:solidFill>
                <a:latin typeface="Courier New"/>
              </a:rPr>
              <a:t>"Bennet"</a:t>
            </a:r>
          </a:p>
        </p:txBody>
      </p:sp>
      <p:sp>
        <p:nvSpPr>
          <p:cNvPr id="9" name="Rounded Rectangle 8"/>
          <p:cNvSpPr/>
          <p:nvPr/>
        </p:nvSpPr>
        <p:spPr>
          <a:xfrm>
            <a:off x="548640" y="2286000"/>
            <a:ext cx="1371600" cy="731520"/>
          </a:xfrm>
          <a:prstGeom prst="roundRect">
            <a:avLst>
              <a:gd name="adj" fmla="val 6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86000"/>
            <a:ext cx="1371600" cy="731520"/>
          </a:xfrm>
          <a:prstGeom prst="rect">
            <a:avLst/>
          </a:prstGeom>
          <a:noFill/>
        </p:spPr>
        <p:txBody>
          <a:bodyPr wrap="square" anchor="ctr" lIns="45720" rIns="45720">
            <a:spAutoFit/>
          </a:bodyPr>
          <a:lstStyle/>
          <a:p>
            <a:pPr algn="ctr">
              <a:spcAft>
                <a:spcPts val="600"/>
              </a:spcAft>
            </a:pPr>
            <a:r>
              <a:rPr sz="2400" b="0" i="0">
                <a:solidFill>
                  <a:srgbClr val="FFFFFF"/>
                </a:solidFill>
                <a:latin typeface="Courier New"/>
              </a:rPr>
              <a:t>int</a:t>
            </a:r>
          </a:p>
        </p:txBody>
      </p:sp>
      <p:sp>
        <p:nvSpPr>
          <p:cNvPr id="11" name="TextBox 10"/>
          <p:cNvSpPr txBox="1"/>
          <p:nvPr/>
        </p:nvSpPr>
        <p:spPr>
          <a:xfrm>
            <a:off x="2103120" y="2286000"/>
            <a:ext cx="2377440" cy="731520"/>
          </a:xfrm>
          <a:prstGeom prst="rect">
            <a:avLst/>
          </a:prstGeom>
          <a:noFill/>
        </p:spPr>
        <p:txBody>
          <a:bodyPr wrap="square" anchor="ctr" lIns="45720" rIns="45720">
            <a:spAutoFit/>
          </a:bodyPr>
          <a:lstStyle/>
          <a:p>
            <a:pPr algn="l">
              <a:spcAft>
                <a:spcPts val="600"/>
              </a:spcAft>
            </a:pPr>
            <a:r>
              <a:rPr sz="2400" b="0" i="0">
                <a:solidFill>
                  <a:srgbClr val="1A1A1A"/>
                </a:solidFill>
                <a:latin typeface="Calibri"/>
              </a:rPr>
              <a:t>whole number</a:t>
            </a:r>
          </a:p>
        </p:txBody>
      </p:sp>
      <p:sp>
        <p:nvSpPr>
          <p:cNvPr id="12" name="TextBox 11"/>
          <p:cNvSpPr txBox="1"/>
          <p:nvPr/>
        </p:nvSpPr>
        <p:spPr>
          <a:xfrm>
            <a:off x="4480560" y="2286000"/>
            <a:ext cx="3291840" cy="731520"/>
          </a:xfrm>
          <a:prstGeom prst="rect">
            <a:avLst/>
          </a:prstGeom>
          <a:noFill/>
        </p:spPr>
        <p:txBody>
          <a:bodyPr wrap="square" anchor="ctr" lIns="45720" rIns="45720">
            <a:spAutoFit/>
          </a:bodyPr>
          <a:lstStyle/>
          <a:p>
            <a:pPr algn="l">
              <a:spcAft>
                <a:spcPts val="600"/>
              </a:spcAft>
            </a:pPr>
            <a:r>
              <a:rPr sz="2400" b="0" i="0">
                <a:solidFill>
                  <a:srgbClr val="B5452B"/>
                </a:solidFill>
                <a:latin typeface="Courier New"/>
              </a:rPr>
              <a:t>39</a:t>
            </a:r>
          </a:p>
        </p:txBody>
      </p:sp>
      <p:sp>
        <p:nvSpPr>
          <p:cNvPr id="13" name="Rounded Rectangle 12"/>
          <p:cNvSpPr/>
          <p:nvPr/>
        </p:nvSpPr>
        <p:spPr>
          <a:xfrm>
            <a:off x="548640" y="3200400"/>
            <a:ext cx="1371600" cy="731520"/>
          </a:xfrm>
          <a:prstGeom prst="roundRect">
            <a:avLst>
              <a:gd name="adj" fmla="val 6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200400"/>
            <a:ext cx="1371600" cy="731520"/>
          </a:xfrm>
          <a:prstGeom prst="rect">
            <a:avLst/>
          </a:prstGeom>
          <a:noFill/>
        </p:spPr>
        <p:txBody>
          <a:bodyPr wrap="square" anchor="ctr" lIns="45720" rIns="45720">
            <a:spAutoFit/>
          </a:bodyPr>
          <a:lstStyle/>
          <a:p>
            <a:pPr algn="ctr">
              <a:spcAft>
                <a:spcPts val="600"/>
              </a:spcAft>
            </a:pPr>
            <a:r>
              <a:rPr sz="2400" b="0" i="0">
                <a:solidFill>
                  <a:srgbClr val="FFFFFF"/>
                </a:solidFill>
                <a:latin typeface="Courier New"/>
              </a:rPr>
              <a:t>float</a:t>
            </a:r>
          </a:p>
        </p:txBody>
      </p:sp>
      <p:sp>
        <p:nvSpPr>
          <p:cNvPr id="15" name="TextBox 14"/>
          <p:cNvSpPr txBox="1"/>
          <p:nvPr/>
        </p:nvSpPr>
        <p:spPr>
          <a:xfrm>
            <a:off x="2103120" y="3200400"/>
            <a:ext cx="2377440" cy="731520"/>
          </a:xfrm>
          <a:prstGeom prst="rect">
            <a:avLst/>
          </a:prstGeom>
          <a:noFill/>
        </p:spPr>
        <p:txBody>
          <a:bodyPr wrap="square" anchor="ctr" lIns="45720" rIns="45720">
            <a:spAutoFit/>
          </a:bodyPr>
          <a:lstStyle/>
          <a:p>
            <a:pPr algn="l">
              <a:spcAft>
                <a:spcPts val="600"/>
              </a:spcAft>
            </a:pPr>
            <a:r>
              <a:rPr sz="2400" b="0" i="0">
                <a:solidFill>
                  <a:srgbClr val="1A1A1A"/>
                </a:solidFill>
                <a:latin typeface="Calibri"/>
              </a:rPr>
              <a:t>decimal number</a:t>
            </a:r>
          </a:p>
        </p:txBody>
      </p:sp>
      <p:sp>
        <p:nvSpPr>
          <p:cNvPr id="16" name="TextBox 15"/>
          <p:cNvSpPr txBox="1"/>
          <p:nvPr/>
        </p:nvSpPr>
        <p:spPr>
          <a:xfrm>
            <a:off x="4480560" y="3200400"/>
            <a:ext cx="3291840" cy="731520"/>
          </a:xfrm>
          <a:prstGeom prst="rect">
            <a:avLst/>
          </a:prstGeom>
          <a:noFill/>
        </p:spPr>
        <p:txBody>
          <a:bodyPr wrap="square" anchor="ctr" lIns="45720" rIns="45720">
            <a:spAutoFit/>
          </a:bodyPr>
          <a:lstStyle/>
          <a:p>
            <a:pPr algn="l">
              <a:spcAft>
                <a:spcPts val="600"/>
              </a:spcAft>
            </a:pPr>
            <a:r>
              <a:rPr sz="2400" b="0" i="0">
                <a:solidFill>
                  <a:srgbClr val="B5452B"/>
                </a:solidFill>
                <a:latin typeface="Courier New"/>
              </a:rPr>
              <a:t>4.2</a:t>
            </a:r>
          </a:p>
        </p:txBody>
      </p:sp>
      <p:sp>
        <p:nvSpPr>
          <p:cNvPr id="17" name="Rounded Rectangle 16"/>
          <p:cNvSpPr/>
          <p:nvPr/>
        </p:nvSpPr>
        <p:spPr>
          <a:xfrm>
            <a:off x="548640" y="4114800"/>
            <a:ext cx="1371600" cy="731520"/>
          </a:xfrm>
          <a:prstGeom prst="roundRect">
            <a:avLst>
              <a:gd name="adj" fmla="val 6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114800"/>
            <a:ext cx="1371600" cy="731520"/>
          </a:xfrm>
          <a:prstGeom prst="rect">
            <a:avLst/>
          </a:prstGeom>
          <a:noFill/>
        </p:spPr>
        <p:txBody>
          <a:bodyPr wrap="square" anchor="ctr" lIns="45720" rIns="45720">
            <a:spAutoFit/>
          </a:bodyPr>
          <a:lstStyle/>
          <a:p>
            <a:pPr algn="ctr">
              <a:spcAft>
                <a:spcPts val="600"/>
              </a:spcAft>
            </a:pPr>
            <a:r>
              <a:rPr sz="2400" b="0" i="0">
                <a:solidFill>
                  <a:srgbClr val="FFFFFF"/>
                </a:solidFill>
                <a:latin typeface="Courier New"/>
              </a:rPr>
              <a:t>list</a:t>
            </a:r>
          </a:p>
        </p:txBody>
      </p:sp>
      <p:sp>
        <p:nvSpPr>
          <p:cNvPr id="19" name="TextBox 18"/>
          <p:cNvSpPr txBox="1"/>
          <p:nvPr/>
        </p:nvSpPr>
        <p:spPr>
          <a:xfrm>
            <a:off x="2103120" y="4114800"/>
            <a:ext cx="2377440" cy="731520"/>
          </a:xfrm>
          <a:prstGeom prst="rect">
            <a:avLst/>
          </a:prstGeom>
          <a:noFill/>
        </p:spPr>
        <p:txBody>
          <a:bodyPr wrap="square" anchor="ctr" lIns="45720" rIns="45720">
            <a:spAutoFit/>
          </a:bodyPr>
          <a:lstStyle/>
          <a:p>
            <a:pPr algn="l">
              <a:spcAft>
                <a:spcPts val="600"/>
              </a:spcAft>
            </a:pPr>
            <a:r>
              <a:rPr sz="2400" b="0" i="0">
                <a:solidFill>
                  <a:srgbClr val="1A1A1A"/>
                </a:solidFill>
                <a:latin typeface="Calibri"/>
              </a:rPr>
              <a:t>ordered collection</a:t>
            </a:r>
          </a:p>
        </p:txBody>
      </p:sp>
      <p:sp>
        <p:nvSpPr>
          <p:cNvPr id="20" name="TextBox 19"/>
          <p:cNvSpPr txBox="1"/>
          <p:nvPr/>
        </p:nvSpPr>
        <p:spPr>
          <a:xfrm>
            <a:off x="4480560" y="4114800"/>
            <a:ext cx="3291840" cy="731520"/>
          </a:xfrm>
          <a:prstGeom prst="rect">
            <a:avLst/>
          </a:prstGeom>
          <a:noFill/>
        </p:spPr>
        <p:txBody>
          <a:bodyPr wrap="square" anchor="ctr" lIns="45720" rIns="45720">
            <a:spAutoFit/>
          </a:bodyPr>
          <a:lstStyle/>
          <a:p>
            <a:pPr algn="l">
              <a:spcAft>
                <a:spcPts val="600"/>
              </a:spcAft>
            </a:pPr>
            <a:r>
              <a:rPr sz="2400" b="0" i="0">
                <a:solidFill>
                  <a:srgbClr val="B5452B"/>
                </a:solidFill>
                <a:latin typeface="Courier New"/>
              </a:rPr>
              <a:t>['Mr.', 'Bennet']</a:t>
            </a:r>
          </a:p>
        </p:txBody>
      </p:sp>
      <p:sp>
        <p:nvSpPr>
          <p:cNvPr id="21" name="Rounded Rectangle 20"/>
          <p:cNvSpPr/>
          <p:nvPr/>
        </p:nvSpPr>
        <p:spPr>
          <a:xfrm>
            <a:off x="548640" y="5029200"/>
            <a:ext cx="1371600" cy="731520"/>
          </a:xfrm>
          <a:prstGeom prst="roundRect">
            <a:avLst>
              <a:gd name="adj" fmla="val 6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029200"/>
            <a:ext cx="1371600" cy="731520"/>
          </a:xfrm>
          <a:prstGeom prst="rect">
            <a:avLst/>
          </a:prstGeom>
          <a:noFill/>
        </p:spPr>
        <p:txBody>
          <a:bodyPr wrap="square" anchor="ctr" lIns="45720" rIns="45720">
            <a:spAutoFit/>
          </a:bodyPr>
          <a:lstStyle/>
          <a:p>
            <a:pPr algn="ctr">
              <a:spcAft>
                <a:spcPts val="600"/>
              </a:spcAft>
            </a:pPr>
            <a:r>
              <a:rPr sz="2400" b="0" i="0">
                <a:solidFill>
                  <a:srgbClr val="FFFFFF"/>
                </a:solidFill>
                <a:latin typeface="Courier New"/>
              </a:rPr>
              <a:t>bool</a:t>
            </a:r>
          </a:p>
        </p:txBody>
      </p:sp>
      <p:sp>
        <p:nvSpPr>
          <p:cNvPr id="23" name="TextBox 22"/>
          <p:cNvSpPr txBox="1"/>
          <p:nvPr/>
        </p:nvSpPr>
        <p:spPr>
          <a:xfrm>
            <a:off x="2103120" y="5029200"/>
            <a:ext cx="2377440" cy="731520"/>
          </a:xfrm>
          <a:prstGeom prst="rect">
            <a:avLst/>
          </a:prstGeom>
          <a:noFill/>
        </p:spPr>
        <p:txBody>
          <a:bodyPr wrap="square" anchor="ctr" lIns="45720" rIns="45720">
            <a:spAutoFit/>
          </a:bodyPr>
          <a:lstStyle/>
          <a:p>
            <a:pPr algn="l">
              <a:spcAft>
                <a:spcPts val="600"/>
              </a:spcAft>
            </a:pPr>
            <a:r>
              <a:rPr sz="2400" b="0" i="0">
                <a:solidFill>
                  <a:srgbClr val="1A1A1A"/>
                </a:solidFill>
                <a:latin typeface="Calibri"/>
              </a:rPr>
              <a:t>true or false</a:t>
            </a:r>
          </a:p>
        </p:txBody>
      </p:sp>
      <p:sp>
        <p:nvSpPr>
          <p:cNvPr id="24" name="TextBox 23"/>
          <p:cNvSpPr txBox="1"/>
          <p:nvPr/>
        </p:nvSpPr>
        <p:spPr>
          <a:xfrm>
            <a:off x="4480560" y="5029200"/>
            <a:ext cx="3291840" cy="731520"/>
          </a:xfrm>
          <a:prstGeom prst="rect">
            <a:avLst/>
          </a:prstGeom>
          <a:noFill/>
        </p:spPr>
        <p:txBody>
          <a:bodyPr wrap="square" anchor="ctr" lIns="45720" rIns="45720">
            <a:spAutoFit/>
          </a:bodyPr>
          <a:lstStyle/>
          <a:p>
            <a:pPr algn="l">
              <a:spcAft>
                <a:spcPts val="600"/>
              </a:spcAft>
            </a:pPr>
            <a:r>
              <a:rPr sz="2400" b="0" i="0">
                <a:solidFill>
                  <a:srgbClr val="B5452B"/>
                </a:solidFill>
                <a:latin typeface="Courier New"/>
              </a:rPr>
              <a:t>True</a:t>
            </a:r>
          </a:p>
        </p:txBody>
      </p:sp>
      <p:sp>
        <p:nvSpPr>
          <p:cNvPr id="25" name="Rounded Rectangle 24"/>
          <p:cNvSpPr/>
          <p:nvPr/>
        </p:nvSpPr>
        <p:spPr>
          <a:xfrm>
            <a:off x="7955279" y="1371600"/>
            <a:ext cx="3685032" cy="438912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59" y="1508760"/>
            <a:ext cx="3319272" cy="4114800"/>
          </a:xfrm>
          <a:prstGeom prst="rect">
            <a:avLst/>
          </a:prstGeom>
          <a:noFill/>
        </p:spPr>
        <p:txBody>
          <a:bodyPr wrap="square" anchor="t" lIns="45720" rIns="45720">
            <a:spAutoFit/>
          </a:bodyPr>
          <a:lstStyle/>
          <a:p>
            <a:pPr algn="l">
              <a:spcAft>
                <a:spcPts val="200"/>
              </a:spcAft>
            </a:pPr>
            <a:r>
              <a:rPr sz="2400" b="0" i="0">
                <a:solidFill>
                  <a:srgbClr val="1A1A1A"/>
                </a:solidFill>
                <a:latin typeface="Courier New"/>
              </a:rPr>
              <a:t>type("Bennet")</a:t>
            </a:r>
          </a:p>
          <a:p>
            <a:pPr algn="l">
              <a:spcAft>
                <a:spcPts val="200"/>
              </a:spcAft>
            </a:pPr>
            <a:r>
              <a:rPr sz="2400" b="0" i="0">
                <a:solidFill>
                  <a:srgbClr val="B5452B"/>
                </a:solidFill>
                <a:latin typeface="Courier New"/>
              </a:rPr>
              <a:t>→ str</a:t>
            </a:r>
          </a:p>
          <a:p>
            <a:pPr algn="l">
              <a:spcAft>
                <a:spcPts val="200"/>
              </a:spcAft>
            </a:pPr>
            <a:r>
              <a:rPr sz="2400" b="0" i="0">
                <a:solidFill>
                  <a:srgbClr val="1A1A1A"/>
                </a:solidFill>
                <a:latin typeface="Courier New"/>
              </a:rPr>
              <a:t> </a:t>
            </a:r>
          </a:p>
          <a:p>
            <a:pPr algn="l">
              <a:spcAft>
                <a:spcPts val="200"/>
              </a:spcAft>
            </a:pPr>
            <a:r>
              <a:rPr sz="2400" b="0" i="0">
                <a:solidFill>
                  <a:srgbClr val="1A1A1A"/>
                </a:solidFill>
                <a:latin typeface="Courier New"/>
              </a:rPr>
              <a:t>"10" + "5"</a:t>
            </a:r>
          </a:p>
          <a:p>
            <a:pPr algn="l">
              <a:spcAft>
                <a:spcPts val="200"/>
              </a:spcAft>
            </a:pPr>
            <a:r>
              <a:rPr sz="2400" b="0" i="0">
                <a:solidFill>
                  <a:srgbClr val="B5452B"/>
                </a:solidFill>
                <a:latin typeface="Courier New"/>
              </a:rPr>
              <a:t>→ '105'</a:t>
            </a:r>
          </a:p>
          <a:p>
            <a:pPr algn="l">
              <a:spcAft>
                <a:spcPts val="200"/>
              </a:spcAft>
            </a:pPr>
            <a:r>
              <a:rPr sz="2400" b="0" i="0">
                <a:solidFill>
                  <a:srgbClr val="1A1A1A"/>
                </a:solidFill>
                <a:latin typeface="Courier New"/>
              </a:rPr>
              <a:t> </a:t>
            </a:r>
          </a:p>
          <a:p>
            <a:pPr algn="l">
              <a:spcAft>
                <a:spcPts val="200"/>
              </a:spcAft>
            </a:pPr>
            <a:r>
              <a:rPr sz="2400" b="0" i="0">
                <a:solidFill>
                  <a:srgbClr val="1A1A1A"/>
                </a:solidFill>
                <a:latin typeface="Courier New"/>
              </a:rPr>
              <a:t>10 + 5</a:t>
            </a:r>
          </a:p>
          <a:p>
            <a:pPr algn="l">
              <a:spcAft>
                <a:spcPts val="200"/>
              </a:spcAft>
            </a:pPr>
            <a:r>
              <a:rPr sz="2400" b="0" i="0">
                <a:solidFill>
                  <a:srgbClr val="B5452B"/>
                </a:solidFill>
                <a:latin typeface="Courier New"/>
              </a:rPr>
              <a:t>→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 gives a name; == asks a question</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4</a:t>
            </a:r>
          </a:p>
        </p:txBody>
      </p:sp>
      <p:sp>
        <p:nvSpPr>
          <p:cNvPr id="5" name="TextBox 4"/>
          <p:cNvSpPr txBox="1"/>
          <p:nvPr/>
        </p:nvSpPr>
        <p:spPr>
          <a:xfrm>
            <a:off x="548640" y="1371600"/>
            <a:ext cx="5303520" cy="4389120"/>
          </a:xfrm>
          <a:prstGeom prst="rect">
            <a:avLst/>
          </a:prstGeom>
          <a:noFill/>
        </p:spPr>
        <p:txBody>
          <a:bodyPr wrap="square" anchor="t" lIns="0" rIns="0" tIns="0" bIns="0">
            <a:spAutoFit/>
          </a:bodyPr>
          <a:lstStyle/>
          <a:p>
            <a:pPr algn="l">
              <a:spcAft>
                <a:spcPts val="600"/>
              </a:spcAft>
            </a:pPr>
            <a:r>
              <a:rPr sz="3600" b="1" i="0">
                <a:solidFill>
                  <a:srgbClr val="B5452B"/>
                </a:solidFill>
                <a:latin typeface="Courier New"/>
              </a:rPr>
              <a:t>=</a:t>
            </a:r>
            <a:r>
              <a:rPr sz="2800" b="1" i="0">
                <a:solidFill>
                  <a:srgbClr val="1A1A1A"/>
                </a:solidFill>
                <a:latin typeface="Calibri"/>
              </a:rPr>
              <a:t>   assignment</a:t>
            </a:r>
          </a:p>
          <a:p>
            <a:pPr algn="l">
              <a:spcAft>
                <a:spcPts val="600"/>
              </a:spcAft>
            </a:pPr>
            <a:r>
              <a:rPr sz="2400" b="0" i="0">
                <a:solidFill>
                  <a:srgbClr val="1A1A1A"/>
                </a:solidFill>
                <a:latin typeface="Calibri"/>
              </a:rPr>
              <a:t>Make this name refer to this value.</a:t>
            </a:r>
          </a:p>
          <a:p>
            <a:pPr algn="l">
              <a:spcAft>
                <a:spcPts val="600"/>
              </a:spcAft>
            </a:pPr>
            <a:r>
              <a:rPr sz="2400" b="0" i="0">
                <a:solidFill>
                  <a:srgbClr val="1A1A1A"/>
                </a:solidFill>
                <a:latin typeface="Calibri"/>
              </a:rPr>
              <a:t> </a:t>
            </a:r>
          </a:p>
          <a:p>
            <a:pPr algn="l">
              <a:spcAft>
                <a:spcPts val="600"/>
              </a:spcAft>
            </a:pPr>
            <a:r>
              <a:rPr sz="3600" b="1" i="0">
                <a:solidFill>
                  <a:srgbClr val="B5452B"/>
                </a:solidFill>
                <a:latin typeface="Courier New"/>
              </a:rPr>
              <a:t>==</a:t>
            </a:r>
            <a:r>
              <a:rPr sz="2800" b="1" i="0">
                <a:solidFill>
                  <a:srgbClr val="1A1A1A"/>
                </a:solidFill>
                <a:latin typeface="Calibri"/>
              </a:rPr>
              <a:t>  comparison</a:t>
            </a:r>
          </a:p>
          <a:p>
            <a:pPr algn="l">
              <a:spcAft>
                <a:spcPts val="600"/>
              </a:spcAft>
            </a:pPr>
            <a:r>
              <a:rPr sz="2400" b="0" i="0">
                <a:solidFill>
                  <a:srgbClr val="1A1A1A"/>
                </a:solidFill>
                <a:latin typeface="Calibri"/>
              </a:rPr>
              <a:t>Are these equal? The answer is True or False.</a:t>
            </a:r>
          </a:p>
        </p:txBody>
      </p:sp>
      <p:sp>
        <p:nvSpPr>
          <p:cNvPr id="6" name="Rounded Rectangle 5"/>
          <p:cNvSpPr/>
          <p:nvPr/>
        </p:nvSpPr>
        <p:spPr>
          <a:xfrm>
            <a:off x="6217920" y="1371600"/>
            <a:ext cx="5422392" cy="438912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5056631" cy="4114800"/>
          </a:xfrm>
          <a:prstGeom prst="rect">
            <a:avLst/>
          </a:prstGeom>
          <a:noFill/>
        </p:spPr>
        <p:txBody>
          <a:bodyPr wrap="square" anchor="t" lIns="45720" rIns="45720">
            <a:spAutoFit/>
          </a:bodyPr>
          <a:lstStyle/>
          <a:p>
            <a:pPr algn="l">
              <a:spcAft>
                <a:spcPts val="200"/>
              </a:spcAft>
            </a:pPr>
            <a:r>
              <a:rPr sz="2400" b="0" i="0">
                <a:solidFill>
                  <a:srgbClr val="1A1A1A"/>
                </a:solidFill>
                <a:latin typeface="Courier New"/>
              </a:rPr>
              <a:t>size = len(sample)</a:t>
            </a:r>
          </a:p>
          <a:p>
            <a:pPr algn="l">
              <a:spcAft>
                <a:spcPts val="200"/>
              </a:spcAft>
            </a:pPr>
            <a:r>
              <a:rPr sz="2400" b="0" i="0">
                <a:solidFill>
                  <a:srgbClr val="1A1A1A"/>
                </a:solidFill>
                <a:latin typeface="Courier New"/>
              </a:rPr>
              <a:t> </a:t>
            </a:r>
          </a:p>
          <a:p>
            <a:pPr algn="l">
              <a:spcAft>
                <a:spcPts val="200"/>
              </a:spcAft>
            </a:pPr>
            <a:r>
              <a:rPr sz="2400" b="0" i="0">
                <a:solidFill>
                  <a:srgbClr val="1A1A1A"/>
                </a:solidFill>
                <a:latin typeface="Courier New"/>
              </a:rPr>
              <a:t>size == 196</a:t>
            </a:r>
          </a:p>
          <a:p>
            <a:pPr algn="l">
              <a:spcAft>
                <a:spcPts val="200"/>
              </a:spcAft>
            </a:pPr>
            <a:r>
              <a:rPr sz="2400" b="0" i="0">
                <a:solidFill>
                  <a:srgbClr val="B5452B"/>
                </a:solidFill>
                <a:latin typeface="Courier New"/>
              </a:rPr>
              <a:t>→ True</a:t>
            </a:r>
          </a:p>
          <a:p>
            <a:pPr algn="l">
              <a:spcAft>
                <a:spcPts val="200"/>
              </a:spcAft>
            </a:pPr>
            <a:r>
              <a:rPr sz="2400" b="0" i="0">
                <a:solidFill>
                  <a:srgbClr val="1A1A1A"/>
                </a:solidFill>
                <a:latin typeface="Courier New"/>
              </a:rPr>
              <a:t> </a:t>
            </a:r>
          </a:p>
          <a:p>
            <a:pPr algn="l">
              <a:spcAft>
                <a:spcPts val="200"/>
              </a:spcAft>
            </a:pPr>
            <a:r>
              <a:rPr sz="2400" b="0" i="0">
                <a:solidFill>
                  <a:srgbClr val="1A1A1A"/>
                </a:solidFill>
                <a:latin typeface="Courier New"/>
              </a:rPr>
              <a:t>name = "Bennet"</a:t>
            </a:r>
          </a:p>
          <a:p>
            <a:pPr algn="l">
              <a:spcAft>
                <a:spcPts val="200"/>
              </a:spcAft>
            </a:pPr>
            <a:r>
              <a:rPr sz="2400" b="0" i="0">
                <a:solidFill>
                  <a:srgbClr val="1A1A1A"/>
                </a:solidFill>
                <a:latin typeface="Courier New"/>
              </a:rPr>
              <a:t>name == "bennet"</a:t>
            </a:r>
          </a:p>
          <a:p>
            <a:pPr algn="l">
              <a:spcAft>
                <a:spcPts val="200"/>
              </a:spcAft>
            </a:pPr>
            <a:r>
              <a:rPr sz="2400" b="0" i="0">
                <a:solidFill>
                  <a:srgbClr val="B5452B"/>
                </a:solidFill>
                <a:latin typeface="Courier New"/>
              </a:rPr>
              <a:t>→ False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Three ways to call a tool</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5</a:t>
            </a:r>
          </a:p>
        </p:txBody>
      </p:sp>
      <p:sp>
        <p:nvSpPr>
          <p:cNvPr id="5" name="Rounded Rectangle 4"/>
          <p:cNvSpPr/>
          <p:nvPr/>
        </p:nvSpPr>
        <p:spPr>
          <a:xfrm>
            <a:off x="548640" y="1371600"/>
            <a:ext cx="11091672" cy="118872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63040"/>
            <a:ext cx="4114800" cy="365760"/>
          </a:xfrm>
          <a:prstGeom prst="rect">
            <a:avLst/>
          </a:prstGeom>
          <a:noFill/>
        </p:spPr>
        <p:txBody>
          <a:bodyPr wrap="square" anchor="t" lIns="0" rIns="0" tIns="0" bIns="0">
            <a:spAutoFit/>
          </a:bodyPr>
          <a:lstStyle/>
          <a:p>
            <a:pPr algn="l">
              <a:spcAft>
                <a:spcPts val="600"/>
              </a:spcAft>
            </a:pPr>
            <a:r>
              <a:rPr sz="1600" b="1" i="0">
                <a:solidFill>
                  <a:srgbClr val="B5452B"/>
                </a:solidFill>
                <a:latin typeface="Calibri"/>
              </a:rPr>
              <a:t>FUNCTION</a:t>
            </a:r>
          </a:p>
        </p:txBody>
      </p:sp>
      <p:sp>
        <p:nvSpPr>
          <p:cNvPr id="7" name="TextBox 6"/>
          <p:cNvSpPr txBox="1"/>
          <p:nvPr/>
        </p:nvSpPr>
        <p:spPr>
          <a:xfrm>
            <a:off x="777240" y="1828800"/>
            <a:ext cx="4206240" cy="594360"/>
          </a:xfrm>
          <a:prstGeom prst="rect">
            <a:avLst/>
          </a:prstGeom>
          <a:noFill/>
        </p:spPr>
        <p:txBody>
          <a:bodyPr wrap="square" anchor="t" lIns="0" rIns="0" tIns="0" bIns="0">
            <a:spAutoFit/>
          </a:bodyPr>
          <a:lstStyle/>
          <a:p>
            <a:pPr algn="l">
              <a:spcAft>
                <a:spcPts val="600"/>
              </a:spcAft>
            </a:pPr>
            <a:r>
              <a:rPr sz="2400" b="0" i="0">
                <a:solidFill>
                  <a:srgbClr val="1F3A34"/>
                </a:solidFill>
                <a:latin typeface="Courier New"/>
              </a:rPr>
              <a:t>function(thing)</a:t>
            </a:r>
          </a:p>
        </p:txBody>
      </p:sp>
      <p:sp>
        <p:nvSpPr>
          <p:cNvPr id="8" name="TextBox 7"/>
          <p:cNvSpPr txBox="1"/>
          <p:nvPr/>
        </p:nvSpPr>
        <p:spPr>
          <a:xfrm>
            <a:off x="5120640" y="1828800"/>
            <a:ext cx="3566160" cy="594360"/>
          </a:xfrm>
          <a:prstGeom prst="rect">
            <a:avLst/>
          </a:prstGeom>
          <a:noFill/>
        </p:spPr>
        <p:txBody>
          <a:bodyPr wrap="square" anchor="t" lIns="0" rIns="0" tIns="0" bIns="0">
            <a:spAutoFit/>
          </a:bodyPr>
          <a:lstStyle/>
          <a:p>
            <a:pPr algn="l">
              <a:spcAft>
                <a:spcPts val="600"/>
              </a:spcAft>
            </a:pPr>
            <a:r>
              <a:rPr sz="2400" b="0" i="0">
                <a:solidFill>
                  <a:srgbClr val="1A1A1A"/>
                </a:solidFill>
                <a:latin typeface="Courier New"/>
              </a:rPr>
              <a:t>len(sample)</a:t>
            </a:r>
          </a:p>
        </p:txBody>
      </p:sp>
      <p:sp>
        <p:nvSpPr>
          <p:cNvPr id="9" name="TextBox 8"/>
          <p:cNvSpPr txBox="1"/>
          <p:nvPr/>
        </p:nvSpPr>
        <p:spPr>
          <a:xfrm>
            <a:off x="8778240" y="1554480"/>
            <a:ext cx="2743200" cy="914400"/>
          </a:xfrm>
          <a:prstGeom prst="rect">
            <a:avLst/>
          </a:prstGeom>
          <a:noFill/>
        </p:spPr>
        <p:txBody>
          <a:bodyPr wrap="square" anchor="ctr" lIns="0" rIns="0" tIns="0" bIns="0">
            <a:spAutoFit/>
          </a:bodyPr>
          <a:lstStyle/>
          <a:p>
            <a:pPr algn="l">
              <a:spcAft>
                <a:spcPts val="600"/>
              </a:spcAft>
            </a:pPr>
            <a:r>
              <a:rPr sz="2000" b="0" i="1">
                <a:solidFill>
                  <a:srgbClr val="1A1A1A"/>
                </a:solidFill>
                <a:latin typeface="Calibri"/>
              </a:rPr>
              <a:t>do len to sample</a:t>
            </a:r>
          </a:p>
        </p:txBody>
      </p:sp>
      <p:sp>
        <p:nvSpPr>
          <p:cNvPr id="10" name="Rounded Rectangle 9"/>
          <p:cNvSpPr/>
          <p:nvPr/>
        </p:nvSpPr>
        <p:spPr>
          <a:xfrm>
            <a:off x="548640" y="2697480"/>
            <a:ext cx="11091672" cy="118872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788920"/>
            <a:ext cx="4114800" cy="365760"/>
          </a:xfrm>
          <a:prstGeom prst="rect">
            <a:avLst/>
          </a:prstGeom>
          <a:noFill/>
        </p:spPr>
        <p:txBody>
          <a:bodyPr wrap="square" anchor="t" lIns="0" rIns="0" tIns="0" bIns="0">
            <a:spAutoFit/>
          </a:bodyPr>
          <a:lstStyle/>
          <a:p>
            <a:pPr algn="l">
              <a:spcAft>
                <a:spcPts val="600"/>
              </a:spcAft>
            </a:pPr>
            <a:r>
              <a:rPr sz="1600" b="1" i="0">
                <a:solidFill>
                  <a:srgbClr val="B5452B"/>
                </a:solidFill>
                <a:latin typeface="Calibri"/>
              </a:rPr>
              <a:t>METHOD</a:t>
            </a:r>
          </a:p>
        </p:txBody>
      </p:sp>
      <p:sp>
        <p:nvSpPr>
          <p:cNvPr id="12" name="TextBox 11"/>
          <p:cNvSpPr txBox="1"/>
          <p:nvPr/>
        </p:nvSpPr>
        <p:spPr>
          <a:xfrm>
            <a:off x="777240" y="3154680"/>
            <a:ext cx="4206240" cy="594360"/>
          </a:xfrm>
          <a:prstGeom prst="rect">
            <a:avLst/>
          </a:prstGeom>
          <a:noFill/>
        </p:spPr>
        <p:txBody>
          <a:bodyPr wrap="square" anchor="t" lIns="0" rIns="0" tIns="0" bIns="0">
            <a:spAutoFit/>
          </a:bodyPr>
          <a:lstStyle/>
          <a:p>
            <a:pPr algn="l">
              <a:spcAft>
                <a:spcPts val="600"/>
              </a:spcAft>
            </a:pPr>
            <a:r>
              <a:rPr sz="2400" b="0" i="0">
                <a:solidFill>
                  <a:srgbClr val="1F3A34"/>
                </a:solidFill>
                <a:latin typeface="Courier New"/>
              </a:rPr>
              <a:t>thing.method()</a:t>
            </a:r>
          </a:p>
        </p:txBody>
      </p:sp>
      <p:sp>
        <p:nvSpPr>
          <p:cNvPr id="13" name="TextBox 12"/>
          <p:cNvSpPr txBox="1"/>
          <p:nvPr/>
        </p:nvSpPr>
        <p:spPr>
          <a:xfrm>
            <a:off x="5120640" y="3154680"/>
            <a:ext cx="3566160" cy="594360"/>
          </a:xfrm>
          <a:prstGeom prst="rect">
            <a:avLst/>
          </a:prstGeom>
          <a:noFill/>
        </p:spPr>
        <p:txBody>
          <a:bodyPr wrap="square" anchor="t" lIns="0" rIns="0" tIns="0" bIns="0">
            <a:spAutoFit/>
          </a:bodyPr>
          <a:lstStyle/>
          <a:p>
            <a:pPr algn="l">
              <a:spcAft>
                <a:spcPts val="600"/>
              </a:spcAft>
            </a:pPr>
            <a:r>
              <a:rPr sz="2400" b="0" i="0">
                <a:solidFill>
                  <a:srgbClr val="1A1A1A"/>
                </a:solidFill>
                <a:latin typeface="Courier New"/>
              </a:rPr>
              <a:t>sample.split()</a:t>
            </a:r>
          </a:p>
        </p:txBody>
      </p:sp>
      <p:sp>
        <p:nvSpPr>
          <p:cNvPr id="14" name="TextBox 13"/>
          <p:cNvSpPr txBox="1"/>
          <p:nvPr/>
        </p:nvSpPr>
        <p:spPr>
          <a:xfrm>
            <a:off x="8778240" y="2880360"/>
            <a:ext cx="2743200" cy="914400"/>
          </a:xfrm>
          <a:prstGeom prst="rect">
            <a:avLst/>
          </a:prstGeom>
          <a:noFill/>
        </p:spPr>
        <p:txBody>
          <a:bodyPr wrap="square" anchor="ctr" lIns="0" rIns="0" tIns="0" bIns="0">
            <a:spAutoFit/>
          </a:bodyPr>
          <a:lstStyle/>
          <a:p>
            <a:pPr algn="l">
              <a:spcAft>
                <a:spcPts val="600"/>
              </a:spcAft>
            </a:pPr>
            <a:r>
              <a:rPr sz="2000" b="0" i="1">
                <a:solidFill>
                  <a:srgbClr val="1A1A1A"/>
                </a:solidFill>
                <a:latin typeface="Calibri"/>
              </a:rPr>
              <a:t>take sample and split it</a:t>
            </a:r>
          </a:p>
        </p:txBody>
      </p:sp>
      <p:sp>
        <p:nvSpPr>
          <p:cNvPr id="15" name="Rounded Rectangle 14"/>
          <p:cNvSpPr/>
          <p:nvPr/>
        </p:nvSpPr>
        <p:spPr>
          <a:xfrm>
            <a:off x="548640" y="4023360"/>
            <a:ext cx="11091672" cy="118872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114800"/>
            <a:ext cx="4114800" cy="365760"/>
          </a:xfrm>
          <a:prstGeom prst="rect">
            <a:avLst/>
          </a:prstGeom>
          <a:noFill/>
        </p:spPr>
        <p:txBody>
          <a:bodyPr wrap="square" anchor="t" lIns="0" rIns="0" tIns="0" bIns="0">
            <a:spAutoFit/>
          </a:bodyPr>
          <a:lstStyle/>
          <a:p>
            <a:pPr algn="l">
              <a:spcAft>
                <a:spcPts val="600"/>
              </a:spcAft>
            </a:pPr>
            <a:r>
              <a:rPr sz="1600" b="1" i="0">
                <a:solidFill>
                  <a:srgbClr val="B5452B"/>
                </a:solidFill>
                <a:latin typeface="Calibri"/>
              </a:rPr>
              <a:t>MODULE FUNCTION</a:t>
            </a:r>
          </a:p>
        </p:txBody>
      </p:sp>
      <p:sp>
        <p:nvSpPr>
          <p:cNvPr id="17" name="TextBox 16"/>
          <p:cNvSpPr txBox="1"/>
          <p:nvPr/>
        </p:nvSpPr>
        <p:spPr>
          <a:xfrm>
            <a:off x="777240" y="4480560"/>
            <a:ext cx="4206240" cy="594360"/>
          </a:xfrm>
          <a:prstGeom prst="rect">
            <a:avLst/>
          </a:prstGeom>
          <a:noFill/>
        </p:spPr>
        <p:txBody>
          <a:bodyPr wrap="square" anchor="t" lIns="0" rIns="0" tIns="0" bIns="0">
            <a:spAutoFit/>
          </a:bodyPr>
          <a:lstStyle/>
          <a:p>
            <a:pPr algn="l">
              <a:spcAft>
                <a:spcPts val="600"/>
              </a:spcAft>
            </a:pPr>
            <a:r>
              <a:rPr sz="2400" b="0" i="0">
                <a:solidFill>
                  <a:srgbClr val="1F3A34"/>
                </a:solidFill>
                <a:latin typeface="Courier New"/>
              </a:rPr>
              <a:t>module.function()</a:t>
            </a:r>
          </a:p>
        </p:txBody>
      </p:sp>
      <p:sp>
        <p:nvSpPr>
          <p:cNvPr id="18" name="TextBox 17"/>
          <p:cNvSpPr txBox="1"/>
          <p:nvPr/>
        </p:nvSpPr>
        <p:spPr>
          <a:xfrm>
            <a:off x="5120640" y="4480560"/>
            <a:ext cx="3566160" cy="594360"/>
          </a:xfrm>
          <a:prstGeom prst="rect">
            <a:avLst/>
          </a:prstGeom>
          <a:noFill/>
        </p:spPr>
        <p:txBody>
          <a:bodyPr wrap="square" anchor="t" lIns="0" rIns="0" tIns="0" bIns="0">
            <a:spAutoFit/>
          </a:bodyPr>
          <a:lstStyle/>
          <a:p>
            <a:pPr algn="l">
              <a:spcAft>
                <a:spcPts val="600"/>
              </a:spcAft>
            </a:pPr>
            <a:r>
              <a:rPr sz="2400" b="0" i="0">
                <a:solidFill>
                  <a:srgbClr val="1A1A1A"/>
                </a:solidFill>
                <a:latin typeface="Courier New"/>
              </a:rPr>
              <a:t>statistics.mean(x)</a:t>
            </a:r>
          </a:p>
        </p:txBody>
      </p:sp>
      <p:sp>
        <p:nvSpPr>
          <p:cNvPr id="19" name="TextBox 18"/>
          <p:cNvSpPr txBox="1"/>
          <p:nvPr/>
        </p:nvSpPr>
        <p:spPr>
          <a:xfrm>
            <a:off x="8778240" y="4206240"/>
            <a:ext cx="2743200" cy="914400"/>
          </a:xfrm>
          <a:prstGeom prst="rect">
            <a:avLst/>
          </a:prstGeom>
          <a:noFill/>
        </p:spPr>
        <p:txBody>
          <a:bodyPr wrap="square" anchor="ctr" lIns="0" rIns="0" tIns="0" bIns="0">
            <a:spAutoFit/>
          </a:bodyPr>
          <a:lstStyle/>
          <a:p>
            <a:pPr algn="l">
              <a:spcAft>
                <a:spcPts val="600"/>
              </a:spcAft>
            </a:pPr>
            <a:r>
              <a:rPr sz="2000" b="0" i="1">
                <a:solidFill>
                  <a:srgbClr val="1A1A1A"/>
                </a:solidFill>
                <a:latin typeface="Calibri"/>
              </a:rPr>
              <a:t>mean, from the statistics module</a:t>
            </a:r>
          </a:p>
        </p:txBody>
      </p:sp>
      <p:sp>
        <p:nvSpPr>
          <p:cNvPr id="20" name="TextBox 19"/>
          <p:cNvSpPr txBox="1"/>
          <p:nvPr/>
        </p:nvSpPr>
        <p:spPr>
          <a:xfrm>
            <a:off x="548640" y="5440680"/>
            <a:ext cx="11064240" cy="731520"/>
          </a:xfrm>
          <a:prstGeom prst="rect">
            <a:avLst/>
          </a:prstGeom>
          <a:noFill/>
        </p:spPr>
        <p:txBody>
          <a:bodyPr wrap="square" anchor="t" lIns="0" rIns="0" tIns="0" bIns="0">
            <a:spAutoFit/>
          </a:bodyPr>
          <a:lstStyle/>
          <a:p>
            <a:pPr algn="l">
              <a:spcAft>
                <a:spcPts val="600"/>
              </a:spcAft>
            </a:pPr>
            <a:r>
              <a:rPr sz="2400" b="0" i="0">
                <a:solidFill>
                  <a:srgbClr val="B5452B"/>
                </a:solidFill>
                <a:latin typeface="Courier New"/>
              </a:rPr>
              <a:t>sample.split()</a:t>
            </a:r>
            <a:r>
              <a:rPr sz="2400" b="0" i="0">
                <a:solidFill>
                  <a:srgbClr val="1A1A1A"/>
                </a:solidFill>
                <a:latin typeface="Calibri"/>
              </a:rPr>
              <a:t>  vs  </a:t>
            </a:r>
            <a:r>
              <a:rPr sz="2400" b="0" i="0">
                <a:solidFill>
                  <a:srgbClr val="B5452B"/>
                </a:solidFill>
                <a:latin typeface="Courier New"/>
              </a:rPr>
              <a:t>re.split(pattern, sample)</a:t>
            </a:r>
            <a:r>
              <a:rPr sz="2400" b="0" i="0">
                <a:solidFill>
                  <a:srgbClr val="1A1A1A"/>
                </a:solidFill>
                <a:latin typeface="Calibri"/>
              </a:rPr>
              <a:t>: same job, different tool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What goes in, what comes back</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6</a:t>
            </a:r>
          </a:p>
        </p:txBody>
      </p:sp>
      <p:sp>
        <p:nvSpPr>
          <p:cNvPr id="5" name="Rounded Rectangle 4"/>
          <p:cNvSpPr/>
          <p:nvPr/>
        </p:nvSpPr>
        <p:spPr>
          <a:xfrm>
            <a:off x="548640" y="1371600"/>
            <a:ext cx="6400800" cy="475488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6035040" cy="4480560"/>
          </a:xfrm>
          <a:prstGeom prst="rect">
            <a:avLst/>
          </a:prstGeom>
          <a:noFill/>
        </p:spPr>
        <p:txBody>
          <a:bodyPr wrap="square" anchor="t" lIns="45720" rIns="45720">
            <a:spAutoFit/>
          </a:bodyPr>
          <a:lstStyle/>
          <a:p>
            <a:pPr algn="l">
              <a:spcAft>
                <a:spcPts val="200"/>
              </a:spcAft>
            </a:pPr>
            <a:r>
              <a:rPr sz="2000" b="0" i="0">
                <a:solidFill>
                  <a:srgbClr val="1A1A1A"/>
                </a:solidFill>
                <a:latin typeface="Courier New"/>
              </a:rPr>
              <a:t/>
            </a:r>
            <a:r>
              <a:rPr sz="2000" b="0" i="1">
                <a:solidFill>
                  <a:srgbClr val="55605B"/>
                </a:solidFill>
                <a:latin typeface="Courier New"/>
              </a:rPr>
              <a:t># one argument</a:t>
            </a:r>
          </a:p>
          <a:p>
            <a:pPr algn="l">
              <a:spcAft>
                <a:spcPts val="200"/>
              </a:spcAft>
            </a:pPr>
            <a:r>
              <a:rPr sz="2000" b="0" i="0">
                <a:solidFill>
                  <a:srgbClr val="1A1A1A"/>
                </a:solidFill>
                <a:latin typeface="Courier New"/>
              </a:rPr>
              <a:t>len(sample)</a:t>
            </a:r>
          </a:p>
          <a:p>
            <a:pPr algn="l">
              <a:spcAft>
                <a:spcPts val="200"/>
              </a:spcAft>
            </a:pPr>
            <a:r>
              <a:rPr sz="2000" b="0" i="0">
                <a:solidFill>
                  <a:srgbClr val="B5452B"/>
                </a:solidFill>
                <a:latin typeface="Courier New"/>
              </a:rPr>
              <a:t>→ 196</a:t>
            </a:r>
          </a:p>
          <a:p>
            <a:pPr algn="l">
              <a:spcAft>
                <a:spcPts val="200"/>
              </a:spcAft>
            </a:pPr>
            <a:r>
              <a:rPr sz="2000" b="0" i="0">
                <a:solidFill>
                  <a:srgbClr val="1A1A1A"/>
                </a:solidFill>
                <a:latin typeface="Courier New"/>
              </a:rPr>
              <a:t> </a:t>
            </a:r>
          </a:p>
          <a:p>
            <a:pPr algn="l">
              <a:spcAft>
                <a:spcPts val="200"/>
              </a:spcAft>
            </a:pPr>
            <a:r>
              <a:rPr sz="2000" b="0" i="0">
                <a:solidFill>
                  <a:srgbClr val="1A1A1A"/>
                </a:solidFill>
                <a:latin typeface="Courier New"/>
              </a:rPr>
              <a:t/>
            </a:r>
            <a:r>
              <a:rPr sz="2000" b="0" i="1">
                <a:solidFill>
                  <a:srgbClr val="55605B"/>
                </a:solidFill>
                <a:latin typeface="Courier New"/>
              </a:rPr>
              <a:t># two arguments</a:t>
            </a:r>
          </a:p>
          <a:p>
            <a:pPr algn="l">
              <a:spcAft>
                <a:spcPts val="200"/>
              </a:spcAft>
            </a:pPr>
            <a:r>
              <a:rPr sz="2000" b="0" i="0">
                <a:solidFill>
                  <a:srgbClr val="1A1A1A"/>
                </a:solidFill>
                <a:latin typeface="Courier New"/>
              </a:rPr>
              <a:t>sample.replace("Bennet", "Darcy")</a:t>
            </a:r>
          </a:p>
          <a:p>
            <a:pPr algn="l">
              <a:spcAft>
                <a:spcPts val="200"/>
              </a:spcAft>
            </a:pPr>
            <a:r>
              <a:rPr sz="2000" b="0" i="0">
                <a:solidFill>
                  <a:srgbClr val="B5452B"/>
                </a:solidFill>
                <a:latin typeface="Courier New"/>
              </a:rPr>
              <a:t>→ 'Mr. Darcy looked up ...'</a:t>
            </a:r>
          </a:p>
          <a:p>
            <a:pPr algn="l">
              <a:spcAft>
                <a:spcPts val="200"/>
              </a:spcAft>
            </a:pPr>
            <a:r>
              <a:rPr sz="2000" b="0" i="0">
                <a:solidFill>
                  <a:srgbClr val="1A1A1A"/>
                </a:solidFill>
                <a:latin typeface="Courier New"/>
              </a:rPr>
              <a:t> </a:t>
            </a:r>
          </a:p>
          <a:p>
            <a:pPr algn="l">
              <a:spcAft>
                <a:spcPts val="200"/>
              </a:spcAft>
            </a:pPr>
            <a:r>
              <a:rPr sz="2000" b="0" i="0">
                <a:solidFill>
                  <a:srgbClr val="1A1A1A"/>
                </a:solidFill>
                <a:latin typeface="Courier New"/>
              </a:rPr>
              <a:t/>
            </a:r>
            <a:r>
              <a:rPr sz="2000" b="0" i="1">
                <a:solidFill>
                  <a:srgbClr val="55605B"/>
                </a:solidFill>
                <a:latin typeface="Courier New"/>
              </a:rPr>
              <a:t># the original is unchanged</a:t>
            </a:r>
          </a:p>
          <a:p>
            <a:pPr algn="l">
              <a:spcAft>
                <a:spcPts val="200"/>
              </a:spcAft>
            </a:pPr>
            <a:r>
              <a:rPr sz="2000" b="0" i="0">
                <a:solidFill>
                  <a:srgbClr val="1A1A1A"/>
                </a:solidFill>
                <a:latin typeface="Courier New"/>
              </a:rPr>
              <a:t>sample</a:t>
            </a:r>
          </a:p>
          <a:p>
            <a:pPr algn="l">
              <a:spcAft>
                <a:spcPts val="200"/>
              </a:spcAft>
            </a:pPr>
            <a:r>
              <a:rPr sz="2000" b="0" i="0">
                <a:solidFill>
                  <a:srgbClr val="B5452B"/>
                </a:solidFill>
                <a:latin typeface="Courier New"/>
              </a:rPr>
              <a:t>→ 'Mr. Bennet looked up ...'</a:t>
            </a:r>
          </a:p>
        </p:txBody>
      </p:sp>
      <p:sp>
        <p:nvSpPr>
          <p:cNvPr id="7" name="TextBox 6"/>
          <p:cNvSpPr txBox="1"/>
          <p:nvPr/>
        </p:nvSpPr>
        <p:spPr>
          <a:xfrm>
            <a:off x="7315200" y="1371600"/>
            <a:ext cx="4325112" cy="4754880"/>
          </a:xfrm>
          <a:prstGeom prst="rect">
            <a:avLst/>
          </a:prstGeom>
          <a:noFill/>
        </p:spPr>
        <p:txBody>
          <a:bodyPr wrap="square" anchor="t" lIns="0" rIns="0" tIns="0" bIns="0">
            <a:spAutoFit/>
          </a:bodyPr>
          <a:lstStyle/>
          <a:p>
            <a:pPr algn="l">
              <a:spcAft>
                <a:spcPts val="600"/>
              </a:spcAft>
            </a:pPr>
            <a:r>
              <a:rPr sz="2800" b="1" i="0">
                <a:solidFill>
                  <a:srgbClr val="1F3A34"/>
                </a:solidFill>
                <a:latin typeface="Calibri"/>
              </a:rPr>
              <a:t>Arguments</a:t>
            </a:r>
          </a:p>
          <a:p>
            <a:pPr algn="l">
              <a:spcAft>
                <a:spcPts val="600"/>
              </a:spcAft>
            </a:pPr>
            <a:r>
              <a:rPr sz="2400" b="0" i="0">
                <a:solidFill>
                  <a:srgbClr val="1A1A1A"/>
                </a:solidFill>
                <a:latin typeface="Calibri"/>
              </a:rPr>
              <a:t>go inside the brackets, separated by commas.</a:t>
            </a:r>
          </a:p>
          <a:p>
            <a:pPr algn="l">
              <a:spcAft>
                <a:spcPts val="600"/>
              </a:spcAft>
            </a:pPr>
            <a:r>
              <a:rPr sz="2400" b="0" i="0">
                <a:solidFill>
                  <a:srgbClr val="1A1A1A"/>
                </a:solidFill>
                <a:latin typeface="Calibri"/>
              </a:rPr>
              <a:t> </a:t>
            </a:r>
          </a:p>
          <a:p>
            <a:pPr algn="l">
              <a:spcAft>
                <a:spcPts val="600"/>
              </a:spcAft>
            </a:pPr>
            <a:r>
              <a:rPr sz="2800" b="1" i="0">
                <a:solidFill>
                  <a:srgbClr val="1F3A34"/>
                </a:solidFill>
                <a:latin typeface="Calibri"/>
              </a:rPr>
              <a:t>Return values</a:t>
            </a:r>
          </a:p>
          <a:p>
            <a:pPr algn="l">
              <a:spcAft>
                <a:spcPts val="600"/>
              </a:spcAft>
            </a:pPr>
            <a:r>
              <a:rPr sz="2400" b="0" i="0">
                <a:solidFill>
                  <a:srgbClr val="1A1A1A"/>
                </a:solidFill>
                <a:latin typeface="Calibri"/>
              </a:rPr>
              <a:t>are what comes back. Keep one by naming it.</a:t>
            </a:r>
          </a:p>
          <a:p>
            <a:pPr algn="l">
              <a:spcAft>
                <a:spcPts val="600"/>
              </a:spcAft>
            </a:pPr>
            <a:r>
              <a:rPr sz="2400" b="0" i="0">
                <a:solidFill>
                  <a:srgbClr val="1A1A1A"/>
                </a:solidFill>
                <a:latin typeface="Calibri"/>
              </a:rPr>
              <a:t> </a:t>
            </a:r>
          </a:p>
          <a:p>
            <a:pPr algn="l">
              <a:spcAft>
                <a:spcPts val="600"/>
              </a:spcAft>
            </a:pPr>
            <a:r>
              <a:rPr sz="2400" b="0" i="0">
                <a:solidFill>
                  <a:srgbClr val="B5452B"/>
                </a:solidFill>
                <a:latin typeface="Courier New"/>
              </a:rPr>
              <a:t>print(x)</a:t>
            </a:r>
            <a:r>
              <a:rPr sz="2400" b="0" i="0">
                <a:solidFill>
                  <a:srgbClr val="1A1A1A"/>
                </a:solidFill>
                <a:latin typeface="Calibri"/>
              </a:rPr>
              <a:t> shows x, but gives back nothing.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Strings: text and its methods</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7</a:t>
            </a:r>
          </a:p>
        </p:txBody>
      </p:sp>
      <p:sp>
        <p:nvSpPr>
          <p:cNvPr id="5" name="TextBox 4"/>
          <p:cNvSpPr txBox="1"/>
          <p:nvPr/>
        </p:nvSpPr>
        <p:spPr>
          <a:xfrm>
            <a:off x="548640" y="1371600"/>
            <a:ext cx="4937760" cy="457200"/>
          </a:xfrm>
          <a:prstGeom prst="rect">
            <a:avLst/>
          </a:prstGeom>
          <a:noFill/>
        </p:spPr>
        <p:txBody>
          <a:bodyPr wrap="square" anchor="t" lIns="0" rIns="0" tIns="0" bIns="0">
            <a:spAutoFit/>
          </a:bodyPr>
          <a:lstStyle/>
          <a:p>
            <a:pPr algn="l">
              <a:spcAft>
                <a:spcPts val="600"/>
              </a:spcAft>
            </a:pPr>
            <a:r>
              <a:rPr sz="2800" b="1" i="0">
                <a:solidFill>
                  <a:srgbClr val="1F3A34"/>
                </a:solidFill>
                <a:latin typeface="Calibri"/>
              </a:rPr>
              <a:t>Quotes must match</a:t>
            </a:r>
          </a:p>
        </p:txBody>
      </p:sp>
      <p:sp>
        <p:nvSpPr>
          <p:cNvPr id="6" name="Rounded Rectangle 5"/>
          <p:cNvSpPr/>
          <p:nvPr/>
        </p:nvSpPr>
        <p:spPr>
          <a:xfrm>
            <a:off x="548640" y="1965960"/>
            <a:ext cx="4937760" cy="182880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4572000" cy="1554480"/>
          </a:xfrm>
          <a:prstGeom prst="rect">
            <a:avLst/>
          </a:prstGeom>
          <a:noFill/>
        </p:spPr>
        <p:txBody>
          <a:bodyPr wrap="square" anchor="t" lIns="45720" rIns="45720">
            <a:spAutoFit/>
          </a:bodyPr>
          <a:lstStyle/>
          <a:p>
            <a:pPr algn="l">
              <a:spcAft>
                <a:spcPts val="200"/>
              </a:spcAft>
            </a:pPr>
            <a:r>
              <a:rPr sz="2400" b="0" i="0">
                <a:solidFill>
                  <a:srgbClr val="1A1A1A"/>
                </a:solidFill>
                <a:latin typeface="Courier New"/>
              </a:rPr>
              <a:t>'Mr. Bennet'</a:t>
            </a:r>
          </a:p>
          <a:p>
            <a:pPr algn="l">
              <a:spcAft>
                <a:spcPts val="200"/>
              </a:spcAft>
            </a:pPr>
            <a:r>
              <a:rPr sz="2400" b="0" i="0">
                <a:solidFill>
                  <a:srgbClr val="1A1A1A"/>
                </a:solidFill>
                <a:latin typeface="Courier New"/>
              </a:rPr>
              <a:t>"my dear?"</a:t>
            </a:r>
          </a:p>
          <a:p>
            <a:pPr algn="l">
              <a:spcAft>
                <a:spcPts val="200"/>
              </a:spcAft>
            </a:pPr>
            <a:r>
              <a:rPr sz="2400" b="0" i="0">
                <a:solidFill>
                  <a:srgbClr val="1A1A1A"/>
                </a:solidFill>
                <a:latin typeface="Courier New"/>
              </a:rPr>
              <a:t>'"Is it?" he said.'</a:t>
            </a:r>
          </a:p>
        </p:txBody>
      </p:sp>
      <p:sp>
        <p:nvSpPr>
          <p:cNvPr id="8" name="TextBox 7"/>
          <p:cNvSpPr txBox="1"/>
          <p:nvPr/>
        </p:nvSpPr>
        <p:spPr>
          <a:xfrm>
            <a:off x="548640" y="4023360"/>
            <a:ext cx="4937760" cy="1828800"/>
          </a:xfrm>
          <a:prstGeom prst="rect">
            <a:avLst/>
          </a:prstGeom>
          <a:noFill/>
        </p:spPr>
        <p:txBody>
          <a:bodyPr wrap="square" anchor="t" lIns="0" rIns="0" tIns="0" bIns="0">
            <a:spAutoFit/>
          </a:bodyPr>
          <a:lstStyle/>
          <a:p>
            <a:pPr algn="l">
              <a:spcAft>
                <a:spcPts val="600"/>
              </a:spcAft>
            </a:pPr>
            <a:r>
              <a:rPr sz="2400" b="0" i="0">
                <a:solidFill>
                  <a:srgbClr val="1A1A1A"/>
                </a:solidFill>
                <a:latin typeface="Calibri"/>
              </a:rPr>
              <a:t>Text with double quotes goes inside single quotes.</a:t>
            </a:r>
          </a:p>
        </p:txBody>
      </p:sp>
      <p:sp>
        <p:nvSpPr>
          <p:cNvPr id="9" name="TextBox 8"/>
          <p:cNvSpPr txBox="1"/>
          <p:nvPr/>
        </p:nvSpPr>
        <p:spPr>
          <a:xfrm>
            <a:off x="5943600" y="1371600"/>
            <a:ext cx="3657600" cy="640080"/>
          </a:xfrm>
          <a:prstGeom prst="rect">
            <a:avLst/>
          </a:prstGeom>
          <a:noFill/>
        </p:spPr>
        <p:txBody>
          <a:bodyPr wrap="square" anchor="ctr" lIns="0" rIns="0" tIns="0" bIns="0">
            <a:spAutoFit/>
          </a:bodyPr>
          <a:lstStyle/>
          <a:p>
            <a:pPr algn="l">
              <a:spcAft>
                <a:spcPts val="600"/>
              </a:spcAft>
            </a:pPr>
            <a:r>
              <a:rPr sz="2400" b="0" i="0">
                <a:solidFill>
                  <a:srgbClr val="B5452B"/>
                </a:solidFill>
                <a:latin typeface="Courier New"/>
              </a:rPr>
              <a:t>.lower()</a:t>
            </a:r>
          </a:p>
        </p:txBody>
      </p:sp>
      <p:sp>
        <p:nvSpPr>
          <p:cNvPr id="10" name="TextBox 9"/>
          <p:cNvSpPr txBox="1"/>
          <p:nvPr/>
        </p:nvSpPr>
        <p:spPr>
          <a:xfrm>
            <a:off x="9692640" y="1371600"/>
            <a:ext cx="201168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lower case</a:t>
            </a:r>
          </a:p>
        </p:txBody>
      </p:sp>
      <p:sp>
        <p:nvSpPr>
          <p:cNvPr id="11" name="TextBox 10"/>
          <p:cNvSpPr txBox="1"/>
          <p:nvPr/>
        </p:nvSpPr>
        <p:spPr>
          <a:xfrm>
            <a:off x="5943600" y="2148840"/>
            <a:ext cx="3657600" cy="640080"/>
          </a:xfrm>
          <a:prstGeom prst="rect">
            <a:avLst/>
          </a:prstGeom>
          <a:noFill/>
        </p:spPr>
        <p:txBody>
          <a:bodyPr wrap="square" anchor="ctr" lIns="0" rIns="0" tIns="0" bIns="0">
            <a:spAutoFit/>
          </a:bodyPr>
          <a:lstStyle/>
          <a:p>
            <a:pPr algn="l">
              <a:spcAft>
                <a:spcPts val="600"/>
              </a:spcAft>
            </a:pPr>
            <a:r>
              <a:rPr sz="2400" b="0" i="0">
                <a:solidFill>
                  <a:srgbClr val="B5452B"/>
                </a:solidFill>
                <a:latin typeface="Courier New"/>
              </a:rPr>
              <a:t>.upper()</a:t>
            </a:r>
          </a:p>
        </p:txBody>
      </p:sp>
      <p:sp>
        <p:nvSpPr>
          <p:cNvPr id="12" name="TextBox 11"/>
          <p:cNvSpPr txBox="1"/>
          <p:nvPr/>
        </p:nvSpPr>
        <p:spPr>
          <a:xfrm>
            <a:off x="9692640" y="2148840"/>
            <a:ext cx="201168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capitals</a:t>
            </a:r>
          </a:p>
        </p:txBody>
      </p:sp>
      <p:sp>
        <p:nvSpPr>
          <p:cNvPr id="13" name="TextBox 12"/>
          <p:cNvSpPr txBox="1"/>
          <p:nvPr/>
        </p:nvSpPr>
        <p:spPr>
          <a:xfrm>
            <a:off x="5943600" y="2926080"/>
            <a:ext cx="3657600" cy="640080"/>
          </a:xfrm>
          <a:prstGeom prst="rect">
            <a:avLst/>
          </a:prstGeom>
          <a:noFill/>
        </p:spPr>
        <p:txBody>
          <a:bodyPr wrap="square" anchor="ctr" lIns="0" rIns="0" tIns="0" bIns="0">
            <a:spAutoFit/>
          </a:bodyPr>
          <a:lstStyle/>
          <a:p>
            <a:pPr algn="l">
              <a:spcAft>
                <a:spcPts val="600"/>
              </a:spcAft>
            </a:pPr>
            <a:r>
              <a:rPr sz="2400" b="0" i="0">
                <a:solidFill>
                  <a:srgbClr val="B5452B"/>
                </a:solidFill>
                <a:latin typeface="Courier New"/>
              </a:rPr>
              <a:t>.count("x")</a:t>
            </a:r>
          </a:p>
        </p:txBody>
      </p:sp>
      <p:sp>
        <p:nvSpPr>
          <p:cNvPr id="14" name="TextBox 13"/>
          <p:cNvSpPr txBox="1"/>
          <p:nvPr/>
        </p:nvSpPr>
        <p:spPr>
          <a:xfrm>
            <a:off x="9692640" y="2926080"/>
            <a:ext cx="201168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how many x</a:t>
            </a:r>
          </a:p>
        </p:txBody>
      </p:sp>
      <p:sp>
        <p:nvSpPr>
          <p:cNvPr id="15" name="TextBox 14"/>
          <p:cNvSpPr txBox="1"/>
          <p:nvPr/>
        </p:nvSpPr>
        <p:spPr>
          <a:xfrm>
            <a:off x="5943600" y="3703320"/>
            <a:ext cx="3657600" cy="640080"/>
          </a:xfrm>
          <a:prstGeom prst="rect">
            <a:avLst/>
          </a:prstGeom>
          <a:noFill/>
        </p:spPr>
        <p:txBody>
          <a:bodyPr wrap="square" anchor="ctr" lIns="0" rIns="0" tIns="0" bIns="0">
            <a:spAutoFit/>
          </a:bodyPr>
          <a:lstStyle/>
          <a:p>
            <a:pPr algn="l">
              <a:spcAft>
                <a:spcPts val="600"/>
              </a:spcAft>
            </a:pPr>
            <a:r>
              <a:rPr sz="2400" b="0" i="0">
                <a:solidFill>
                  <a:srgbClr val="B5452B"/>
                </a:solidFill>
                <a:latin typeface="Courier New"/>
              </a:rPr>
              <a:t>.replace("a", "b")</a:t>
            </a:r>
          </a:p>
        </p:txBody>
      </p:sp>
      <p:sp>
        <p:nvSpPr>
          <p:cNvPr id="16" name="TextBox 15"/>
          <p:cNvSpPr txBox="1"/>
          <p:nvPr/>
        </p:nvSpPr>
        <p:spPr>
          <a:xfrm>
            <a:off x="9692640" y="3703320"/>
            <a:ext cx="201168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swap a for b</a:t>
            </a:r>
          </a:p>
        </p:txBody>
      </p:sp>
      <p:sp>
        <p:nvSpPr>
          <p:cNvPr id="17" name="TextBox 16"/>
          <p:cNvSpPr txBox="1"/>
          <p:nvPr/>
        </p:nvSpPr>
        <p:spPr>
          <a:xfrm>
            <a:off x="5943600" y="4480560"/>
            <a:ext cx="3657600" cy="640080"/>
          </a:xfrm>
          <a:prstGeom prst="rect">
            <a:avLst/>
          </a:prstGeom>
          <a:noFill/>
        </p:spPr>
        <p:txBody>
          <a:bodyPr wrap="square" anchor="ctr" lIns="0" rIns="0" tIns="0" bIns="0">
            <a:spAutoFit/>
          </a:bodyPr>
          <a:lstStyle/>
          <a:p>
            <a:pPr algn="l">
              <a:spcAft>
                <a:spcPts val="600"/>
              </a:spcAft>
            </a:pPr>
            <a:r>
              <a:rPr sz="2400" b="0" i="0">
                <a:solidFill>
                  <a:srgbClr val="B5452B"/>
                </a:solidFill>
                <a:latin typeface="Courier New"/>
              </a:rPr>
              <a:t>.split()</a:t>
            </a:r>
          </a:p>
        </p:txBody>
      </p:sp>
      <p:sp>
        <p:nvSpPr>
          <p:cNvPr id="18" name="TextBox 17"/>
          <p:cNvSpPr txBox="1"/>
          <p:nvPr/>
        </p:nvSpPr>
        <p:spPr>
          <a:xfrm>
            <a:off x="9692640" y="4480560"/>
            <a:ext cx="201168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list of words</a:t>
            </a:r>
          </a:p>
        </p:txBody>
      </p:sp>
      <p:sp>
        <p:nvSpPr>
          <p:cNvPr id="19" name="TextBox 18"/>
          <p:cNvSpPr txBox="1"/>
          <p:nvPr/>
        </p:nvSpPr>
        <p:spPr>
          <a:xfrm>
            <a:off x="5943600" y="5257800"/>
            <a:ext cx="3657600" cy="640080"/>
          </a:xfrm>
          <a:prstGeom prst="rect">
            <a:avLst/>
          </a:prstGeom>
          <a:noFill/>
        </p:spPr>
        <p:txBody>
          <a:bodyPr wrap="square" anchor="ctr" lIns="0" rIns="0" tIns="0" bIns="0">
            <a:spAutoFit/>
          </a:bodyPr>
          <a:lstStyle/>
          <a:p>
            <a:pPr algn="l">
              <a:spcAft>
                <a:spcPts val="600"/>
              </a:spcAft>
            </a:pPr>
            <a:r>
              <a:rPr sz="2400" b="0" i="0">
                <a:solidFill>
                  <a:srgbClr val="B5452B"/>
                </a:solidFill>
                <a:latin typeface="Courier New"/>
              </a:rPr>
              <a:t>.strip(".,")</a:t>
            </a:r>
          </a:p>
        </p:txBody>
      </p:sp>
      <p:sp>
        <p:nvSpPr>
          <p:cNvPr id="20" name="TextBox 19"/>
          <p:cNvSpPr txBox="1"/>
          <p:nvPr/>
        </p:nvSpPr>
        <p:spPr>
          <a:xfrm>
            <a:off x="9692640" y="5257800"/>
            <a:ext cx="201168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trim the ends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Lists: counting from 0, and from the end</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8</a:t>
            </a:r>
          </a:p>
        </p:txBody>
      </p:sp>
      <p:sp>
        <p:nvSpPr>
          <p:cNvPr id="5" name="TextBox 4"/>
          <p:cNvSpPr txBox="1"/>
          <p:nvPr/>
        </p:nvSpPr>
        <p:spPr>
          <a:xfrm>
            <a:off x="685800" y="1325879"/>
            <a:ext cx="1691640" cy="457200"/>
          </a:xfrm>
          <a:prstGeom prst="rect">
            <a:avLst/>
          </a:prstGeom>
          <a:noFill/>
        </p:spPr>
        <p:txBody>
          <a:bodyPr wrap="square" anchor="t" lIns="0" rIns="0" tIns="0" bIns="0">
            <a:spAutoFit/>
          </a:bodyPr>
          <a:lstStyle/>
          <a:p>
            <a:pPr algn="ctr">
              <a:spcAft>
                <a:spcPts val="600"/>
              </a:spcAft>
            </a:pPr>
            <a:r>
              <a:rPr sz="2400" b="0" i="0">
                <a:solidFill>
                  <a:srgbClr val="2E6F8E"/>
                </a:solidFill>
                <a:latin typeface="Courier New"/>
              </a:rPr>
              <a:t>0</a:t>
            </a:r>
          </a:p>
        </p:txBody>
      </p:sp>
      <p:sp>
        <p:nvSpPr>
          <p:cNvPr id="6" name="Rounded Rectangle 5"/>
          <p:cNvSpPr/>
          <p:nvPr/>
        </p:nvSpPr>
        <p:spPr>
          <a:xfrm>
            <a:off x="685800" y="1874519"/>
            <a:ext cx="1691640" cy="822960"/>
          </a:xfrm>
          <a:prstGeom prst="roundRect">
            <a:avLst>
              <a:gd name="adj" fmla="val 10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74519"/>
            <a:ext cx="1691640" cy="822960"/>
          </a:xfrm>
          <a:prstGeom prst="rect">
            <a:avLst/>
          </a:prstGeom>
          <a:noFill/>
        </p:spPr>
        <p:txBody>
          <a:bodyPr wrap="square" anchor="ctr" lIns="0" rIns="0" tIns="0" bIns="0">
            <a:spAutoFit/>
          </a:bodyPr>
          <a:lstStyle/>
          <a:p>
            <a:pPr algn="ctr">
              <a:spcAft>
                <a:spcPts val="600"/>
              </a:spcAft>
            </a:pPr>
            <a:r>
              <a:rPr sz="2000" b="0" i="0">
                <a:solidFill>
                  <a:srgbClr val="FFFFFF"/>
                </a:solidFill>
                <a:latin typeface="Courier New"/>
              </a:rPr>
              <a:t>'The'</a:t>
            </a:r>
          </a:p>
        </p:txBody>
      </p:sp>
      <p:sp>
        <p:nvSpPr>
          <p:cNvPr id="8" name="TextBox 7"/>
          <p:cNvSpPr txBox="1"/>
          <p:nvPr/>
        </p:nvSpPr>
        <p:spPr>
          <a:xfrm>
            <a:off x="685800" y="2788920"/>
            <a:ext cx="1691640" cy="457200"/>
          </a:xfrm>
          <a:prstGeom prst="rect">
            <a:avLst/>
          </a:prstGeom>
          <a:noFill/>
        </p:spPr>
        <p:txBody>
          <a:bodyPr wrap="square" anchor="t" lIns="0" rIns="0" tIns="0" bIns="0">
            <a:spAutoFit/>
          </a:bodyPr>
          <a:lstStyle/>
          <a:p>
            <a:pPr algn="ctr">
              <a:spcAft>
                <a:spcPts val="600"/>
              </a:spcAft>
            </a:pPr>
            <a:r>
              <a:rPr sz="2400" b="0" i="0">
                <a:solidFill>
                  <a:srgbClr val="B5452B"/>
                </a:solidFill>
                <a:latin typeface="Courier New"/>
              </a:rPr>
              <a:t>-6</a:t>
            </a:r>
          </a:p>
        </p:txBody>
      </p:sp>
      <p:sp>
        <p:nvSpPr>
          <p:cNvPr id="9" name="TextBox 8"/>
          <p:cNvSpPr txBox="1"/>
          <p:nvPr/>
        </p:nvSpPr>
        <p:spPr>
          <a:xfrm>
            <a:off x="2487168" y="1325879"/>
            <a:ext cx="1691640" cy="457200"/>
          </a:xfrm>
          <a:prstGeom prst="rect">
            <a:avLst/>
          </a:prstGeom>
          <a:noFill/>
        </p:spPr>
        <p:txBody>
          <a:bodyPr wrap="square" anchor="t" lIns="0" rIns="0" tIns="0" bIns="0">
            <a:spAutoFit/>
          </a:bodyPr>
          <a:lstStyle/>
          <a:p>
            <a:pPr algn="ctr">
              <a:spcAft>
                <a:spcPts val="600"/>
              </a:spcAft>
            </a:pPr>
            <a:r>
              <a:rPr sz="2400" b="0" i="0">
                <a:solidFill>
                  <a:srgbClr val="2E6F8E"/>
                </a:solidFill>
                <a:latin typeface="Courier New"/>
              </a:rPr>
              <a:t>1</a:t>
            </a:r>
          </a:p>
        </p:txBody>
      </p:sp>
      <p:sp>
        <p:nvSpPr>
          <p:cNvPr id="10" name="Rounded Rectangle 9"/>
          <p:cNvSpPr/>
          <p:nvPr/>
        </p:nvSpPr>
        <p:spPr>
          <a:xfrm>
            <a:off x="2487168" y="1874519"/>
            <a:ext cx="1691640" cy="822960"/>
          </a:xfrm>
          <a:prstGeom prst="roundRect">
            <a:avLst>
              <a:gd name="adj" fmla="val 10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87168" y="1874519"/>
            <a:ext cx="1691640" cy="822960"/>
          </a:xfrm>
          <a:prstGeom prst="rect">
            <a:avLst/>
          </a:prstGeom>
          <a:noFill/>
        </p:spPr>
        <p:txBody>
          <a:bodyPr wrap="square" anchor="ctr" lIns="0" rIns="0" tIns="0" bIns="0">
            <a:spAutoFit/>
          </a:bodyPr>
          <a:lstStyle/>
          <a:p>
            <a:pPr algn="ctr">
              <a:spcAft>
                <a:spcPts val="600"/>
              </a:spcAft>
            </a:pPr>
            <a:r>
              <a:rPr sz="2000" b="0" i="0">
                <a:solidFill>
                  <a:srgbClr val="FFFFFF"/>
                </a:solidFill>
                <a:latin typeface="Courier New"/>
              </a:rPr>
              <a:t>'whole'</a:t>
            </a:r>
          </a:p>
        </p:txBody>
      </p:sp>
      <p:sp>
        <p:nvSpPr>
          <p:cNvPr id="12" name="TextBox 11"/>
          <p:cNvSpPr txBox="1"/>
          <p:nvPr/>
        </p:nvSpPr>
        <p:spPr>
          <a:xfrm>
            <a:off x="2487168" y="2788920"/>
            <a:ext cx="1691640" cy="457200"/>
          </a:xfrm>
          <a:prstGeom prst="rect">
            <a:avLst/>
          </a:prstGeom>
          <a:noFill/>
        </p:spPr>
        <p:txBody>
          <a:bodyPr wrap="square" anchor="t" lIns="0" rIns="0" tIns="0" bIns="0">
            <a:spAutoFit/>
          </a:bodyPr>
          <a:lstStyle/>
          <a:p>
            <a:pPr algn="ctr">
              <a:spcAft>
                <a:spcPts val="600"/>
              </a:spcAft>
            </a:pPr>
            <a:r>
              <a:rPr sz="2400" b="0" i="0">
                <a:solidFill>
                  <a:srgbClr val="B5452B"/>
                </a:solidFill>
                <a:latin typeface="Courier New"/>
              </a:rPr>
              <a:t>-5</a:t>
            </a:r>
          </a:p>
        </p:txBody>
      </p:sp>
      <p:sp>
        <p:nvSpPr>
          <p:cNvPr id="13" name="TextBox 12"/>
          <p:cNvSpPr txBox="1"/>
          <p:nvPr/>
        </p:nvSpPr>
        <p:spPr>
          <a:xfrm>
            <a:off x="4288536" y="1325879"/>
            <a:ext cx="1691640" cy="457200"/>
          </a:xfrm>
          <a:prstGeom prst="rect">
            <a:avLst/>
          </a:prstGeom>
          <a:noFill/>
        </p:spPr>
        <p:txBody>
          <a:bodyPr wrap="square" anchor="t" lIns="0" rIns="0" tIns="0" bIns="0">
            <a:spAutoFit/>
          </a:bodyPr>
          <a:lstStyle/>
          <a:p>
            <a:pPr algn="ctr">
              <a:spcAft>
                <a:spcPts val="600"/>
              </a:spcAft>
            </a:pPr>
            <a:r>
              <a:rPr sz="2400" b="0" i="0">
                <a:solidFill>
                  <a:srgbClr val="2E6F8E"/>
                </a:solidFill>
                <a:latin typeface="Courier New"/>
              </a:rPr>
              <a:t>2</a:t>
            </a:r>
          </a:p>
        </p:txBody>
      </p:sp>
      <p:sp>
        <p:nvSpPr>
          <p:cNvPr id="14" name="Rounded Rectangle 13"/>
          <p:cNvSpPr/>
          <p:nvPr/>
        </p:nvSpPr>
        <p:spPr>
          <a:xfrm>
            <a:off x="4288536" y="1874519"/>
            <a:ext cx="1691640" cy="822960"/>
          </a:xfrm>
          <a:prstGeom prst="roundRect">
            <a:avLst>
              <a:gd name="adj" fmla="val 10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88536" y="1874519"/>
            <a:ext cx="1691640" cy="822960"/>
          </a:xfrm>
          <a:prstGeom prst="rect">
            <a:avLst/>
          </a:prstGeom>
          <a:noFill/>
        </p:spPr>
        <p:txBody>
          <a:bodyPr wrap="square" anchor="ctr" lIns="0" rIns="0" tIns="0" bIns="0">
            <a:spAutoFit/>
          </a:bodyPr>
          <a:lstStyle/>
          <a:p>
            <a:pPr algn="ctr">
              <a:spcAft>
                <a:spcPts val="600"/>
              </a:spcAft>
            </a:pPr>
            <a:r>
              <a:rPr sz="2000" b="0" i="0">
                <a:solidFill>
                  <a:srgbClr val="FFFFFF"/>
                </a:solidFill>
                <a:latin typeface="Courier New"/>
              </a:rPr>
              <a:t>'street'</a:t>
            </a:r>
          </a:p>
        </p:txBody>
      </p:sp>
      <p:sp>
        <p:nvSpPr>
          <p:cNvPr id="16" name="TextBox 15"/>
          <p:cNvSpPr txBox="1"/>
          <p:nvPr/>
        </p:nvSpPr>
        <p:spPr>
          <a:xfrm>
            <a:off x="4288536" y="2788920"/>
            <a:ext cx="1691640" cy="457200"/>
          </a:xfrm>
          <a:prstGeom prst="rect">
            <a:avLst/>
          </a:prstGeom>
          <a:noFill/>
        </p:spPr>
        <p:txBody>
          <a:bodyPr wrap="square" anchor="t" lIns="0" rIns="0" tIns="0" bIns="0">
            <a:spAutoFit/>
          </a:bodyPr>
          <a:lstStyle/>
          <a:p>
            <a:pPr algn="ctr">
              <a:spcAft>
                <a:spcPts val="600"/>
              </a:spcAft>
            </a:pPr>
            <a:r>
              <a:rPr sz="2400" b="0" i="0">
                <a:solidFill>
                  <a:srgbClr val="B5452B"/>
                </a:solidFill>
                <a:latin typeface="Courier New"/>
              </a:rPr>
              <a:t>-4</a:t>
            </a:r>
          </a:p>
        </p:txBody>
      </p:sp>
      <p:sp>
        <p:nvSpPr>
          <p:cNvPr id="17" name="TextBox 16"/>
          <p:cNvSpPr txBox="1"/>
          <p:nvPr/>
        </p:nvSpPr>
        <p:spPr>
          <a:xfrm>
            <a:off x="6089904" y="1325879"/>
            <a:ext cx="1691640" cy="457200"/>
          </a:xfrm>
          <a:prstGeom prst="rect">
            <a:avLst/>
          </a:prstGeom>
          <a:noFill/>
        </p:spPr>
        <p:txBody>
          <a:bodyPr wrap="square" anchor="t" lIns="0" rIns="0" tIns="0" bIns="0">
            <a:spAutoFit/>
          </a:bodyPr>
          <a:lstStyle/>
          <a:p>
            <a:pPr algn="ctr">
              <a:spcAft>
                <a:spcPts val="600"/>
              </a:spcAft>
            </a:pPr>
            <a:r>
              <a:rPr sz="2400" b="0" i="0">
                <a:solidFill>
                  <a:srgbClr val="2E6F8E"/>
                </a:solidFill>
                <a:latin typeface="Courier New"/>
              </a:rPr>
              <a:t>3</a:t>
            </a:r>
          </a:p>
        </p:txBody>
      </p:sp>
      <p:sp>
        <p:nvSpPr>
          <p:cNvPr id="18" name="Rounded Rectangle 17"/>
          <p:cNvSpPr/>
          <p:nvPr/>
        </p:nvSpPr>
        <p:spPr>
          <a:xfrm>
            <a:off x="6089904" y="1874519"/>
            <a:ext cx="1691640" cy="822960"/>
          </a:xfrm>
          <a:prstGeom prst="roundRect">
            <a:avLst>
              <a:gd name="adj" fmla="val 10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9904" y="1874519"/>
            <a:ext cx="1691640" cy="822960"/>
          </a:xfrm>
          <a:prstGeom prst="rect">
            <a:avLst/>
          </a:prstGeom>
          <a:noFill/>
        </p:spPr>
        <p:txBody>
          <a:bodyPr wrap="square" anchor="ctr" lIns="0" rIns="0" tIns="0" bIns="0">
            <a:spAutoFit/>
          </a:bodyPr>
          <a:lstStyle/>
          <a:p>
            <a:pPr algn="ctr">
              <a:spcAft>
                <a:spcPts val="600"/>
              </a:spcAft>
            </a:pPr>
            <a:r>
              <a:rPr sz="2000" b="0" i="0">
                <a:solidFill>
                  <a:srgbClr val="FFFFFF"/>
                </a:solidFill>
                <a:latin typeface="Courier New"/>
              </a:rPr>
              <a:t>'knew'</a:t>
            </a:r>
          </a:p>
        </p:txBody>
      </p:sp>
      <p:sp>
        <p:nvSpPr>
          <p:cNvPr id="20" name="TextBox 19"/>
          <p:cNvSpPr txBox="1"/>
          <p:nvPr/>
        </p:nvSpPr>
        <p:spPr>
          <a:xfrm>
            <a:off x="6089904" y="2788920"/>
            <a:ext cx="1691640" cy="457200"/>
          </a:xfrm>
          <a:prstGeom prst="rect">
            <a:avLst/>
          </a:prstGeom>
          <a:noFill/>
        </p:spPr>
        <p:txBody>
          <a:bodyPr wrap="square" anchor="t" lIns="0" rIns="0" tIns="0" bIns="0">
            <a:spAutoFit/>
          </a:bodyPr>
          <a:lstStyle/>
          <a:p>
            <a:pPr algn="ctr">
              <a:spcAft>
                <a:spcPts val="600"/>
              </a:spcAft>
            </a:pPr>
            <a:r>
              <a:rPr sz="2400" b="0" i="0">
                <a:solidFill>
                  <a:srgbClr val="B5452B"/>
                </a:solidFill>
                <a:latin typeface="Courier New"/>
              </a:rPr>
              <a:t>-3</a:t>
            </a:r>
          </a:p>
        </p:txBody>
      </p:sp>
      <p:sp>
        <p:nvSpPr>
          <p:cNvPr id="21" name="TextBox 20"/>
          <p:cNvSpPr txBox="1"/>
          <p:nvPr/>
        </p:nvSpPr>
        <p:spPr>
          <a:xfrm>
            <a:off x="7891272" y="1325879"/>
            <a:ext cx="1691640" cy="457200"/>
          </a:xfrm>
          <a:prstGeom prst="rect">
            <a:avLst/>
          </a:prstGeom>
          <a:noFill/>
        </p:spPr>
        <p:txBody>
          <a:bodyPr wrap="square" anchor="t" lIns="0" rIns="0" tIns="0" bIns="0">
            <a:spAutoFit/>
          </a:bodyPr>
          <a:lstStyle/>
          <a:p>
            <a:pPr algn="ctr">
              <a:spcAft>
                <a:spcPts val="600"/>
              </a:spcAft>
            </a:pPr>
            <a:r>
              <a:rPr sz="2400" b="0" i="0">
                <a:solidFill>
                  <a:srgbClr val="2E6F8E"/>
                </a:solidFill>
                <a:latin typeface="Courier New"/>
              </a:rPr>
              <a:t>4</a:t>
            </a:r>
          </a:p>
        </p:txBody>
      </p:sp>
      <p:sp>
        <p:nvSpPr>
          <p:cNvPr id="22" name="Rounded Rectangle 21"/>
          <p:cNvSpPr/>
          <p:nvPr/>
        </p:nvSpPr>
        <p:spPr>
          <a:xfrm>
            <a:off x="7891272" y="1874519"/>
            <a:ext cx="1691640" cy="822960"/>
          </a:xfrm>
          <a:prstGeom prst="roundRect">
            <a:avLst>
              <a:gd name="adj" fmla="val 10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91272" y="1874519"/>
            <a:ext cx="1691640" cy="822960"/>
          </a:xfrm>
          <a:prstGeom prst="rect">
            <a:avLst/>
          </a:prstGeom>
          <a:noFill/>
        </p:spPr>
        <p:txBody>
          <a:bodyPr wrap="square" anchor="ctr" lIns="0" rIns="0" tIns="0" bIns="0">
            <a:spAutoFit/>
          </a:bodyPr>
          <a:lstStyle/>
          <a:p>
            <a:pPr algn="ctr">
              <a:spcAft>
                <a:spcPts val="600"/>
              </a:spcAft>
            </a:pPr>
            <a:r>
              <a:rPr sz="2000" b="0" i="0">
                <a:solidFill>
                  <a:srgbClr val="FFFFFF"/>
                </a:solidFill>
                <a:latin typeface="Courier New"/>
              </a:rPr>
              <a:t>'by'</a:t>
            </a:r>
          </a:p>
        </p:txBody>
      </p:sp>
      <p:sp>
        <p:nvSpPr>
          <p:cNvPr id="24" name="TextBox 23"/>
          <p:cNvSpPr txBox="1"/>
          <p:nvPr/>
        </p:nvSpPr>
        <p:spPr>
          <a:xfrm>
            <a:off x="7891272" y="2788920"/>
            <a:ext cx="1691640" cy="457200"/>
          </a:xfrm>
          <a:prstGeom prst="rect">
            <a:avLst/>
          </a:prstGeom>
          <a:noFill/>
        </p:spPr>
        <p:txBody>
          <a:bodyPr wrap="square" anchor="t" lIns="0" rIns="0" tIns="0" bIns="0">
            <a:spAutoFit/>
          </a:bodyPr>
          <a:lstStyle/>
          <a:p>
            <a:pPr algn="ctr">
              <a:spcAft>
                <a:spcPts val="600"/>
              </a:spcAft>
            </a:pPr>
            <a:r>
              <a:rPr sz="2400" b="0" i="0">
                <a:solidFill>
                  <a:srgbClr val="B5452B"/>
                </a:solidFill>
                <a:latin typeface="Courier New"/>
              </a:rPr>
              <a:t>-2</a:t>
            </a:r>
          </a:p>
        </p:txBody>
      </p:sp>
      <p:sp>
        <p:nvSpPr>
          <p:cNvPr id="25" name="TextBox 24"/>
          <p:cNvSpPr txBox="1"/>
          <p:nvPr/>
        </p:nvSpPr>
        <p:spPr>
          <a:xfrm>
            <a:off x="9692640" y="1325879"/>
            <a:ext cx="1691640" cy="457200"/>
          </a:xfrm>
          <a:prstGeom prst="rect">
            <a:avLst/>
          </a:prstGeom>
          <a:noFill/>
        </p:spPr>
        <p:txBody>
          <a:bodyPr wrap="square" anchor="t" lIns="0" rIns="0" tIns="0" bIns="0">
            <a:spAutoFit/>
          </a:bodyPr>
          <a:lstStyle/>
          <a:p>
            <a:pPr algn="ctr">
              <a:spcAft>
                <a:spcPts val="600"/>
              </a:spcAft>
            </a:pPr>
            <a:r>
              <a:rPr sz="2400" b="0" i="0">
                <a:solidFill>
                  <a:srgbClr val="2E6F8E"/>
                </a:solidFill>
                <a:latin typeface="Courier New"/>
              </a:rPr>
              <a:t>5</a:t>
            </a:r>
          </a:p>
        </p:txBody>
      </p:sp>
      <p:sp>
        <p:nvSpPr>
          <p:cNvPr id="26" name="Rounded Rectangle 25"/>
          <p:cNvSpPr/>
          <p:nvPr/>
        </p:nvSpPr>
        <p:spPr>
          <a:xfrm>
            <a:off x="9692640" y="1874519"/>
            <a:ext cx="1691640" cy="822960"/>
          </a:xfrm>
          <a:prstGeom prst="roundRect">
            <a:avLst>
              <a:gd name="adj" fmla="val 10000"/>
            </a:avLst>
          </a:prstGeom>
          <a:solidFill>
            <a:srgbClr val="1F3A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0" y="1874519"/>
            <a:ext cx="1691640" cy="822960"/>
          </a:xfrm>
          <a:prstGeom prst="rect">
            <a:avLst/>
          </a:prstGeom>
          <a:noFill/>
        </p:spPr>
        <p:txBody>
          <a:bodyPr wrap="square" anchor="ctr" lIns="0" rIns="0" tIns="0" bIns="0">
            <a:spAutoFit/>
          </a:bodyPr>
          <a:lstStyle/>
          <a:p>
            <a:pPr algn="ctr">
              <a:spcAft>
                <a:spcPts val="600"/>
              </a:spcAft>
            </a:pPr>
            <a:r>
              <a:rPr sz="2000" b="0" i="0">
                <a:solidFill>
                  <a:srgbClr val="FFFFFF"/>
                </a:solidFill>
                <a:latin typeface="Courier New"/>
              </a:rPr>
              <a:t>'noon.'</a:t>
            </a:r>
          </a:p>
        </p:txBody>
      </p:sp>
      <p:sp>
        <p:nvSpPr>
          <p:cNvPr id="28" name="TextBox 27"/>
          <p:cNvSpPr txBox="1"/>
          <p:nvPr/>
        </p:nvSpPr>
        <p:spPr>
          <a:xfrm>
            <a:off x="9692640" y="2788920"/>
            <a:ext cx="1691640" cy="457200"/>
          </a:xfrm>
          <a:prstGeom prst="rect">
            <a:avLst/>
          </a:prstGeom>
          <a:noFill/>
        </p:spPr>
        <p:txBody>
          <a:bodyPr wrap="square" anchor="t" lIns="0" rIns="0" tIns="0" bIns="0">
            <a:spAutoFit/>
          </a:bodyPr>
          <a:lstStyle/>
          <a:p>
            <a:pPr algn="ctr">
              <a:spcAft>
                <a:spcPts val="600"/>
              </a:spcAft>
            </a:pPr>
            <a:r>
              <a:rPr sz="2400" b="0" i="0">
                <a:solidFill>
                  <a:srgbClr val="B5452B"/>
                </a:solidFill>
                <a:latin typeface="Courier New"/>
              </a:rPr>
              <a:t>-1</a:t>
            </a:r>
          </a:p>
        </p:txBody>
      </p:sp>
      <p:sp>
        <p:nvSpPr>
          <p:cNvPr id="29" name="Rounded Rectangle 28"/>
          <p:cNvSpPr/>
          <p:nvPr/>
        </p:nvSpPr>
        <p:spPr>
          <a:xfrm>
            <a:off x="548640" y="3429000"/>
            <a:ext cx="6949440" cy="269748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566160"/>
            <a:ext cx="6583679" cy="2423160"/>
          </a:xfrm>
          <a:prstGeom prst="rect">
            <a:avLst/>
          </a:prstGeom>
          <a:noFill/>
        </p:spPr>
        <p:txBody>
          <a:bodyPr wrap="square" anchor="t" lIns="45720" rIns="45720">
            <a:spAutoFit/>
          </a:bodyPr>
          <a:lstStyle/>
          <a:p>
            <a:pPr algn="l">
              <a:spcAft>
                <a:spcPts val="200"/>
              </a:spcAft>
            </a:pPr>
            <a:r>
              <a:rPr sz="2000" b="0" i="0">
                <a:solidFill>
                  <a:srgbClr val="1A1A1A"/>
                </a:solidFill>
                <a:latin typeface="Courier New"/>
              </a:rPr>
              <a:t>ending[0]     → 'The'</a:t>
            </a:r>
          </a:p>
          <a:p>
            <a:pPr algn="l">
              <a:spcAft>
                <a:spcPts val="200"/>
              </a:spcAft>
            </a:pPr>
            <a:r>
              <a:rPr sz="2000" b="0" i="0">
                <a:solidFill>
                  <a:srgbClr val="1A1A1A"/>
                </a:solidFill>
                <a:latin typeface="Courier New"/>
              </a:rPr>
              <a:t>ending[-1]    → 'noon.'</a:t>
            </a:r>
          </a:p>
          <a:p>
            <a:pPr algn="l">
              <a:spcAft>
                <a:spcPts val="200"/>
              </a:spcAft>
            </a:pPr>
            <a:r>
              <a:rPr sz="2000" b="0" i="0">
                <a:solidFill>
                  <a:srgbClr val="1A1A1A"/>
                </a:solidFill>
                <a:latin typeface="Courier New"/>
              </a:rPr>
              <a:t>ending[1:3]   → ['whole', 'street']</a:t>
            </a:r>
          </a:p>
          <a:p>
            <a:pPr algn="l">
              <a:spcAft>
                <a:spcPts val="200"/>
              </a:spcAft>
            </a:pPr>
            <a:r>
              <a:rPr sz="2000" b="0" i="0">
                <a:solidFill>
                  <a:srgbClr val="1A1A1A"/>
                </a:solidFill>
                <a:latin typeface="Courier New"/>
              </a:rPr>
              <a:t>ending[-3:]   → ['knew', 'by', 'noon.']</a:t>
            </a:r>
          </a:p>
        </p:txBody>
      </p:sp>
      <p:sp>
        <p:nvSpPr>
          <p:cNvPr id="31" name="TextBox 30"/>
          <p:cNvSpPr txBox="1"/>
          <p:nvPr/>
        </p:nvSpPr>
        <p:spPr>
          <a:xfrm>
            <a:off x="7863840" y="3429000"/>
            <a:ext cx="3776472" cy="2697480"/>
          </a:xfrm>
          <a:prstGeom prst="rect">
            <a:avLst/>
          </a:prstGeom>
          <a:noFill/>
        </p:spPr>
        <p:txBody>
          <a:bodyPr wrap="square" anchor="t" lIns="0" rIns="0" tIns="0" bIns="0">
            <a:spAutoFit/>
          </a:bodyPr>
          <a:lstStyle/>
          <a:p>
            <a:pPr algn="l">
              <a:spcAft>
                <a:spcPts val="200"/>
              </a:spcAft>
            </a:pPr>
            <a:r>
              <a:rPr sz="2400" b="0" i="0">
                <a:solidFill>
                  <a:srgbClr val="B5452B"/>
                </a:solidFill>
                <a:latin typeface="Courier New"/>
              </a:rPr>
              <a:t>[start:stop]</a:t>
            </a:r>
          </a:p>
          <a:p>
            <a:pPr algn="l">
              <a:spcAft>
                <a:spcPts val="200"/>
              </a:spcAft>
            </a:pPr>
            <a:r>
              <a:rPr sz="2400" b="0" i="0">
                <a:solidFill>
                  <a:srgbClr val="1A1A1A"/>
                </a:solidFill>
                <a:latin typeface="Calibri"/>
              </a:rPr>
              <a:t>stops </a:t>
            </a:r>
            <a:r>
              <a:rPr sz="2400" b="0" i="1">
                <a:solidFill>
                  <a:srgbClr val="1A1A1A"/>
                </a:solidFill>
                <a:latin typeface="Calibri"/>
              </a:rPr>
              <a:t>before</a:t>
            </a:r>
            <a:r>
              <a:rPr sz="2400" b="0" i="0">
                <a:solidFill>
                  <a:srgbClr val="1A1A1A"/>
                </a:solidFill>
                <a:latin typeface="Calibri"/>
              </a:rPr>
              <a:t> stop</a:t>
            </a:r>
          </a:p>
          <a:p>
            <a:pPr algn="l">
              <a:spcAft>
                <a:spcPts val="200"/>
              </a:spcAft>
            </a:pPr>
            <a:r>
              <a:rPr sz="2400" b="0" i="0">
                <a:solidFill>
                  <a:srgbClr val="1A1A1A"/>
                </a:solidFill>
                <a:latin typeface="Calibri"/>
              </a:rPr>
              <a:t> </a:t>
            </a:r>
          </a:p>
          <a:p>
            <a:pPr algn="l">
              <a:spcAft>
                <a:spcPts val="200"/>
              </a:spcAft>
            </a:pPr>
            <a:r>
              <a:rPr sz="2400" b="1" i="0">
                <a:solidFill>
                  <a:srgbClr val="1A1A1A"/>
                </a:solidFill>
                <a:latin typeface="Calibri"/>
              </a:rPr>
              <a:t>Leave a number out</a:t>
            </a:r>
          </a:p>
          <a:p>
            <a:pPr algn="l">
              <a:spcAft>
                <a:spcPts val="200"/>
              </a:spcAft>
            </a:pPr>
            <a:r>
              <a:rPr sz="2400" b="0" i="0">
                <a:solidFill>
                  <a:srgbClr val="1A1A1A"/>
                </a:solidFill>
                <a:latin typeface="Calibri"/>
              </a:rPr>
              <a:t>start or end of the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List comprehensions</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9</a:t>
            </a:r>
          </a:p>
        </p:txBody>
      </p:sp>
      <p:sp>
        <p:nvSpPr>
          <p:cNvPr id="5" name="TextBox 4"/>
          <p:cNvSpPr txBox="1"/>
          <p:nvPr/>
        </p:nvSpPr>
        <p:spPr>
          <a:xfrm>
            <a:off x="548640" y="1280160"/>
            <a:ext cx="11064240" cy="822960"/>
          </a:xfrm>
          <a:prstGeom prst="rect">
            <a:avLst/>
          </a:prstGeom>
          <a:noFill/>
        </p:spPr>
        <p:txBody>
          <a:bodyPr wrap="square" anchor="ctr" lIns="0" rIns="0" tIns="0" bIns="0">
            <a:spAutoFit/>
          </a:bodyPr>
          <a:lstStyle/>
          <a:p>
            <a:pPr algn="ctr">
              <a:spcAft>
                <a:spcPts val="600"/>
              </a:spcAft>
            </a:pPr>
            <a:r>
              <a:rPr sz="3600" b="1" i="0">
                <a:solidFill>
                  <a:srgbClr val="1A1A1A"/>
                </a:solidFill>
                <a:latin typeface="Courier New"/>
              </a:rPr>
              <a:t>[</a:t>
            </a:r>
            <a:r>
              <a:rPr sz="3600" b="1" i="0">
                <a:solidFill>
                  <a:srgbClr val="B5452B"/>
                </a:solidFill>
                <a:latin typeface="Courier New"/>
              </a:rPr>
              <a:t>len(w)</a:t>
            </a:r>
            <a:r>
              <a:rPr sz="3600" b="1" i="0">
                <a:solidFill>
                  <a:srgbClr val="1A1A1A"/>
                </a:solidFill>
                <a:latin typeface="Courier New"/>
              </a:rPr>
              <a:t> </a:t>
            </a:r>
            <a:r>
              <a:rPr sz="3600" b="1" i="0">
                <a:solidFill>
                  <a:srgbClr val="2E6F8E"/>
                </a:solidFill>
                <a:latin typeface="Courier New"/>
              </a:rPr>
              <a:t>for w in words</a:t>
            </a:r>
            <a:r>
              <a:rPr sz="3600" b="1" i="0">
                <a:solidFill>
                  <a:srgbClr val="1A1A1A"/>
                </a:solidFill>
                <a:latin typeface="Courier New"/>
              </a:rPr>
              <a:t> </a:t>
            </a:r>
            <a:r>
              <a:rPr sz="3600" b="1" i="0">
                <a:solidFill>
                  <a:srgbClr val="8A670E"/>
                </a:solidFill>
                <a:latin typeface="Courier New"/>
              </a:rPr>
              <a:t>if len(w) &gt; 5</a:t>
            </a:r>
            <a:r>
              <a:rPr sz="3600" b="1" i="0">
                <a:solidFill>
                  <a:srgbClr val="1A1A1A"/>
                </a:solidFill>
                <a:latin typeface="Courier New"/>
              </a:rPr>
              <a:t>]</a:t>
            </a:r>
          </a:p>
        </p:txBody>
      </p:sp>
      <p:sp>
        <p:nvSpPr>
          <p:cNvPr id="6" name="Rounded Rectangle 5"/>
          <p:cNvSpPr/>
          <p:nvPr/>
        </p:nvSpPr>
        <p:spPr>
          <a:xfrm>
            <a:off x="548640" y="2331720"/>
            <a:ext cx="3520440" cy="160020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23160"/>
            <a:ext cx="3154680" cy="457200"/>
          </a:xfrm>
          <a:prstGeom prst="rect">
            <a:avLst/>
          </a:prstGeom>
          <a:noFill/>
        </p:spPr>
        <p:txBody>
          <a:bodyPr wrap="square" anchor="t" lIns="0" rIns="0" tIns="0" bIns="0">
            <a:spAutoFit/>
          </a:bodyPr>
          <a:lstStyle/>
          <a:p>
            <a:pPr algn="l">
              <a:spcAft>
                <a:spcPts val="600"/>
              </a:spcAft>
            </a:pPr>
            <a:r>
              <a:rPr sz="2800" b="1" i="0">
                <a:solidFill>
                  <a:srgbClr val="B5452B"/>
                </a:solidFill>
                <a:latin typeface="Calibri"/>
              </a:rPr>
              <a:t>what to make</a:t>
            </a:r>
          </a:p>
        </p:txBody>
      </p:sp>
      <p:sp>
        <p:nvSpPr>
          <p:cNvPr id="8" name="TextBox 7"/>
          <p:cNvSpPr txBox="1"/>
          <p:nvPr/>
        </p:nvSpPr>
        <p:spPr>
          <a:xfrm>
            <a:off x="731520" y="2926080"/>
            <a:ext cx="3154680" cy="914400"/>
          </a:xfrm>
          <a:prstGeom prst="rect">
            <a:avLst/>
          </a:prstGeom>
          <a:noFill/>
        </p:spPr>
        <p:txBody>
          <a:bodyPr wrap="square" anchor="t" lIns="0" rIns="0" tIns="0" bIns="0">
            <a:spAutoFit/>
          </a:bodyPr>
          <a:lstStyle/>
          <a:p>
            <a:pPr algn="l">
              <a:spcAft>
                <a:spcPts val="600"/>
              </a:spcAft>
            </a:pPr>
            <a:r>
              <a:rPr sz="2000" b="0" i="0">
                <a:solidFill>
                  <a:srgbClr val="1A1A1A"/>
                </a:solidFill>
                <a:latin typeface="Calibri"/>
              </a:rPr>
              <a:t>the length of each word</a:t>
            </a:r>
          </a:p>
        </p:txBody>
      </p:sp>
      <p:sp>
        <p:nvSpPr>
          <p:cNvPr id="9" name="Rounded Rectangle 8"/>
          <p:cNvSpPr/>
          <p:nvPr/>
        </p:nvSpPr>
        <p:spPr>
          <a:xfrm>
            <a:off x="4297679" y="2331720"/>
            <a:ext cx="3520440" cy="160020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2423160"/>
            <a:ext cx="3154680" cy="457200"/>
          </a:xfrm>
          <a:prstGeom prst="rect">
            <a:avLst/>
          </a:prstGeom>
          <a:noFill/>
        </p:spPr>
        <p:txBody>
          <a:bodyPr wrap="square" anchor="t" lIns="0" rIns="0" tIns="0" bIns="0">
            <a:spAutoFit/>
          </a:bodyPr>
          <a:lstStyle/>
          <a:p>
            <a:pPr algn="l">
              <a:spcAft>
                <a:spcPts val="600"/>
              </a:spcAft>
            </a:pPr>
            <a:r>
              <a:rPr sz="2800" b="1" i="0">
                <a:solidFill>
                  <a:srgbClr val="2E6F8E"/>
                </a:solidFill>
                <a:latin typeface="Calibri"/>
              </a:rPr>
              <a:t>from where</a:t>
            </a:r>
          </a:p>
        </p:txBody>
      </p:sp>
      <p:sp>
        <p:nvSpPr>
          <p:cNvPr id="11" name="TextBox 10"/>
          <p:cNvSpPr txBox="1"/>
          <p:nvPr/>
        </p:nvSpPr>
        <p:spPr>
          <a:xfrm>
            <a:off x="4480559" y="2926080"/>
            <a:ext cx="3154680" cy="914400"/>
          </a:xfrm>
          <a:prstGeom prst="rect">
            <a:avLst/>
          </a:prstGeom>
          <a:noFill/>
        </p:spPr>
        <p:txBody>
          <a:bodyPr wrap="square" anchor="t" lIns="0" rIns="0" tIns="0" bIns="0">
            <a:spAutoFit/>
          </a:bodyPr>
          <a:lstStyle/>
          <a:p>
            <a:pPr algn="l">
              <a:spcAft>
                <a:spcPts val="600"/>
              </a:spcAft>
            </a:pPr>
            <a:r>
              <a:rPr sz="2000" b="0" i="0">
                <a:solidFill>
                  <a:srgbClr val="1A1A1A"/>
                </a:solidFill>
                <a:latin typeface="Calibri"/>
              </a:rPr>
              <a:t>each item in turn, called w</a:t>
            </a:r>
          </a:p>
        </p:txBody>
      </p:sp>
      <p:sp>
        <p:nvSpPr>
          <p:cNvPr id="12" name="Rounded Rectangle 11"/>
          <p:cNvSpPr/>
          <p:nvPr/>
        </p:nvSpPr>
        <p:spPr>
          <a:xfrm>
            <a:off x="8046719" y="2331720"/>
            <a:ext cx="3520440" cy="160020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9" y="2423160"/>
            <a:ext cx="3154680" cy="457200"/>
          </a:xfrm>
          <a:prstGeom prst="rect">
            <a:avLst/>
          </a:prstGeom>
          <a:noFill/>
        </p:spPr>
        <p:txBody>
          <a:bodyPr wrap="square" anchor="t" lIns="0" rIns="0" tIns="0" bIns="0">
            <a:spAutoFit/>
          </a:bodyPr>
          <a:lstStyle/>
          <a:p>
            <a:pPr algn="l">
              <a:spcAft>
                <a:spcPts val="600"/>
              </a:spcAft>
            </a:pPr>
            <a:r>
              <a:rPr sz="2800" b="1" i="0">
                <a:solidFill>
                  <a:srgbClr val="8A670E"/>
                </a:solidFill>
                <a:latin typeface="Calibri"/>
              </a:rPr>
              <a:t>which ones</a:t>
            </a:r>
          </a:p>
        </p:txBody>
      </p:sp>
      <p:sp>
        <p:nvSpPr>
          <p:cNvPr id="14" name="TextBox 13"/>
          <p:cNvSpPr txBox="1"/>
          <p:nvPr/>
        </p:nvSpPr>
        <p:spPr>
          <a:xfrm>
            <a:off x="8229599" y="2926080"/>
            <a:ext cx="3154680" cy="914400"/>
          </a:xfrm>
          <a:prstGeom prst="rect">
            <a:avLst/>
          </a:prstGeom>
          <a:noFill/>
        </p:spPr>
        <p:txBody>
          <a:bodyPr wrap="square" anchor="t" lIns="0" rIns="0" tIns="0" bIns="0">
            <a:spAutoFit/>
          </a:bodyPr>
          <a:lstStyle/>
          <a:p>
            <a:pPr algn="l">
              <a:spcAft>
                <a:spcPts val="600"/>
              </a:spcAft>
            </a:pPr>
            <a:r>
              <a:rPr sz="2000" b="0" i="0">
                <a:solidFill>
                  <a:srgbClr val="1A1A1A"/>
                </a:solidFill>
                <a:latin typeface="Calibri"/>
              </a:rPr>
              <a:t>keep only items that pass (optional)</a:t>
            </a:r>
          </a:p>
        </p:txBody>
      </p:sp>
      <p:sp>
        <p:nvSpPr>
          <p:cNvPr id="15" name="Rounded Rectangle 14"/>
          <p:cNvSpPr/>
          <p:nvPr/>
        </p:nvSpPr>
        <p:spPr>
          <a:xfrm>
            <a:off x="548640" y="4160520"/>
            <a:ext cx="11091672" cy="196596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80"/>
            <a:ext cx="10725912" cy="1691639"/>
          </a:xfrm>
          <a:prstGeom prst="rect">
            <a:avLst/>
          </a:prstGeom>
          <a:noFill/>
        </p:spPr>
        <p:txBody>
          <a:bodyPr wrap="square" anchor="t" lIns="45720" rIns="45720">
            <a:spAutoFit/>
          </a:bodyPr>
          <a:lstStyle/>
          <a:p>
            <a:pPr algn="l">
              <a:spcAft>
                <a:spcPts val="200"/>
              </a:spcAft>
            </a:pPr>
            <a:r>
              <a:rPr sz="2000" b="0" i="0">
                <a:solidFill>
                  <a:srgbClr val="1A1A1A"/>
                </a:solidFill>
                <a:latin typeface="Courier New"/>
              </a:rPr>
              <a:t>[w.upper() for w in words]                 </a:t>
            </a:r>
            <a:r>
              <a:rPr sz="2000" b="0" i="1">
                <a:solidFill>
                  <a:srgbClr val="55605B"/>
                </a:solidFill>
                <a:latin typeface="Courier New"/>
              </a:rPr>
              <a:t># change every item</a:t>
            </a:r>
          </a:p>
          <a:p>
            <a:pPr algn="l">
              <a:spcAft>
                <a:spcPts val="200"/>
              </a:spcAft>
            </a:pPr>
            <a:r>
              <a:rPr sz="2000" b="0" i="0">
                <a:solidFill>
                  <a:srgbClr val="1A1A1A"/>
                </a:solidFill>
                <a:latin typeface="Courier New"/>
              </a:rPr>
              <a:t>[w for w in words if w.startswith("B")]    </a:t>
            </a:r>
            <a:r>
              <a:rPr sz="2000" b="0" i="1">
                <a:solidFill>
                  <a:srgbClr val="55605B"/>
                </a:solidFill>
                <a:latin typeface="Courier New"/>
              </a:rPr>
              <a:t># keep some items</a:t>
            </a:r>
          </a:p>
          <a:p>
            <a:pPr algn="l">
              <a:spcAft>
                <a:spcPts val="200"/>
              </a:spcAft>
            </a:pPr>
            <a:r>
              <a:rPr sz="2000" b="0" i="0">
                <a:solidFill>
                  <a:srgbClr val="B5452B"/>
                </a:solidFill>
                <a:latin typeface="Courier New"/>
              </a:rPr>
              <a:t>→ ['Bennet', 'Bennet']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for loops: do something for each item</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10</a:t>
            </a:r>
          </a:p>
        </p:txBody>
      </p:sp>
      <p:sp>
        <p:nvSpPr>
          <p:cNvPr id="5" name="Rounded Rectangle 4"/>
          <p:cNvSpPr/>
          <p:nvPr/>
        </p:nvSpPr>
        <p:spPr>
          <a:xfrm>
            <a:off x="548640" y="1371600"/>
            <a:ext cx="5852160" cy="301752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5486400" cy="2743200"/>
          </a:xfrm>
          <a:prstGeom prst="rect">
            <a:avLst/>
          </a:prstGeom>
          <a:noFill/>
        </p:spPr>
        <p:txBody>
          <a:bodyPr wrap="square" anchor="t" lIns="45720" rIns="45720">
            <a:spAutoFit/>
          </a:bodyPr>
          <a:lstStyle/>
          <a:p>
            <a:pPr algn="l">
              <a:spcAft>
                <a:spcPts val="200"/>
              </a:spcAft>
            </a:pPr>
            <a:r>
              <a:rPr sz="2400" b="0" i="0">
                <a:solidFill>
                  <a:srgbClr val="1A1A1A"/>
                </a:solidFill>
                <a:latin typeface="Courier New"/>
              </a:rPr>
              <a:t>for w in words[0:3]:</a:t>
            </a:r>
          </a:p>
          <a:p>
            <a:pPr algn="l">
              <a:spcAft>
                <a:spcPts val="200"/>
              </a:spcAft>
            </a:pPr>
            <a:r>
              <a:rPr sz="2400" b="0" i="0">
                <a:solidFill>
                  <a:srgbClr val="1A1A1A"/>
                </a:solidFill>
                <a:latin typeface="Courier New"/>
              </a:rPr>
              <a:t>    print(w, len(w))</a:t>
            </a:r>
          </a:p>
          <a:p>
            <a:pPr algn="l">
              <a:spcAft>
                <a:spcPts val="200"/>
              </a:spcAft>
            </a:pPr>
            <a:r>
              <a:rPr sz="2400" b="0" i="0">
                <a:solidFill>
                  <a:srgbClr val="B5452B"/>
                </a:solidFill>
                <a:latin typeface="Courier New"/>
              </a:rPr>
              <a:t>→ Mr. 3</a:t>
            </a:r>
          </a:p>
          <a:p>
            <a:pPr algn="l">
              <a:spcAft>
                <a:spcPts val="200"/>
              </a:spcAft>
            </a:pPr>
            <a:r>
              <a:rPr sz="2400" b="0" i="0">
                <a:solidFill>
                  <a:srgbClr val="B5452B"/>
                </a:solidFill>
                <a:latin typeface="Courier New"/>
              </a:rPr>
              <a:t>→ Bennet 6</a:t>
            </a:r>
          </a:p>
          <a:p>
            <a:pPr algn="l">
              <a:spcAft>
                <a:spcPts val="200"/>
              </a:spcAft>
            </a:pPr>
            <a:r>
              <a:rPr sz="2400" b="0" i="0">
                <a:solidFill>
                  <a:srgbClr val="B5452B"/>
                </a:solidFill>
                <a:latin typeface="Courier New"/>
              </a:rPr>
              <a:t>→ looked 6</a:t>
            </a:r>
          </a:p>
        </p:txBody>
      </p:sp>
      <p:sp>
        <p:nvSpPr>
          <p:cNvPr id="7" name="TextBox 6"/>
          <p:cNvSpPr txBox="1"/>
          <p:nvPr/>
        </p:nvSpPr>
        <p:spPr>
          <a:xfrm>
            <a:off x="6766560" y="1371600"/>
            <a:ext cx="4873752" cy="4754880"/>
          </a:xfrm>
          <a:prstGeom prst="rect">
            <a:avLst/>
          </a:prstGeom>
          <a:noFill/>
        </p:spPr>
        <p:txBody>
          <a:bodyPr wrap="square" anchor="t" lIns="0" rIns="0" tIns="0" bIns="0">
            <a:spAutoFit/>
          </a:bodyPr>
          <a:lstStyle/>
          <a:p>
            <a:pPr algn="l">
              <a:spcAft>
                <a:spcPts val="200"/>
              </a:spcAft>
            </a:pPr>
            <a:r>
              <a:rPr sz="2800" b="1" i="0">
                <a:solidFill>
                  <a:srgbClr val="1F3A34"/>
                </a:solidFill>
                <a:latin typeface="Calibri"/>
              </a:rPr>
              <a:t>The colon</a:t>
            </a:r>
          </a:p>
          <a:p>
            <a:pPr algn="l">
              <a:spcAft>
                <a:spcPts val="200"/>
              </a:spcAft>
            </a:pPr>
            <a:r>
              <a:rPr sz="2400" b="0" i="0">
                <a:solidFill>
                  <a:srgbClr val="1A1A1A"/>
                </a:solidFill>
                <a:latin typeface="Calibri"/>
              </a:rPr>
              <a:t>ends the first line</a:t>
            </a:r>
          </a:p>
          <a:p>
            <a:pPr algn="l">
              <a:spcAft>
                <a:spcPts val="200"/>
              </a:spcAft>
            </a:pPr>
            <a:r>
              <a:rPr sz="2400" b="0" i="0">
                <a:solidFill>
                  <a:srgbClr val="1A1A1A"/>
                </a:solidFill>
                <a:latin typeface="Calibri"/>
              </a:rPr>
              <a:t> </a:t>
            </a:r>
          </a:p>
          <a:p>
            <a:pPr algn="l">
              <a:spcAft>
                <a:spcPts val="200"/>
              </a:spcAft>
            </a:pPr>
            <a:r>
              <a:rPr sz="2800" b="1" i="0">
                <a:solidFill>
                  <a:srgbClr val="1F3A34"/>
                </a:solidFill>
                <a:latin typeface="Calibri"/>
              </a:rPr>
              <a:t>The indent</a:t>
            </a:r>
          </a:p>
          <a:p>
            <a:pPr algn="l">
              <a:spcAft>
                <a:spcPts val="200"/>
              </a:spcAft>
            </a:pPr>
            <a:r>
              <a:rPr sz="2400" b="0" i="0">
                <a:solidFill>
                  <a:srgbClr val="1A1A1A"/>
                </a:solidFill>
                <a:latin typeface="Calibri"/>
              </a:rPr>
              <a:t>four spaces: what is repeated</a:t>
            </a:r>
          </a:p>
          <a:p>
            <a:pPr algn="l">
              <a:spcAft>
                <a:spcPts val="200"/>
              </a:spcAft>
            </a:pPr>
            <a:r>
              <a:rPr sz="2400" b="0" i="0">
                <a:solidFill>
                  <a:srgbClr val="1A1A1A"/>
                </a:solidFill>
                <a:latin typeface="Calibri"/>
              </a:rPr>
              <a:t> </a:t>
            </a:r>
          </a:p>
          <a:p>
            <a:pPr algn="l">
              <a:spcAft>
                <a:spcPts val="200"/>
              </a:spcAft>
            </a:pPr>
            <a:r>
              <a:rPr sz="2800" b="1" i="0">
                <a:solidFill>
                  <a:srgbClr val="1F3A34"/>
                </a:solidFill>
                <a:latin typeface="Calibri"/>
              </a:rPr>
              <a:t>Loop or comprehension?</a:t>
            </a:r>
          </a:p>
          <a:p>
            <a:pPr algn="l">
              <a:spcAft>
                <a:spcPts val="200"/>
              </a:spcAft>
            </a:pPr>
            <a:r>
              <a:rPr sz="2400" b="0" i="0">
                <a:solidFill>
                  <a:srgbClr val="1A1A1A"/>
                </a:solidFill>
                <a:latin typeface="Calibri"/>
              </a:rPr>
              <a:t>Do something: loop. Make a list: comprehension.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Asking questions: True or False</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11</a:t>
            </a:r>
          </a:p>
        </p:txBody>
      </p:sp>
      <p:sp>
        <p:nvSpPr>
          <p:cNvPr id="5" name="TextBox 4"/>
          <p:cNvSpPr txBox="1"/>
          <p:nvPr/>
        </p:nvSpPr>
        <p:spPr>
          <a:xfrm>
            <a:off x="548640" y="1371600"/>
            <a:ext cx="1828800" cy="640080"/>
          </a:xfrm>
          <a:prstGeom prst="rect">
            <a:avLst/>
          </a:prstGeom>
          <a:noFill/>
        </p:spPr>
        <p:txBody>
          <a:bodyPr wrap="square" anchor="ctr" lIns="0" rIns="0" tIns="0" bIns="0">
            <a:spAutoFit/>
          </a:bodyPr>
          <a:lstStyle/>
          <a:p>
            <a:pPr algn="l">
              <a:spcAft>
                <a:spcPts val="600"/>
              </a:spcAft>
            </a:pPr>
            <a:r>
              <a:rPr sz="2800" b="0" i="0">
                <a:solidFill>
                  <a:srgbClr val="B5452B"/>
                </a:solidFill>
                <a:latin typeface="Courier New"/>
              </a:rPr>
              <a:t>==</a:t>
            </a:r>
          </a:p>
        </p:txBody>
      </p:sp>
      <p:sp>
        <p:nvSpPr>
          <p:cNvPr id="6" name="TextBox 5"/>
          <p:cNvSpPr txBox="1"/>
          <p:nvPr/>
        </p:nvSpPr>
        <p:spPr>
          <a:xfrm>
            <a:off x="2468880" y="1371600"/>
            <a:ext cx="301752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equal</a:t>
            </a:r>
          </a:p>
        </p:txBody>
      </p:sp>
      <p:sp>
        <p:nvSpPr>
          <p:cNvPr id="7" name="TextBox 6"/>
          <p:cNvSpPr txBox="1"/>
          <p:nvPr/>
        </p:nvSpPr>
        <p:spPr>
          <a:xfrm>
            <a:off x="548640" y="2148840"/>
            <a:ext cx="1828800" cy="640080"/>
          </a:xfrm>
          <a:prstGeom prst="rect">
            <a:avLst/>
          </a:prstGeom>
          <a:noFill/>
        </p:spPr>
        <p:txBody>
          <a:bodyPr wrap="square" anchor="ctr" lIns="0" rIns="0" tIns="0" bIns="0">
            <a:spAutoFit/>
          </a:bodyPr>
          <a:lstStyle/>
          <a:p>
            <a:pPr algn="l">
              <a:spcAft>
                <a:spcPts val="600"/>
              </a:spcAft>
            </a:pPr>
            <a:r>
              <a:rPr sz="2800" b="0" i="0">
                <a:solidFill>
                  <a:srgbClr val="B5452B"/>
                </a:solidFill>
                <a:latin typeface="Courier New"/>
              </a:rPr>
              <a:t>!=</a:t>
            </a:r>
          </a:p>
        </p:txBody>
      </p:sp>
      <p:sp>
        <p:nvSpPr>
          <p:cNvPr id="8" name="TextBox 7"/>
          <p:cNvSpPr txBox="1"/>
          <p:nvPr/>
        </p:nvSpPr>
        <p:spPr>
          <a:xfrm>
            <a:off x="2468880" y="2148840"/>
            <a:ext cx="301752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not equal</a:t>
            </a:r>
          </a:p>
        </p:txBody>
      </p:sp>
      <p:sp>
        <p:nvSpPr>
          <p:cNvPr id="9" name="TextBox 8"/>
          <p:cNvSpPr txBox="1"/>
          <p:nvPr/>
        </p:nvSpPr>
        <p:spPr>
          <a:xfrm>
            <a:off x="548640" y="2926080"/>
            <a:ext cx="1828800" cy="640080"/>
          </a:xfrm>
          <a:prstGeom prst="rect">
            <a:avLst/>
          </a:prstGeom>
          <a:noFill/>
        </p:spPr>
        <p:txBody>
          <a:bodyPr wrap="square" anchor="ctr" lIns="0" rIns="0" tIns="0" bIns="0">
            <a:spAutoFit/>
          </a:bodyPr>
          <a:lstStyle/>
          <a:p>
            <a:pPr algn="l">
              <a:spcAft>
                <a:spcPts val="600"/>
              </a:spcAft>
            </a:pPr>
            <a:r>
              <a:rPr sz="2800" b="0" i="0">
                <a:solidFill>
                  <a:srgbClr val="B5452B"/>
                </a:solidFill>
                <a:latin typeface="Courier New"/>
              </a:rPr>
              <a:t>&lt;  &gt;</a:t>
            </a:r>
          </a:p>
        </p:txBody>
      </p:sp>
      <p:sp>
        <p:nvSpPr>
          <p:cNvPr id="10" name="TextBox 9"/>
          <p:cNvSpPr txBox="1"/>
          <p:nvPr/>
        </p:nvSpPr>
        <p:spPr>
          <a:xfrm>
            <a:off x="2468880" y="2926080"/>
            <a:ext cx="301752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less, greater</a:t>
            </a:r>
          </a:p>
        </p:txBody>
      </p:sp>
      <p:sp>
        <p:nvSpPr>
          <p:cNvPr id="11" name="TextBox 10"/>
          <p:cNvSpPr txBox="1"/>
          <p:nvPr/>
        </p:nvSpPr>
        <p:spPr>
          <a:xfrm>
            <a:off x="548640" y="3703320"/>
            <a:ext cx="1828800" cy="640080"/>
          </a:xfrm>
          <a:prstGeom prst="rect">
            <a:avLst/>
          </a:prstGeom>
          <a:noFill/>
        </p:spPr>
        <p:txBody>
          <a:bodyPr wrap="square" anchor="ctr" lIns="0" rIns="0" tIns="0" bIns="0">
            <a:spAutoFit/>
          </a:bodyPr>
          <a:lstStyle/>
          <a:p>
            <a:pPr algn="l">
              <a:spcAft>
                <a:spcPts val="600"/>
              </a:spcAft>
            </a:pPr>
            <a:r>
              <a:rPr sz="2800" b="0" i="0">
                <a:solidFill>
                  <a:srgbClr val="B5452B"/>
                </a:solidFill>
                <a:latin typeface="Courier New"/>
              </a:rPr>
              <a:t>&lt;= &gt;=</a:t>
            </a:r>
          </a:p>
        </p:txBody>
      </p:sp>
      <p:sp>
        <p:nvSpPr>
          <p:cNvPr id="12" name="TextBox 11"/>
          <p:cNvSpPr txBox="1"/>
          <p:nvPr/>
        </p:nvSpPr>
        <p:spPr>
          <a:xfrm>
            <a:off x="2468880" y="3703320"/>
            <a:ext cx="301752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or equal to</a:t>
            </a:r>
          </a:p>
        </p:txBody>
      </p:sp>
      <p:sp>
        <p:nvSpPr>
          <p:cNvPr id="13" name="TextBox 12"/>
          <p:cNvSpPr txBox="1"/>
          <p:nvPr/>
        </p:nvSpPr>
        <p:spPr>
          <a:xfrm>
            <a:off x="548640" y="4480560"/>
            <a:ext cx="1828800" cy="640080"/>
          </a:xfrm>
          <a:prstGeom prst="rect">
            <a:avLst/>
          </a:prstGeom>
          <a:noFill/>
        </p:spPr>
        <p:txBody>
          <a:bodyPr wrap="square" anchor="ctr" lIns="0" rIns="0" tIns="0" bIns="0">
            <a:spAutoFit/>
          </a:bodyPr>
          <a:lstStyle/>
          <a:p>
            <a:pPr algn="l">
              <a:spcAft>
                <a:spcPts val="600"/>
              </a:spcAft>
            </a:pPr>
            <a:r>
              <a:rPr sz="2800" b="0" i="0">
                <a:solidFill>
                  <a:srgbClr val="B5452B"/>
                </a:solidFill>
                <a:latin typeface="Courier New"/>
              </a:rPr>
              <a:t>in</a:t>
            </a:r>
          </a:p>
        </p:txBody>
      </p:sp>
      <p:sp>
        <p:nvSpPr>
          <p:cNvPr id="14" name="TextBox 13"/>
          <p:cNvSpPr txBox="1"/>
          <p:nvPr/>
        </p:nvSpPr>
        <p:spPr>
          <a:xfrm>
            <a:off x="2468880" y="4480560"/>
            <a:ext cx="301752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inside?</a:t>
            </a:r>
          </a:p>
        </p:txBody>
      </p:sp>
      <p:sp>
        <p:nvSpPr>
          <p:cNvPr id="15" name="TextBox 14"/>
          <p:cNvSpPr txBox="1"/>
          <p:nvPr/>
        </p:nvSpPr>
        <p:spPr>
          <a:xfrm>
            <a:off x="548640" y="5257800"/>
            <a:ext cx="1828800" cy="640080"/>
          </a:xfrm>
          <a:prstGeom prst="rect">
            <a:avLst/>
          </a:prstGeom>
          <a:noFill/>
        </p:spPr>
        <p:txBody>
          <a:bodyPr wrap="square" anchor="ctr" lIns="0" rIns="0" tIns="0" bIns="0">
            <a:spAutoFit/>
          </a:bodyPr>
          <a:lstStyle/>
          <a:p>
            <a:pPr algn="l">
              <a:spcAft>
                <a:spcPts val="600"/>
              </a:spcAft>
            </a:pPr>
            <a:r>
              <a:rPr sz="2800" b="0" i="0">
                <a:solidFill>
                  <a:srgbClr val="B5452B"/>
                </a:solidFill>
                <a:latin typeface="Courier New"/>
              </a:rPr>
              <a:t>not in</a:t>
            </a:r>
          </a:p>
        </p:txBody>
      </p:sp>
      <p:sp>
        <p:nvSpPr>
          <p:cNvPr id="16" name="TextBox 15"/>
          <p:cNvSpPr txBox="1"/>
          <p:nvPr/>
        </p:nvSpPr>
        <p:spPr>
          <a:xfrm>
            <a:off x="2468880" y="5257800"/>
            <a:ext cx="3017520" cy="64008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absent?</a:t>
            </a:r>
          </a:p>
        </p:txBody>
      </p:sp>
      <p:sp>
        <p:nvSpPr>
          <p:cNvPr id="17" name="Rounded Rectangle 16"/>
          <p:cNvSpPr/>
          <p:nvPr/>
        </p:nvSpPr>
        <p:spPr>
          <a:xfrm>
            <a:off x="5760720" y="1371600"/>
            <a:ext cx="5879592" cy="475488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0" y="1508760"/>
            <a:ext cx="5513831" cy="4480560"/>
          </a:xfrm>
          <a:prstGeom prst="rect">
            <a:avLst/>
          </a:prstGeom>
          <a:noFill/>
        </p:spPr>
        <p:txBody>
          <a:bodyPr wrap="square" anchor="t" lIns="45720" rIns="45720">
            <a:spAutoFit/>
          </a:bodyPr>
          <a:lstStyle/>
          <a:p>
            <a:pPr algn="l">
              <a:spcAft>
                <a:spcPts val="200"/>
              </a:spcAft>
            </a:pPr>
            <a:r>
              <a:rPr sz="2400" b="0" i="0">
                <a:solidFill>
                  <a:srgbClr val="1A1A1A"/>
                </a:solidFill>
                <a:latin typeface="Courier New"/>
              </a:rPr>
              <a:t>"Bennet" in words</a:t>
            </a:r>
          </a:p>
          <a:p>
            <a:pPr algn="l">
              <a:spcAft>
                <a:spcPts val="200"/>
              </a:spcAft>
            </a:pPr>
            <a:r>
              <a:rPr sz="2400" b="0" i="0">
                <a:solidFill>
                  <a:srgbClr val="B5452B"/>
                </a:solidFill>
                <a:latin typeface="Courier New"/>
              </a:rPr>
              <a:t>→ True</a:t>
            </a:r>
          </a:p>
          <a:p>
            <a:pPr algn="l">
              <a:spcAft>
                <a:spcPts val="200"/>
              </a:spcAft>
            </a:pPr>
            <a:r>
              <a:rPr sz="2400" b="0" i="0">
                <a:solidFill>
                  <a:srgbClr val="1A1A1A"/>
                </a:solidFill>
                <a:latin typeface="Courier New"/>
              </a:rPr>
              <a:t> </a:t>
            </a:r>
          </a:p>
          <a:p>
            <a:pPr algn="l">
              <a:spcAft>
                <a:spcPts val="200"/>
              </a:spcAft>
            </a:pPr>
            <a:r>
              <a:rPr sz="2400" b="0" i="0">
                <a:solidFill>
                  <a:srgbClr val="1A1A1A"/>
                </a:solidFill>
                <a:latin typeface="Courier New"/>
              </a:rPr>
              <a:t>if len(w) &gt; 5:</a:t>
            </a:r>
          </a:p>
          <a:p>
            <a:pPr algn="l">
              <a:spcAft>
                <a:spcPts val="200"/>
              </a:spcAft>
            </a:pPr>
            <a:r>
              <a:rPr sz="2400" b="0" i="0">
                <a:solidFill>
                  <a:srgbClr val="1A1A1A"/>
                </a:solidFill>
                <a:latin typeface="Courier New"/>
              </a:rPr>
              <a:t>    print("long:", w)</a:t>
            </a:r>
          </a:p>
          <a:p>
            <a:pPr algn="l">
              <a:spcAft>
                <a:spcPts val="200"/>
              </a:spcAft>
            </a:pPr>
            <a:r>
              <a:rPr sz="2400" b="0" i="0">
                <a:solidFill>
                  <a:srgbClr val="1A1A1A"/>
                </a:solidFill>
                <a:latin typeface="Courier New"/>
              </a:rPr>
              <a:t>else:</a:t>
            </a:r>
          </a:p>
          <a:p>
            <a:pPr algn="l">
              <a:spcAft>
                <a:spcPts val="200"/>
              </a:spcAft>
            </a:pPr>
            <a:r>
              <a:rPr sz="2400" b="0" i="0">
                <a:solidFill>
                  <a:srgbClr val="1A1A1A"/>
                </a:solidFill>
                <a:latin typeface="Courier New"/>
              </a:rPr>
              <a:t>    print("short:", 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Writing your own functions</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12</a:t>
            </a:r>
          </a:p>
        </p:txBody>
      </p:sp>
      <p:sp>
        <p:nvSpPr>
          <p:cNvPr id="5" name="Rounded Rectangle 4"/>
          <p:cNvSpPr/>
          <p:nvPr/>
        </p:nvSpPr>
        <p:spPr>
          <a:xfrm>
            <a:off x="548640" y="1371600"/>
            <a:ext cx="11091672" cy="251460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10725912" cy="2240280"/>
          </a:xfrm>
          <a:prstGeom prst="rect">
            <a:avLst/>
          </a:prstGeom>
          <a:noFill/>
        </p:spPr>
        <p:txBody>
          <a:bodyPr wrap="square" anchor="t" lIns="45720" rIns="45720">
            <a:spAutoFit/>
          </a:bodyPr>
          <a:lstStyle/>
          <a:p>
            <a:pPr algn="l">
              <a:spcAft>
                <a:spcPts val="200"/>
              </a:spcAft>
            </a:pPr>
            <a:r>
              <a:rPr sz="2400" b="0" i="0">
                <a:solidFill>
                  <a:srgbClr val="1A1A1A"/>
                </a:solidFill>
                <a:latin typeface="Courier New"/>
              </a:rPr>
              <a:t>def clean(w):</a:t>
            </a:r>
          </a:p>
          <a:p>
            <a:pPr algn="l">
              <a:spcAft>
                <a:spcPts val="200"/>
              </a:spcAft>
            </a:pPr>
            <a:r>
              <a:rPr sz="2400" b="0" i="0">
                <a:solidFill>
                  <a:srgbClr val="1A1A1A"/>
                </a:solidFill>
                <a:latin typeface="Courier New"/>
              </a:rPr>
              <a:t>    return w.strip('.,;:!?"').lower()</a:t>
            </a:r>
          </a:p>
          <a:p>
            <a:pPr algn="l">
              <a:spcAft>
                <a:spcPts val="200"/>
              </a:spcAft>
            </a:pPr>
            <a:r>
              <a:rPr sz="2400" b="0" i="0">
                <a:solidFill>
                  <a:srgbClr val="1A1A1A"/>
                </a:solidFill>
                <a:latin typeface="Courier New"/>
              </a:rPr>
              <a:t> </a:t>
            </a:r>
          </a:p>
          <a:p>
            <a:pPr algn="l">
              <a:spcAft>
                <a:spcPts val="200"/>
              </a:spcAft>
            </a:pPr>
            <a:r>
              <a:rPr sz="2400" b="0" i="0">
                <a:solidFill>
                  <a:srgbClr val="1A1A1A"/>
                </a:solidFill>
                <a:latin typeface="Courier New"/>
              </a:rPr>
              <a:t>clean('"Bennet,')     → 'bennet'</a:t>
            </a:r>
          </a:p>
        </p:txBody>
      </p:sp>
      <p:sp>
        <p:nvSpPr>
          <p:cNvPr id="7" name="TextBox 6"/>
          <p:cNvSpPr txBox="1"/>
          <p:nvPr/>
        </p:nvSpPr>
        <p:spPr>
          <a:xfrm>
            <a:off x="548640" y="4160520"/>
            <a:ext cx="1463040" cy="731520"/>
          </a:xfrm>
          <a:prstGeom prst="rect">
            <a:avLst/>
          </a:prstGeom>
          <a:noFill/>
        </p:spPr>
        <p:txBody>
          <a:bodyPr wrap="square" anchor="ctr" lIns="0" rIns="0" tIns="0" bIns="0">
            <a:spAutoFit/>
          </a:bodyPr>
          <a:lstStyle/>
          <a:p>
            <a:pPr algn="l">
              <a:spcAft>
                <a:spcPts val="600"/>
              </a:spcAft>
            </a:pPr>
            <a:r>
              <a:rPr sz="2800" b="0" i="0">
                <a:solidFill>
                  <a:srgbClr val="B5452B"/>
                </a:solidFill>
                <a:latin typeface="Courier New"/>
              </a:rPr>
              <a:t>def</a:t>
            </a:r>
          </a:p>
        </p:txBody>
      </p:sp>
      <p:sp>
        <p:nvSpPr>
          <p:cNvPr id="8" name="TextBox 7"/>
          <p:cNvSpPr txBox="1"/>
          <p:nvPr/>
        </p:nvSpPr>
        <p:spPr>
          <a:xfrm>
            <a:off x="2103120" y="4160520"/>
            <a:ext cx="3931920" cy="73152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starts a definition</a:t>
            </a:r>
          </a:p>
        </p:txBody>
      </p:sp>
      <p:sp>
        <p:nvSpPr>
          <p:cNvPr id="9" name="TextBox 8"/>
          <p:cNvSpPr txBox="1"/>
          <p:nvPr/>
        </p:nvSpPr>
        <p:spPr>
          <a:xfrm>
            <a:off x="6172200" y="4160520"/>
            <a:ext cx="1463040" cy="731520"/>
          </a:xfrm>
          <a:prstGeom prst="rect">
            <a:avLst/>
          </a:prstGeom>
          <a:noFill/>
        </p:spPr>
        <p:txBody>
          <a:bodyPr wrap="square" anchor="ctr" lIns="0" rIns="0" tIns="0" bIns="0">
            <a:spAutoFit/>
          </a:bodyPr>
          <a:lstStyle/>
          <a:p>
            <a:pPr algn="l">
              <a:spcAft>
                <a:spcPts val="600"/>
              </a:spcAft>
            </a:pPr>
            <a:r>
              <a:rPr sz="2800" b="0" i="0">
                <a:solidFill>
                  <a:srgbClr val="B5452B"/>
                </a:solidFill>
                <a:latin typeface="Courier New"/>
              </a:rPr>
              <a:t>(w)</a:t>
            </a:r>
          </a:p>
        </p:txBody>
      </p:sp>
      <p:sp>
        <p:nvSpPr>
          <p:cNvPr id="10" name="TextBox 9"/>
          <p:cNvSpPr txBox="1"/>
          <p:nvPr/>
        </p:nvSpPr>
        <p:spPr>
          <a:xfrm>
            <a:off x="7726679" y="4160520"/>
            <a:ext cx="3931920" cy="73152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the input: whatever is passed in</a:t>
            </a:r>
          </a:p>
        </p:txBody>
      </p:sp>
      <p:sp>
        <p:nvSpPr>
          <p:cNvPr id="11" name="TextBox 10"/>
          <p:cNvSpPr txBox="1"/>
          <p:nvPr/>
        </p:nvSpPr>
        <p:spPr>
          <a:xfrm>
            <a:off x="548640" y="5166360"/>
            <a:ext cx="1463040" cy="731520"/>
          </a:xfrm>
          <a:prstGeom prst="rect">
            <a:avLst/>
          </a:prstGeom>
          <a:noFill/>
        </p:spPr>
        <p:txBody>
          <a:bodyPr wrap="square" anchor="ctr" lIns="0" rIns="0" tIns="0" bIns="0">
            <a:spAutoFit/>
          </a:bodyPr>
          <a:lstStyle/>
          <a:p>
            <a:pPr algn="l">
              <a:spcAft>
                <a:spcPts val="600"/>
              </a:spcAft>
            </a:pPr>
            <a:r>
              <a:rPr sz="2800" b="0" i="0">
                <a:solidFill>
                  <a:srgbClr val="B5452B"/>
                </a:solidFill>
                <a:latin typeface="Courier New"/>
              </a:rPr>
              <a:t>:</a:t>
            </a:r>
          </a:p>
        </p:txBody>
      </p:sp>
      <p:sp>
        <p:nvSpPr>
          <p:cNvPr id="12" name="TextBox 11"/>
          <p:cNvSpPr txBox="1"/>
          <p:nvPr/>
        </p:nvSpPr>
        <p:spPr>
          <a:xfrm>
            <a:off x="2103120" y="5166360"/>
            <a:ext cx="3931920" cy="73152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then an indented body</a:t>
            </a:r>
          </a:p>
        </p:txBody>
      </p:sp>
      <p:sp>
        <p:nvSpPr>
          <p:cNvPr id="13" name="TextBox 12"/>
          <p:cNvSpPr txBox="1"/>
          <p:nvPr/>
        </p:nvSpPr>
        <p:spPr>
          <a:xfrm>
            <a:off x="6172200" y="5166360"/>
            <a:ext cx="1463040" cy="731520"/>
          </a:xfrm>
          <a:prstGeom prst="rect">
            <a:avLst/>
          </a:prstGeom>
          <a:noFill/>
        </p:spPr>
        <p:txBody>
          <a:bodyPr wrap="square" anchor="ctr" lIns="0" rIns="0" tIns="0" bIns="0">
            <a:spAutoFit/>
          </a:bodyPr>
          <a:lstStyle/>
          <a:p>
            <a:pPr algn="l">
              <a:spcAft>
                <a:spcPts val="600"/>
              </a:spcAft>
            </a:pPr>
            <a:r>
              <a:rPr sz="2800" b="0" i="0">
                <a:solidFill>
                  <a:srgbClr val="B5452B"/>
                </a:solidFill>
                <a:latin typeface="Courier New"/>
              </a:rPr>
              <a:t>return</a:t>
            </a:r>
          </a:p>
        </p:txBody>
      </p:sp>
      <p:sp>
        <p:nvSpPr>
          <p:cNvPr id="14" name="TextBox 13"/>
          <p:cNvSpPr txBox="1"/>
          <p:nvPr/>
        </p:nvSpPr>
        <p:spPr>
          <a:xfrm>
            <a:off x="7726679" y="5166360"/>
            <a:ext cx="3931920" cy="731520"/>
          </a:xfrm>
          <a:prstGeom prst="rect">
            <a:avLst/>
          </a:prstGeom>
          <a:noFill/>
        </p:spPr>
        <p:txBody>
          <a:bodyPr wrap="square" anchor="ctr" lIns="0" rIns="0" tIns="0" bIns="0">
            <a:spAutoFit/>
          </a:bodyPr>
          <a:lstStyle/>
          <a:p>
            <a:pPr algn="l">
              <a:spcAft>
                <a:spcPts val="600"/>
              </a:spcAft>
            </a:pPr>
            <a:r>
              <a:rPr sz="2400" b="0" i="0">
                <a:solidFill>
                  <a:srgbClr val="1A1A1A"/>
                </a:solidFill>
                <a:latin typeface="Calibri"/>
              </a:rPr>
              <a:t>what comes 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Modules, packages, libraries</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13</a:t>
            </a:r>
          </a:p>
        </p:txBody>
      </p:sp>
      <p:sp>
        <p:nvSpPr>
          <p:cNvPr id="5" name="Rounded Rectangle 4"/>
          <p:cNvSpPr/>
          <p:nvPr/>
        </p:nvSpPr>
        <p:spPr>
          <a:xfrm>
            <a:off x="548640" y="1371600"/>
            <a:ext cx="4480560" cy="137160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81328"/>
            <a:ext cx="4023360" cy="457200"/>
          </a:xfrm>
          <a:prstGeom prst="rect">
            <a:avLst/>
          </a:prstGeom>
          <a:noFill/>
        </p:spPr>
        <p:txBody>
          <a:bodyPr wrap="square" anchor="t" lIns="0" rIns="0" tIns="0" bIns="0">
            <a:spAutoFit/>
          </a:bodyPr>
          <a:lstStyle/>
          <a:p>
            <a:pPr algn="l">
              <a:spcAft>
                <a:spcPts val="600"/>
              </a:spcAft>
            </a:pPr>
            <a:r>
              <a:rPr sz="2800" b="1" i="0">
                <a:solidFill>
                  <a:srgbClr val="B5452B"/>
                </a:solidFill>
                <a:latin typeface="Calibri"/>
              </a:rPr>
              <a:t>module</a:t>
            </a:r>
          </a:p>
        </p:txBody>
      </p:sp>
      <p:sp>
        <p:nvSpPr>
          <p:cNvPr id="7" name="TextBox 6"/>
          <p:cNvSpPr txBox="1"/>
          <p:nvPr/>
        </p:nvSpPr>
        <p:spPr>
          <a:xfrm>
            <a:off x="777240" y="2011680"/>
            <a:ext cx="4023360" cy="640080"/>
          </a:xfrm>
          <a:prstGeom prst="rect">
            <a:avLst/>
          </a:prstGeom>
          <a:noFill/>
        </p:spPr>
        <p:txBody>
          <a:bodyPr wrap="square" anchor="t" lIns="0" rIns="0" tIns="0" bIns="0">
            <a:spAutoFit/>
          </a:bodyPr>
          <a:lstStyle/>
          <a:p>
            <a:pPr algn="l">
              <a:spcAft>
                <a:spcPts val="600"/>
              </a:spcAft>
            </a:pPr>
            <a:r>
              <a:rPr sz="2000" b="0" i="0">
                <a:solidFill>
                  <a:srgbClr val="1A1A1A"/>
                </a:solidFill>
                <a:latin typeface="Calibri"/>
              </a:rPr>
              <a:t>one file of code: </a:t>
            </a:r>
            <a:r>
              <a:rPr sz="2000" b="0" i="0">
                <a:solidFill>
                  <a:srgbClr val="1F3A34"/>
                </a:solidFill>
                <a:latin typeface="Courier New"/>
              </a:rPr>
              <a:t>re</a:t>
            </a:r>
          </a:p>
        </p:txBody>
      </p:sp>
      <p:sp>
        <p:nvSpPr>
          <p:cNvPr id="8" name="Rounded Rectangle 7"/>
          <p:cNvSpPr/>
          <p:nvPr/>
        </p:nvSpPr>
        <p:spPr>
          <a:xfrm>
            <a:off x="548640" y="2971800"/>
            <a:ext cx="4480560" cy="137160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081528"/>
            <a:ext cx="4023360" cy="457200"/>
          </a:xfrm>
          <a:prstGeom prst="rect">
            <a:avLst/>
          </a:prstGeom>
          <a:noFill/>
        </p:spPr>
        <p:txBody>
          <a:bodyPr wrap="square" anchor="t" lIns="0" rIns="0" tIns="0" bIns="0">
            <a:spAutoFit/>
          </a:bodyPr>
          <a:lstStyle/>
          <a:p>
            <a:pPr algn="l">
              <a:spcAft>
                <a:spcPts val="600"/>
              </a:spcAft>
            </a:pPr>
            <a:r>
              <a:rPr sz="2800" b="1" i="0">
                <a:solidFill>
                  <a:srgbClr val="B5452B"/>
                </a:solidFill>
                <a:latin typeface="Calibri"/>
              </a:rPr>
              <a:t>package</a:t>
            </a:r>
          </a:p>
        </p:txBody>
      </p:sp>
      <p:sp>
        <p:nvSpPr>
          <p:cNvPr id="10" name="TextBox 9"/>
          <p:cNvSpPr txBox="1"/>
          <p:nvPr/>
        </p:nvSpPr>
        <p:spPr>
          <a:xfrm>
            <a:off x="777240" y="3611880"/>
            <a:ext cx="4023360" cy="640080"/>
          </a:xfrm>
          <a:prstGeom prst="rect">
            <a:avLst/>
          </a:prstGeom>
          <a:noFill/>
        </p:spPr>
        <p:txBody>
          <a:bodyPr wrap="square" anchor="t" lIns="0" rIns="0" tIns="0" bIns="0">
            <a:spAutoFit/>
          </a:bodyPr>
          <a:lstStyle/>
          <a:p>
            <a:pPr algn="l">
              <a:spcAft>
                <a:spcPts val="600"/>
              </a:spcAft>
            </a:pPr>
            <a:r>
              <a:rPr sz="2000" b="0" i="0">
                <a:solidFill>
                  <a:srgbClr val="1A1A1A"/>
                </a:solidFill>
                <a:latin typeface="Calibri"/>
              </a:rPr>
              <a:t>a collection of modules: </a:t>
            </a:r>
            <a:r>
              <a:rPr sz="2000" b="0" i="0">
                <a:solidFill>
                  <a:srgbClr val="1F3A34"/>
                </a:solidFill>
                <a:latin typeface="Courier New"/>
              </a:rPr>
              <a:t>nltk</a:t>
            </a:r>
          </a:p>
        </p:txBody>
      </p:sp>
      <p:sp>
        <p:nvSpPr>
          <p:cNvPr id="11" name="Rounded Rectangle 10"/>
          <p:cNvSpPr/>
          <p:nvPr/>
        </p:nvSpPr>
        <p:spPr>
          <a:xfrm>
            <a:off x="548640" y="4572000"/>
            <a:ext cx="4480560" cy="137160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681728"/>
            <a:ext cx="4023360" cy="457200"/>
          </a:xfrm>
          <a:prstGeom prst="rect">
            <a:avLst/>
          </a:prstGeom>
          <a:noFill/>
        </p:spPr>
        <p:txBody>
          <a:bodyPr wrap="square" anchor="t" lIns="0" rIns="0" tIns="0" bIns="0">
            <a:spAutoFit/>
          </a:bodyPr>
          <a:lstStyle/>
          <a:p>
            <a:pPr algn="l">
              <a:spcAft>
                <a:spcPts val="600"/>
              </a:spcAft>
            </a:pPr>
            <a:r>
              <a:rPr sz="2800" b="1" i="0">
                <a:solidFill>
                  <a:srgbClr val="B5452B"/>
                </a:solidFill>
                <a:latin typeface="Calibri"/>
              </a:rPr>
              <a:t>library</a:t>
            </a:r>
          </a:p>
        </p:txBody>
      </p:sp>
      <p:sp>
        <p:nvSpPr>
          <p:cNvPr id="13" name="TextBox 12"/>
          <p:cNvSpPr txBox="1"/>
          <p:nvPr/>
        </p:nvSpPr>
        <p:spPr>
          <a:xfrm>
            <a:off x="777240" y="5212080"/>
            <a:ext cx="4023360" cy="640080"/>
          </a:xfrm>
          <a:prstGeom prst="rect">
            <a:avLst/>
          </a:prstGeom>
          <a:noFill/>
        </p:spPr>
        <p:txBody>
          <a:bodyPr wrap="square" anchor="t" lIns="0" rIns="0" tIns="0" bIns="0">
            <a:spAutoFit/>
          </a:bodyPr>
          <a:lstStyle/>
          <a:p>
            <a:pPr algn="l">
              <a:spcAft>
                <a:spcPts val="600"/>
              </a:spcAft>
            </a:pPr>
            <a:r>
              <a:rPr sz="2000" b="0" i="0">
                <a:solidFill>
                  <a:srgbClr val="1A1A1A"/>
                </a:solidFill>
                <a:latin typeface="Calibri"/>
              </a:rPr>
              <a:t>either, informally: </a:t>
            </a:r>
            <a:r>
              <a:rPr sz="2000" b="0" i="0">
                <a:solidFill>
                  <a:srgbClr val="1F3A34"/>
                </a:solidFill>
                <a:latin typeface="Courier New"/>
              </a:rPr>
              <a:t>pandas</a:t>
            </a:r>
          </a:p>
        </p:txBody>
      </p:sp>
      <p:sp>
        <p:nvSpPr>
          <p:cNvPr id="14" name="Rounded Rectangle 13"/>
          <p:cNvSpPr/>
          <p:nvPr/>
        </p:nvSpPr>
        <p:spPr>
          <a:xfrm>
            <a:off x="5394960" y="1371600"/>
            <a:ext cx="6245352" cy="4572000"/>
          </a:xfrm>
          <a:prstGeom prst="roundRect">
            <a:avLst>
              <a:gd name="adj" fmla="val 6000"/>
            </a:avLst>
          </a:prstGeom>
          <a:solidFill>
            <a:srgbClr val="EE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77840" y="1508760"/>
            <a:ext cx="5879592" cy="4297680"/>
          </a:xfrm>
          <a:prstGeom prst="rect">
            <a:avLst/>
          </a:prstGeom>
          <a:noFill/>
        </p:spPr>
        <p:txBody>
          <a:bodyPr wrap="square" anchor="t" lIns="45720" rIns="45720">
            <a:spAutoFit/>
          </a:bodyPr>
          <a:lstStyle/>
          <a:p>
            <a:pPr algn="l">
              <a:spcAft>
                <a:spcPts val="200"/>
              </a:spcAft>
            </a:pPr>
            <a:r>
              <a:rPr sz="2000" b="0" i="0">
                <a:solidFill>
                  <a:srgbClr val="1A1A1A"/>
                </a:solidFill>
                <a:latin typeface="Courier New"/>
              </a:rPr>
              <a:t>import statistics</a:t>
            </a:r>
          </a:p>
          <a:p>
            <a:pPr algn="l">
              <a:spcAft>
                <a:spcPts val="200"/>
              </a:spcAft>
            </a:pPr>
            <a:r>
              <a:rPr sz="2000" b="0" i="0">
                <a:solidFill>
                  <a:srgbClr val="1A1A1A"/>
                </a:solidFill>
                <a:latin typeface="Courier New"/>
              </a:rPr>
              <a:t>statistics.mean([3, 6, 6, 2, 4])</a:t>
            </a:r>
          </a:p>
          <a:p>
            <a:pPr algn="l">
              <a:spcAft>
                <a:spcPts val="200"/>
              </a:spcAft>
            </a:pPr>
            <a:r>
              <a:rPr sz="2000" b="0" i="0">
                <a:solidFill>
                  <a:srgbClr val="B5452B"/>
                </a:solidFill>
                <a:latin typeface="Courier New"/>
              </a:rPr>
              <a:t>→ 4.2</a:t>
            </a:r>
          </a:p>
          <a:p>
            <a:pPr algn="l">
              <a:spcAft>
                <a:spcPts val="200"/>
              </a:spcAft>
            </a:pPr>
            <a:r>
              <a:rPr sz="2000" b="0" i="0">
                <a:solidFill>
                  <a:srgbClr val="1A1A1A"/>
                </a:solidFill>
                <a:latin typeface="Courier New"/>
              </a:rPr>
              <a:t> </a:t>
            </a:r>
          </a:p>
          <a:p>
            <a:pPr algn="l">
              <a:spcAft>
                <a:spcPts val="200"/>
              </a:spcAft>
            </a:pPr>
            <a:r>
              <a:rPr sz="2000" b="0" i="0">
                <a:solidFill>
                  <a:srgbClr val="1A1A1A"/>
                </a:solidFill>
                <a:latin typeface="Courier New"/>
              </a:rPr>
              <a:t>import nltk</a:t>
            </a:r>
          </a:p>
          <a:p>
            <a:pPr algn="l">
              <a:spcAft>
                <a:spcPts val="200"/>
              </a:spcAft>
            </a:pPr>
            <a:r>
              <a:rPr sz="2000" b="0" i="0">
                <a:solidFill>
                  <a:srgbClr val="1A1A1A"/>
                </a:solidFill>
                <a:latin typeface="Courier New"/>
              </a:rPr>
              <a:t>nltk.download('punkt_tab')</a:t>
            </a:r>
          </a:p>
          <a:p>
            <a:pPr algn="l">
              <a:spcAft>
                <a:spcPts val="200"/>
              </a:spcAft>
            </a:pPr>
            <a:r>
              <a:rPr sz="2000" b="0" i="0">
                <a:solidFill>
                  <a:srgbClr val="1A1A1A"/>
                </a:solidFill>
                <a:latin typeface="Courier New"/>
              </a:rPr>
              <a:t> </a:t>
            </a:r>
          </a:p>
          <a:p>
            <a:pPr algn="l">
              <a:spcAft>
                <a:spcPts val="200"/>
              </a:spcAft>
            </a:pPr>
            <a:r>
              <a:rPr sz="2000" b="0" i="0">
                <a:solidFill>
                  <a:srgbClr val="1A1A1A"/>
                </a:solidFill>
                <a:latin typeface="Courier New"/>
              </a:rPr>
              <a:t/>
            </a:r>
            <a:r>
              <a:rPr sz="2000" b="0" i="1">
                <a:solidFill>
                  <a:srgbClr val="55605B"/>
                </a:solidFill>
                <a:latin typeface="Courier New"/>
              </a:rPr>
              <a:t># in Colab, if a package is missing:</a:t>
            </a:r>
          </a:p>
          <a:p>
            <a:pPr algn="l">
              <a:spcAft>
                <a:spcPts val="200"/>
              </a:spcAft>
            </a:pPr>
            <a:r>
              <a:rPr sz="2000" b="0" i="0">
                <a:solidFill>
                  <a:srgbClr val="1A1A1A"/>
                </a:solidFill>
                <a:latin typeface="Courier New"/>
              </a:rPr>
              <a:t>!pip install something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Error messages: read the last line</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14</a:t>
            </a:r>
          </a:p>
        </p:txBody>
      </p:sp>
      <p:graphicFrame>
        <p:nvGraphicFramePr>
          <p:cNvPr id="5" name="Table 4"/>
          <p:cNvGraphicFramePr>
            <a:graphicFrameLocks noGrp="1"/>
          </p:cNvGraphicFramePr>
          <p:nvPr/>
        </p:nvGraphicFramePr>
        <p:xfrm>
          <a:off x="548640" y="1325880"/>
          <a:ext cx="11091671" cy="3840480"/>
        </p:xfrm>
        <a:graphic>
          <a:graphicData uri="http://schemas.openxmlformats.org/drawingml/2006/table">
            <a:tbl>
              <a:tblPr firstRow="1" bandRow="1">
                <a:tableStyleId>{5C22544A-7EE6-4342-B048-85BDC9FD1C3A}</a:tableStyleId>
              </a:tblPr>
              <a:tblGrid>
                <a:gridCol w="3108960"/>
                <a:gridCol w="3931920"/>
                <a:gridCol w="4050791"/>
              </a:tblGrid>
              <a:tr h="640080">
                <a:tc>
                  <a:txBody>
                    <a:bodyPr/>
                    <a:lstStyle/>
                    <a:p>
                      <a:r>
                        <a:rPr sz="2000" b="1">
                          <a:solidFill>
                            <a:srgbClr val="FFFFFF"/>
                          </a:solidFill>
                          <a:latin typeface="Calibri"/>
                        </a:rPr>
                        <a:t>Error</a:t>
                      </a:r>
                    </a:p>
                  </a:txBody>
                  <a:tcPr anchor="ctr">
                    <a:solidFill>
                      <a:srgbClr val="1F3A34"/>
                    </a:solidFill>
                  </a:tcPr>
                </a:tc>
                <a:tc>
                  <a:txBody>
                    <a:bodyPr/>
                    <a:lstStyle/>
                    <a:p>
                      <a:r>
                        <a:rPr sz="2000" b="1">
                          <a:solidFill>
                            <a:srgbClr val="FFFFFF"/>
                          </a:solidFill>
                          <a:latin typeface="Calibri"/>
                        </a:rPr>
                        <a:t>Means</a:t>
                      </a:r>
                    </a:p>
                  </a:txBody>
                  <a:tcPr anchor="ctr">
                    <a:solidFill>
                      <a:srgbClr val="1F3A34"/>
                    </a:solidFill>
                  </a:tcPr>
                </a:tc>
                <a:tc>
                  <a:txBody>
                    <a:bodyPr/>
                    <a:lstStyle/>
                    <a:p>
                      <a:r>
                        <a:rPr sz="2000" b="1">
                          <a:solidFill>
                            <a:srgbClr val="FFFFFF"/>
                          </a:solidFill>
                          <a:latin typeface="Calibri"/>
                        </a:rPr>
                        <a:t>Example</a:t>
                      </a:r>
                    </a:p>
                  </a:txBody>
                  <a:tcPr anchor="ctr">
                    <a:solidFill>
                      <a:srgbClr val="1F3A34"/>
                    </a:solidFill>
                  </a:tcPr>
                </a:tc>
              </a:tr>
              <a:tr h="640080">
                <a:tc>
                  <a:txBody>
                    <a:bodyPr/>
                    <a:lstStyle/>
                    <a:p>
                      <a:r>
                        <a:rPr sz="2000" b="0">
                          <a:solidFill>
                            <a:srgbClr val="B5452B"/>
                          </a:solidFill>
                          <a:latin typeface="Courier New"/>
                        </a:rPr>
                        <a:t>NameError</a:t>
                      </a:r>
                    </a:p>
                  </a:txBody>
                  <a:tcPr anchor="ctr">
                    <a:solidFill>
                      <a:srgbClr val="EEF3F0"/>
                    </a:solidFill>
                  </a:tcPr>
                </a:tc>
                <a:tc>
                  <a:txBody>
                    <a:bodyPr/>
                    <a:lstStyle/>
                    <a:p>
                      <a:r>
                        <a:rPr sz="2000" b="0">
                          <a:solidFill>
                            <a:srgbClr val="1A1A1A"/>
                          </a:solidFill>
                          <a:latin typeface="Calibri"/>
                        </a:rPr>
                        <a:t>unknown name</a:t>
                      </a:r>
                    </a:p>
                  </a:txBody>
                  <a:tcPr anchor="ctr">
                    <a:solidFill>
                      <a:srgbClr val="EEF3F0"/>
                    </a:solidFill>
                  </a:tcPr>
                </a:tc>
                <a:tc>
                  <a:txBody>
                    <a:bodyPr/>
                    <a:lstStyle/>
                    <a:p>
                      <a:r>
                        <a:rPr sz="2000" b="0">
                          <a:solidFill>
                            <a:srgbClr val="1A1A1A"/>
                          </a:solidFill>
                          <a:latin typeface="Courier New"/>
                        </a:rPr>
                        <a:t>Print(x)</a:t>
                      </a:r>
                    </a:p>
                  </a:txBody>
                  <a:tcPr anchor="ctr">
                    <a:solidFill>
                      <a:srgbClr val="EEF3F0"/>
                    </a:solidFill>
                  </a:tcPr>
                </a:tc>
              </a:tr>
              <a:tr h="640080">
                <a:tc>
                  <a:txBody>
                    <a:bodyPr/>
                    <a:lstStyle/>
                    <a:p>
                      <a:r>
                        <a:rPr sz="2000" b="0">
                          <a:solidFill>
                            <a:srgbClr val="B5452B"/>
                          </a:solidFill>
                          <a:latin typeface="Courier New"/>
                        </a:rPr>
                        <a:t>AttributeError</a:t>
                      </a:r>
                    </a:p>
                  </a:txBody>
                  <a:tcPr anchor="ctr">
                    <a:solidFill>
                      <a:srgbClr val="FFFFFF"/>
                    </a:solidFill>
                  </a:tcPr>
                </a:tc>
                <a:tc>
                  <a:txBody>
                    <a:bodyPr/>
                    <a:lstStyle/>
                    <a:p>
                      <a:r>
                        <a:rPr sz="2000" b="0">
                          <a:solidFill>
                            <a:srgbClr val="1A1A1A"/>
                          </a:solidFill>
                          <a:latin typeface="Calibri"/>
                        </a:rPr>
                        <a:t>no such method</a:t>
                      </a:r>
                    </a:p>
                  </a:txBody>
                  <a:tcPr anchor="ctr">
                    <a:solidFill>
                      <a:srgbClr val="FFFFFF"/>
                    </a:solidFill>
                  </a:tcPr>
                </a:tc>
                <a:tc>
                  <a:txBody>
                    <a:bodyPr/>
                    <a:lstStyle/>
                    <a:p>
                      <a:r>
                        <a:rPr sz="2000" b="0">
                          <a:solidFill>
                            <a:srgbClr val="1A1A1A"/>
                          </a:solidFill>
                          <a:latin typeface="Courier New"/>
                        </a:rPr>
                        <a:t>sample.Upper()</a:t>
                      </a:r>
                    </a:p>
                  </a:txBody>
                  <a:tcPr anchor="ctr">
                    <a:solidFill>
                      <a:srgbClr val="FFFFFF"/>
                    </a:solidFill>
                  </a:tcPr>
                </a:tc>
              </a:tr>
              <a:tr h="640080">
                <a:tc>
                  <a:txBody>
                    <a:bodyPr/>
                    <a:lstStyle/>
                    <a:p>
                      <a:r>
                        <a:rPr sz="2000" b="0">
                          <a:solidFill>
                            <a:srgbClr val="B5452B"/>
                          </a:solidFill>
                          <a:latin typeface="Courier New"/>
                        </a:rPr>
                        <a:t>IndexError</a:t>
                      </a:r>
                    </a:p>
                  </a:txBody>
                  <a:tcPr anchor="ctr">
                    <a:solidFill>
                      <a:srgbClr val="EEF3F0"/>
                    </a:solidFill>
                  </a:tcPr>
                </a:tc>
                <a:tc>
                  <a:txBody>
                    <a:bodyPr/>
                    <a:lstStyle/>
                    <a:p>
                      <a:r>
                        <a:rPr sz="2000" b="0">
                          <a:solidFill>
                            <a:srgbClr val="1A1A1A"/>
                          </a:solidFill>
                          <a:latin typeface="Calibri"/>
                        </a:rPr>
                        <a:t>past the end of a list</a:t>
                      </a:r>
                    </a:p>
                  </a:txBody>
                  <a:tcPr anchor="ctr">
                    <a:solidFill>
                      <a:srgbClr val="EEF3F0"/>
                    </a:solidFill>
                  </a:tcPr>
                </a:tc>
                <a:tc>
                  <a:txBody>
                    <a:bodyPr/>
                    <a:lstStyle/>
                    <a:p>
                      <a:r>
                        <a:rPr sz="2000" b="0">
                          <a:solidFill>
                            <a:srgbClr val="1A1A1A"/>
                          </a:solidFill>
                          <a:latin typeface="Courier New"/>
                        </a:rPr>
                        <a:t>words[100]</a:t>
                      </a:r>
                    </a:p>
                  </a:txBody>
                  <a:tcPr anchor="ctr">
                    <a:solidFill>
                      <a:srgbClr val="EEF3F0"/>
                    </a:solidFill>
                  </a:tcPr>
                </a:tc>
              </a:tr>
              <a:tr h="640080">
                <a:tc>
                  <a:txBody>
                    <a:bodyPr/>
                    <a:lstStyle/>
                    <a:p>
                      <a:r>
                        <a:rPr sz="2000" b="0">
                          <a:solidFill>
                            <a:srgbClr val="B5452B"/>
                          </a:solidFill>
                          <a:latin typeface="Courier New"/>
                        </a:rPr>
                        <a:t>TypeError</a:t>
                      </a:r>
                    </a:p>
                  </a:txBody>
                  <a:tcPr anchor="ctr">
                    <a:solidFill>
                      <a:srgbClr val="FFFFFF"/>
                    </a:solidFill>
                  </a:tcPr>
                </a:tc>
                <a:tc>
                  <a:txBody>
                    <a:bodyPr/>
                    <a:lstStyle/>
                    <a:p>
                      <a:r>
                        <a:rPr sz="2000" b="0">
                          <a:solidFill>
                            <a:srgbClr val="1A1A1A"/>
                          </a:solidFill>
                          <a:latin typeface="Calibri"/>
                        </a:rPr>
                        <a:t>wrong type</a:t>
                      </a:r>
                    </a:p>
                  </a:txBody>
                  <a:tcPr anchor="ctr">
                    <a:solidFill>
                      <a:srgbClr val="FFFFFF"/>
                    </a:solidFill>
                  </a:tcPr>
                </a:tc>
                <a:tc>
                  <a:txBody>
                    <a:bodyPr/>
                    <a:lstStyle/>
                    <a:p>
                      <a:r>
                        <a:rPr sz="2000" b="0">
                          <a:solidFill>
                            <a:srgbClr val="1A1A1A"/>
                          </a:solidFill>
                          <a:latin typeface="Courier New"/>
                        </a:rPr>
                        <a:t>"Page " + 5</a:t>
                      </a:r>
                    </a:p>
                  </a:txBody>
                  <a:tcPr anchor="ctr">
                    <a:solidFill>
                      <a:srgbClr val="FFFFFF"/>
                    </a:solidFill>
                  </a:tcPr>
                </a:tc>
              </a:tr>
              <a:tr h="640080">
                <a:tc>
                  <a:txBody>
                    <a:bodyPr/>
                    <a:lstStyle/>
                    <a:p>
                      <a:r>
                        <a:rPr sz="2000" b="0">
                          <a:solidFill>
                            <a:srgbClr val="B5452B"/>
                          </a:solidFill>
                          <a:latin typeface="Courier New"/>
                        </a:rPr>
                        <a:t>SyntaxError</a:t>
                      </a:r>
                    </a:p>
                  </a:txBody>
                  <a:tcPr anchor="ctr">
                    <a:solidFill>
                      <a:srgbClr val="EEF3F0"/>
                    </a:solidFill>
                  </a:tcPr>
                </a:tc>
                <a:tc>
                  <a:txBody>
                    <a:bodyPr/>
                    <a:lstStyle/>
                    <a:p>
                      <a:r>
                        <a:rPr sz="2000" b="0">
                          <a:solidFill>
                            <a:srgbClr val="1A1A1A"/>
                          </a:solidFill>
                          <a:latin typeface="Calibri"/>
                        </a:rPr>
                        <a:t>not valid Python</a:t>
                      </a:r>
                    </a:p>
                  </a:txBody>
                  <a:tcPr anchor="ctr">
                    <a:solidFill>
                      <a:srgbClr val="EEF3F0"/>
                    </a:solidFill>
                  </a:tcPr>
                </a:tc>
                <a:tc>
                  <a:txBody>
                    <a:bodyPr/>
                    <a:lstStyle/>
                    <a:p>
                      <a:r>
                        <a:rPr sz="2000" b="0">
                          <a:solidFill>
                            <a:srgbClr val="1A1A1A"/>
                          </a:solidFill>
                          <a:latin typeface="Courier New"/>
                        </a:rPr>
                        <a:t>print("hi)</a:t>
                      </a:r>
                    </a:p>
                  </a:txBody>
                  <a:tcPr anchor="ctr">
                    <a:solidFill>
                      <a:srgbClr val="EEF3F0"/>
                    </a:solidFill>
                  </a:tcPr>
                </a:tc>
              </a:tr>
            </a:tbl>
          </a:graphicData>
        </a:graphic>
      </p:graphicFrame>
      <p:sp>
        <p:nvSpPr>
          <p:cNvPr id="6" name="TextBox 5"/>
          <p:cNvSpPr txBox="1"/>
          <p:nvPr/>
        </p:nvSpPr>
        <p:spPr>
          <a:xfrm>
            <a:off x="548640" y="5440680"/>
            <a:ext cx="11064240" cy="731520"/>
          </a:xfrm>
          <a:prstGeom prst="rect">
            <a:avLst/>
          </a:prstGeom>
          <a:noFill/>
        </p:spPr>
        <p:txBody>
          <a:bodyPr wrap="square" anchor="t" lIns="0" rIns="0" tIns="0" bIns="0">
            <a:spAutoFit/>
          </a:bodyPr>
          <a:lstStyle/>
          <a:p>
            <a:pPr algn="l">
              <a:spcAft>
                <a:spcPts val="600"/>
              </a:spcAft>
            </a:pPr>
            <a:r>
              <a:rPr sz="2400" b="1" i="0">
                <a:solidFill>
                  <a:srgbClr val="1F3A34"/>
                </a:solidFill>
                <a:latin typeface="Calibri"/>
              </a:rPr>
              <a:t>The worst error has no message: </a:t>
            </a:r>
            <a:r>
              <a:rPr sz="2400" b="0" i="1">
                <a:solidFill>
                  <a:srgbClr val="1A1A1A"/>
                </a:solidFill>
                <a:latin typeface="Calibri"/>
              </a:rPr>
              <a:t>wrong answers, quietly.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ctr" lIns="0" rIns="0" tIns="0" bIns="0">
            <a:spAutoFit/>
          </a:bodyPr>
          <a:lstStyle/>
          <a:p>
            <a:pPr algn="l">
              <a:spcAft>
                <a:spcPts val="600"/>
              </a:spcAft>
            </a:pPr>
            <a:r>
              <a:rPr sz="4000" b="0" i="0">
                <a:solidFill>
                  <a:srgbClr val="1F3A34"/>
                </a:solidFill>
                <a:latin typeface="Cambria"/>
              </a:rPr>
              <a:t>Habits for working with AI-written code</a:t>
            </a:r>
          </a:p>
        </p:txBody>
      </p:sp>
      <p:sp>
        <p:nvSpPr>
          <p:cNvPr id="3" name="TextBox 2"/>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4" name="TextBox 3"/>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15</a:t>
            </a:r>
          </a:p>
        </p:txBody>
      </p:sp>
      <p:sp>
        <p:nvSpPr>
          <p:cNvPr id="5" name="Oval 4"/>
          <p:cNvSpPr/>
          <p:nvPr/>
        </p:nvSpPr>
        <p:spPr>
          <a:xfrm>
            <a:off x="548640" y="1417320"/>
            <a:ext cx="658368" cy="658368"/>
          </a:xfrm>
          <a:prstGeom prst="ellipse">
            <a:avLst/>
          </a:prstGeom>
          <a:solidFill>
            <a:srgbClr val="B5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658368" cy="658368"/>
          </a:xfrm>
          <a:prstGeom prst="rect">
            <a:avLst/>
          </a:prstGeom>
          <a:noFill/>
        </p:spPr>
        <p:txBody>
          <a:bodyPr wrap="square" anchor="ctr" lIns="0" rIns="0" tIns="0" bIns="0">
            <a:spAutoFit/>
          </a:bodyPr>
          <a:lstStyle/>
          <a:p>
            <a:pPr algn="ctr">
              <a:spcAft>
                <a:spcPts val="600"/>
              </a:spcAft>
            </a:pPr>
            <a:r>
              <a:rPr sz="2400" b="1" i="0">
                <a:solidFill>
                  <a:srgbClr val="FFFFFF"/>
                </a:solidFill>
                <a:latin typeface="Calibri"/>
              </a:rPr>
              <a:t>1</a:t>
            </a:r>
          </a:p>
        </p:txBody>
      </p:sp>
      <p:sp>
        <p:nvSpPr>
          <p:cNvPr id="7" name="TextBox 6"/>
          <p:cNvSpPr txBox="1"/>
          <p:nvPr/>
        </p:nvSpPr>
        <p:spPr>
          <a:xfrm>
            <a:off x="1463040" y="1325880"/>
            <a:ext cx="10149840" cy="457200"/>
          </a:xfrm>
          <a:prstGeom prst="rect">
            <a:avLst/>
          </a:prstGeom>
          <a:noFill/>
        </p:spPr>
        <p:txBody>
          <a:bodyPr wrap="square" anchor="t" lIns="0" rIns="0" tIns="0" bIns="0">
            <a:spAutoFit/>
          </a:bodyPr>
          <a:lstStyle/>
          <a:p>
            <a:pPr algn="l">
              <a:spcAft>
                <a:spcPts val="600"/>
              </a:spcAft>
            </a:pPr>
            <a:r>
              <a:rPr sz="2800" b="1" i="0">
                <a:solidFill>
                  <a:srgbClr val="1F3A34"/>
                </a:solidFill>
                <a:latin typeface="Calibri"/>
              </a:rPr>
              <a:t>Test it on something you can check by hand</a:t>
            </a:r>
          </a:p>
        </p:txBody>
      </p:sp>
      <p:sp>
        <p:nvSpPr>
          <p:cNvPr id="8" name="TextBox 7"/>
          <p:cNvSpPr txBox="1"/>
          <p:nvPr/>
        </p:nvSpPr>
        <p:spPr>
          <a:xfrm>
            <a:off x="1463040" y="1801368"/>
            <a:ext cx="10149840" cy="411480"/>
          </a:xfrm>
          <a:prstGeom prst="rect">
            <a:avLst/>
          </a:prstGeom>
          <a:noFill/>
        </p:spPr>
        <p:txBody>
          <a:bodyPr wrap="square" anchor="t" lIns="0" rIns="0" tIns="0" bIns="0">
            <a:spAutoFit/>
          </a:bodyPr>
          <a:lstStyle/>
          <a:p>
            <a:pPr algn="l">
              <a:spcAft>
                <a:spcPts val="600"/>
              </a:spcAft>
            </a:pPr>
            <a:r>
              <a:rPr sz="2000" b="0" i="0">
                <a:solidFill>
                  <a:srgbClr val="55605B"/>
                </a:solidFill>
                <a:latin typeface="Calibri"/>
              </a:rPr>
              <a:t>a few sentences where you know the answer</a:t>
            </a:r>
          </a:p>
        </p:txBody>
      </p:sp>
      <p:sp>
        <p:nvSpPr>
          <p:cNvPr id="9" name="Oval 8"/>
          <p:cNvSpPr/>
          <p:nvPr/>
        </p:nvSpPr>
        <p:spPr>
          <a:xfrm>
            <a:off x="548640" y="2386584"/>
            <a:ext cx="658368" cy="658368"/>
          </a:xfrm>
          <a:prstGeom prst="ellipse">
            <a:avLst/>
          </a:prstGeom>
          <a:solidFill>
            <a:srgbClr val="B5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86584"/>
            <a:ext cx="658368" cy="658368"/>
          </a:xfrm>
          <a:prstGeom prst="rect">
            <a:avLst/>
          </a:prstGeom>
          <a:noFill/>
        </p:spPr>
        <p:txBody>
          <a:bodyPr wrap="square" anchor="ctr" lIns="0" rIns="0" tIns="0" bIns="0">
            <a:spAutoFit/>
          </a:bodyPr>
          <a:lstStyle/>
          <a:p>
            <a:pPr algn="ctr">
              <a:spcAft>
                <a:spcPts val="600"/>
              </a:spcAft>
            </a:pPr>
            <a:r>
              <a:rPr sz="2400" b="1" i="0">
                <a:solidFill>
                  <a:srgbClr val="FFFFFF"/>
                </a:solidFill>
                <a:latin typeface="Calibri"/>
              </a:rPr>
              <a:t>2</a:t>
            </a:r>
          </a:p>
        </p:txBody>
      </p:sp>
      <p:sp>
        <p:nvSpPr>
          <p:cNvPr id="11" name="TextBox 10"/>
          <p:cNvSpPr txBox="1"/>
          <p:nvPr/>
        </p:nvSpPr>
        <p:spPr>
          <a:xfrm>
            <a:off x="1463040" y="2295144"/>
            <a:ext cx="10149840" cy="457200"/>
          </a:xfrm>
          <a:prstGeom prst="rect">
            <a:avLst/>
          </a:prstGeom>
          <a:noFill/>
        </p:spPr>
        <p:txBody>
          <a:bodyPr wrap="square" anchor="t" lIns="0" rIns="0" tIns="0" bIns="0">
            <a:spAutoFit/>
          </a:bodyPr>
          <a:lstStyle/>
          <a:p>
            <a:pPr algn="l">
              <a:spcAft>
                <a:spcPts val="600"/>
              </a:spcAft>
            </a:pPr>
            <a:r>
              <a:rPr sz="2800" b="1" i="0">
                <a:solidFill>
                  <a:srgbClr val="1F3A34"/>
                </a:solidFill>
                <a:latin typeface="Calibri"/>
              </a:rPr>
              <a:t>Ask what it assumed</a:t>
            </a:r>
          </a:p>
        </p:txBody>
      </p:sp>
      <p:sp>
        <p:nvSpPr>
          <p:cNvPr id="12" name="TextBox 11"/>
          <p:cNvSpPr txBox="1"/>
          <p:nvPr/>
        </p:nvSpPr>
        <p:spPr>
          <a:xfrm>
            <a:off x="1463040" y="2770632"/>
            <a:ext cx="10149840" cy="411480"/>
          </a:xfrm>
          <a:prstGeom prst="rect">
            <a:avLst/>
          </a:prstGeom>
          <a:noFill/>
        </p:spPr>
        <p:txBody>
          <a:bodyPr wrap="square" anchor="t" lIns="0" rIns="0" tIns="0" bIns="0">
            <a:spAutoFit/>
          </a:bodyPr>
          <a:lstStyle/>
          <a:p>
            <a:pPr algn="l">
              <a:spcAft>
                <a:spcPts val="600"/>
              </a:spcAft>
            </a:pPr>
            <a:r>
              <a:rPr sz="2000" b="0" i="0">
                <a:solidFill>
                  <a:srgbClr val="55605B"/>
                </a:solidFill>
                <a:latin typeface="Calibri"/>
              </a:rPr>
              <a:t>what is a word, a sentence, the text?</a:t>
            </a:r>
          </a:p>
        </p:txBody>
      </p:sp>
      <p:sp>
        <p:nvSpPr>
          <p:cNvPr id="13" name="Oval 12"/>
          <p:cNvSpPr/>
          <p:nvPr/>
        </p:nvSpPr>
        <p:spPr>
          <a:xfrm>
            <a:off x="548640" y="3355848"/>
            <a:ext cx="658368" cy="658368"/>
          </a:xfrm>
          <a:prstGeom prst="ellipse">
            <a:avLst/>
          </a:prstGeom>
          <a:solidFill>
            <a:srgbClr val="B5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355848"/>
            <a:ext cx="658368" cy="658368"/>
          </a:xfrm>
          <a:prstGeom prst="rect">
            <a:avLst/>
          </a:prstGeom>
          <a:noFill/>
        </p:spPr>
        <p:txBody>
          <a:bodyPr wrap="square" anchor="ctr" lIns="0" rIns="0" tIns="0" bIns="0">
            <a:spAutoFit/>
          </a:bodyPr>
          <a:lstStyle/>
          <a:p>
            <a:pPr algn="ctr">
              <a:spcAft>
                <a:spcPts val="600"/>
              </a:spcAft>
            </a:pPr>
            <a:r>
              <a:rPr sz="2400" b="1" i="0">
                <a:solidFill>
                  <a:srgbClr val="FFFFFF"/>
                </a:solidFill>
                <a:latin typeface="Calibri"/>
              </a:rPr>
              <a:t>3</a:t>
            </a:r>
          </a:p>
        </p:txBody>
      </p:sp>
      <p:sp>
        <p:nvSpPr>
          <p:cNvPr id="15" name="TextBox 14"/>
          <p:cNvSpPr txBox="1"/>
          <p:nvPr/>
        </p:nvSpPr>
        <p:spPr>
          <a:xfrm>
            <a:off x="1463040" y="3264408"/>
            <a:ext cx="10149840" cy="457200"/>
          </a:xfrm>
          <a:prstGeom prst="rect">
            <a:avLst/>
          </a:prstGeom>
          <a:noFill/>
        </p:spPr>
        <p:txBody>
          <a:bodyPr wrap="square" anchor="t" lIns="0" rIns="0" tIns="0" bIns="0">
            <a:spAutoFit/>
          </a:bodyPr>
          <a:lstStyle/>
          <a:p>
            <a:pPr algn="l">
              <a:spcAft>
                <a:spcPts val="600"/>
              </a:spcAft>
            </a:pPr>
            <a:r>
              <a:rPr sz="2800" b="1" i="0">
                <a:solidFill>
                  <a:srgbClr val="1F3A34"/>
                </a:solidFill>
                <a:latin typeface="Calibri"/>
              </a:rPr>
              <a:t>Read its explanation against the code</a:t>
            </a:r>
          </a:p>
        </p:txBody>
      </p:sp>
      <p:sp>
        <p:nvSpPr>
          <p:cNvPr id="16" name="TextBox 15"/>
          <p:cNvSpPr txBox="1"/>
          <p:nvPr/>
        </p:nvSpPr>
        <p:spPr>
          <a:xfrm>
            <a:off x="1463040" y="3739896"/>
            <a:ext cx="10149840" cy="411480"/>
          </a:xfrm>
          <a:prstGeom prst="rect">
            <a:avLst/>
          </a:prstGeom>
          <a:noFill/>
        </p:spPr>
        <p:txBody>
          <a:bodyPr wrap="square" anchor="t" lIns="0" rIns="0" tIns="0" bIns="0">
            <a:spAutoFit/>
          </a:bodyPr>
          <a:lstStyle/>
          <a:p>
            <a:pPr algn="l">
              <a:spcAft>
                <a:spcPts val="600"/>
              </a:spcAft>
            </a:pPr>
            <a:r>
              <a:rPr sz="2000" b="0" i="0">
                <a:solidFill>
                  <a:srgbClr val="55605B"/>
                </a:solidFill>
                <a:latin typeface="Calibri"/>
              </a:rPr>
              <a:t>explanations can be confidently wrong</a:t>
            </a:r>
          </a:p>
        </p:txBody>
      </p:sp>
      <p:sp>
        <p:nvSpPr>
          <p:cNvPr id="17" name="Oval 16"/>
          <p:cNvSpPr/>
          <p:nvPr/>
        </p:nvSpPr>
        <p:spPr>
          <a:xfrm>
            <a:off x="548640" y="4325112"/>
            <a:ext cx="658368" cy="658368"/>
          </a:xfrm>
          <a:prstGeom prst="ellipse">
            <a:avLst/>
          </a:prstGeom>
          <a:solidFill>
            <a:srgbClr val="B5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325112"/>
            <a:ext cx="658368" cy="658368"/>
          </a:xfrm>
          <a:prstGeom prst="rect">
            <a:avLst/>
          </a:prstGeom>
          <a:noFill/>
        </p:spPr>
        <p:txBody>
          <a:bodyPr wrap="square" anchor="ctr" lIns="0" rIns="0" tIns="0" bIns="0">
            <a:spAutoFit/>
          </a:bodyPr>
          <a:lstStyle/>
          <a:p>
            <a:pPr algn="ctr">
              <a:spcAft>
                <a:spcPts val="600"/>
              </a:spcAft>
            </a:pPr>
            <a:r>
              <a:rPr sz="2400" b="1" i="0">
                <a:solidFill>
                  <a:srgbClr val="FFFFFF"/>
                </a:solidFill>
                <a:latin typeface="Calibri"/>
              </a:rPr>
              <a:t>4</a:t>
            </a:r>
          </a:p>
        </p:txBody>
      </p:sp>
      <p:sp>
        <p:nvSpPr>
          <p:cNvPr id="19" name="TextBox 18"/>
          <p:cNvSpPr txBox="1"/>
          <p:nvPr/>
        </p:nvSpPr>
        <p:spPr>
          <a:xfrm>
            <a:off x="1463040" y="4233672"/>
            <a:ext cx="10149840" cy="457200"/>
          </a:xfrm>
          <a:prstGeom prst="rect">
            <a:avLst/>
          </a:prstGeom>
          <a:noFill/>
        </p:spPr>
        <p:txBody>
          <a:bodyPr wrap="square" anchor="t" lIns="0" rIns="0" tIns="0" bIns="0">
            <a:spAutoFit/>
          </a:bodyPr>
          <a:lstStyle/>
          <a:p>
            <a:pPr algn="l">
              <a:spcAft>
                <a:spcPts val="600"/>
              </a:spcAft>
            </a:pPr>
            <a:r>
              <a:rPr sz="2800" b="1" i="0">
                <a:solidFill>
                  <a:srgbClr val="1F3A34"/>
                </a:solidFill>
                <a:latin typeface="Calibri"/>
              </a:rPr>
              <a:t>Ask twice, ask another AI</a:t>
            </a:r>
          </a:p>
        </p:txBody>
      </p:sp>
      <p:sp>
        <p:nvSpPr>
          <p:cNvPr id="20" name="TextBox 19"/>
          <p:cNvSpPr txBox="1"/>
          <p:nvPr/>
        </p:nvSpPr>
        <p:spPr>
          <a:xfrm>
            <a:off x="1463040" y="4709160"/>
            <a:ext cx="10149840" cy="411480"/>
          </a:xfrm>
          <a:prstGeom prst="rect">
            <a:avLst/>
          </a:prstGeom>
          <a:noFill/>
        </p:spPr>
        <p:txBody>
          <a:bodyPr wrap="square" anchor="t" lIns="0" rIns="0" tIns="0" bIns="0">
            <a:spAutoFit/>
          </a:bodyPr>
          <a:lstStyle/>
          <a:p>
            <a:pPr algn="l">
              <a:spcAft>
                <a:spcPts val="600"/>
              </a:spcAft>
            </a:pPr>
            <a:r>
              <a:rPr sz="2000" b="0" i="0">
                <a:solidFill>
                  <a:srgbClr val="55605B"/>
                </a:solidFill>
                <a:latin typeface="Calibri"/>
              </a:rPr>
              <a:t>same prompt, same answer?</a:t>
            </a:r>
          </a:p>
        </p:txBody>
      </p:sp>
      <p:sp>
        <p:nvSpPr>
          <p:cNvPr id="21" name="Oval 20"/>
          <p:cNvSpPr/>
          <p:nvPr/>
        </p:nvSpPr>
        <p:spPr>
          <a:xfrm>
            <a:off x="548640" y="5294376"/>
            <a:ext cx="658368" cy="658368"/>
          </a:xfrm>
          <a:prstGeom prst="ellipse">
            <a:avLst/>
          </a:prstGeom>
          <a:solidFill>
            <a:srgbClr val="B5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94376"/>
            <a:ext cx="658368" cy="658368"/>
          </a:xfrm>
          <a:prstGeom prst="rect">
            <a:avLst/>
          </a:prstGeom>
          <a:noFill/>
        </p:spPr>
        <p:txBody>
          <a:bodyPr wrap="square" anchor="ctr" lIns="0" rIns="0" tIns="0" bIns="0">
            <a:spAutoFit/>
          </a:bodyPr>
          <a:lstStyle/>
          <a:p>
            <a:pPr algn="ctr">
              <a:spcAft>
                <a:spcPts val="600"/>
              </a:spcAft>
            </a:pPr>
            <a:r>
              <a:rPr sz="2400" b="1" i="0">
                <a:solidFill>
                  <a:srgbClr val="FFFFFF"/>
                </a:solidFill>
                <a:latin typeface="Calibri"/>
              </a:rPr>
              <a:t>5</a:t>
            </a:r>
          </a:p>
        </p:txBody>
      </p:sp>
      <p:sp>
        <p:nvSpPr>
          <p:cNvPr id="23" name="TextBox 22"/>
          <p:cNvSpPr txBox="1"/>
          <p:nvPr/>
        </p:nvSpPr>
        <p:spPr>
          <a:xfrm>
            <a:off x="1463040" y="5202936"/>
            <a:ext cx="10149840" cy="457200"/>
          </a:xfrm>
          <a:prstGeom prst="rect">
            <a:avLst/>
          </a:prstGeom>
          <a:noFill/>
        </p:spPr>
        <p:txBody>
          <a:bodyPr wrap="square" anchor="t" lIns="0" rIns="0" tIns="0" bIns="0">
            <a:spAutoFit/>
          </a:bodyPr>
          <a:lstStyle/>
          <a:p>
            <a:pPr algn="l">
              <a:spcAft>
                <a:spcPts val="600"/>
              </a:spcAft>
            </a:pPr>
            <a:r>
              <a:rPr sz="2800" b="1" i="0">
                <a:solidFill>
                  <a:srgbClr val="1F3A34"/>
                </a:solidFill>
                <a:latin typeface="Calibri"/>
              </a:rPr>
              <a:t>Report your decisions</a:t>
            </a:r>
          </a:p>
        </p:txBody>
      </p:sp>
      <p:sp>
        <p:nvSpPr>
          <p:cNvPr id="24" name="TextBox 23"/>
          <p:cNvSpPr txBox="1"/>
          <p:nvPr/>
        </p:nvSpPr>
        <p:spPr>
          <a:xfrm>
            <a:off x="1463040" y="5678424"/>
            <a:ext cx="10149840" cy="411480"/>
          </a:xfrm>
          <a:prstGeom prst="rect">
            <a:avLst/>
          </a:prstGeom>
          <a:noFill/>
        </p:spPr>
        <p:txBody>
          <a:bodyPr wrap="square" anchor="t" lIns="0" rIns="0" tIns="0" bIns="0">
            <a:spAutoFit/>
          </a:bodyPr>
          <a:lstStyle/>
          <a:p>
            <a:pPr algn="l">
              <a:spcAft>
                <a:spcPts val="600"/>
              </a:spcAft>
            </a:pPr>
            <a:r>
              <a:rPr sz="2000" b="0" i="0">
                <a:solidFill>
                  <a:srgbClr val="55605B"/>
                </a:solidFill>
                <a:latin typeface="Calibri"/>
              </a:rPr>
              <a:t>in your methods, not hidden in code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48640"/>
            <a:ext cx="10545775" cy="1005840"/>
          </a:xfrm>
          <a:prstGeom prst="rect">
            <a:avLst/>
          </a:prstGeom>
          <a:noFill/>
        </p:spPr>
        <p:txBody>
          <a:bodyPr wrap="square" anchor="ctr" lIns="0" rIns="0" tIns="0" bIns="0">
            <a:spAutoFit/>
          </a:bodyPr>
          <a:lstStyle/>
          <a:p>
            <a:pPr algn="l">
              <a:spcAft>
                <a:spcPts val="600"/>
              </a:spcAft>
            </a:pPr>
            <a:r>
              <a:rPr sz="5400" b="0" i="0">
                <a:solidFill>
                  <a:srgbClr val="1F3A34"/>
                </a:solidFill>
                <a:latin typeface="Cambria"/>
              </a:rPr>
              <a:t>Your turn: ask an AI</a:t>
            </a:r>
          </a:p>
        </p:txBody>
      </p:sp>
      <p:sp>
        <p:nvSpPr>
          <p:cNvPr id="3" name="TextBox 2"/>
          <p:cNvSpPr txBox="1"/>
          <p:nvPr/>
        </p:nvSpPr>
        <p:spPr>
          <a:xfrm>
            <a:off x="822960" y="1783080"/>
            <a:ext cx="10545775" cy="2194560"/>
          </a:xfrm>
          <a:prstGeom prst="rect">
            <a:avLst/>
          </a:prstGeom>
          <a:noFill/>
        </p:spPr>
        <p:txBody>
          <a:bodyPr wrap="square" anchor="t" lIns="0" rIns="0" tIns="0" bIns="0">
            <a:spAutoFit/>
          </a:bodyPr>
          <a:lstStyle/>
          <a:p>
            <a:pPr algn="l">
              <a:spcAft>
                <a:spcPts val="600"/>
              </a:spcAft>
            </a:pPr>
            <a:r>
              <a:rPr sz="3200" b="0" i="1">
                <a:solidFill>
                  <a:srgbClr val="1F3A34"/>
                </a:solidFill>
                <a:latin typeface="Calibri"/>
              </a:rPr>
              <a:t>“Write Python code for Google Colab that downloads Pride and Prejudice from Project Gutenberg and lists the 20 most common words.”</a:t>
            </a:r>
          </a:p>
        </p:txBody>
      </p:sp>
      <p:sp>
        <p:nvSpPr>
          <p:cNvPr id="4" name="TextBox 3"/>
          <p:cNvSpPr txBox="1"/>
          <p:nvPr/>
        </p:nvSpPr>
        <p:spPr>
          <a:xfrm>
            <a:off x="822960" y="4023360"/>
            <a:ext cx="10545775" cy="2103120"/>
          </a:xfrm>
          <a:prstGeom prst="rect">
            <a:avLst/>
          </a:prstGeom>
          <a:noFill/>
        </p:spPr>
        <p:txBody>
          <a:bodyPr wrap="square" anchor="t" lIns="0" rIns="0" tIns="0" bIns="0">
            <a:spAutoFit/>
          </a:bodyPr>
          <a:lstStyle/>
          <a:p>
            <a:pPr algn="l">
              <a:spcAft>
                <a:spcPts val="600"/>
              </a:spcAft>
            </a:pPr>
            <a:r>
              <a:rPr sz="2800" b="0" i="0">
                <a:solidFill>
                  <a:srgbClr val="1A1A1A"/>
                </a:solidFill>
                <a:latin typeface="Calibri"/>
              </a:rPr>
              <a:t>Does it run? What did it read? What counts as a word? Did it remove anything? How many times does it count “pride”?</a:t>
            </a:r>
          </a:p>
        </p:txBody>
      </p:sp>
      <p:sp>
        <p:nvSpPr>
          <p:cNvPr id="5" name="TextBox 4"/>
          <p:cNvSpPr txBox="1"/>
          <p:nvPr/>
        </p:nvSpPr>
        <p:spPr>
          <a:xfrm>
            <a:off x="548640" y="6355080"/>
            <a:ext cx="5486400" cy="365760"/>
          </a:xfrm>
          <a:prstGeom prst="rect">
            <a:avLst/>
          </a:prstGeom>
          <a:noFill/>
        </p:spPr>
        <p:txBody>
          <a:bodyPr wrap="square" anchor="t" lIns="0" rIns="0" tIns="0" bIns="0">
            <a:spAutoFit/>
          </a:bodyPr>
          <a:lstStyle/>
          <a:p>
            <a:pPr algn="l">
              <a:spcAft>
                <a:spcPts val="600"/>
              </a:spcAft>
            </a:pPr>
            <a:r>
              <a:rPr sz="1400" b="0" i="0">
                <a:solidFill>
                  <a:srgbClr val="55605B"/>
                </a:solidFill>
                <a:latin typeface="Calibri"/>
              </a:rPr>
              <a:t>MSc Digital Scholarship 2026</a:t>
            </a:r>
          </a:p>
        </p:txBody>
      </p:sp>
      <p:sp>
        <p:nvSpPr>
          <p:cNvPr id="6" name="TextBox 5"/>
          <p:cNvSpPr txBox="1"/>
          <p:nvPr/>
        </p:nvSpPr>
        <p:spPr>
          <a:xfrm>
            <a:off x="10728655" y="6355080"/>
            <a:ext cx="914400" cy="365760"/>
          </a:xfrm>
          <a:prstGeom prst="rect">
            <a:avLst/>
          </a:prstGeom>
          <a:noFill/>
        </p:spPr>
        <p:txBody>
          <a:bodyPr wrap="square" anchor="t" lIns="0" rIns="0" tIns="0" bIns="0">
            <a:spAutoFit/>
          </a:bodyPr>
          <a:lstStyle/>
          <a:p>
            <a:pPr algn="r">
              <a:spcAft>
                <a:spcPts val="600"/>
              </a:spcAft>
            </a:pPr>
            <a:r>
              <a:rPr sz="1400" b="0" i="0">
                <a:solidFill>
                  <a:srgbClr val="55605B"/>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