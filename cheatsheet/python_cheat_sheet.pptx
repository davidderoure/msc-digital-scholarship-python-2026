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3258311" cy="96012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47472"/>
            <a:ext cx="3258311" cy="548640"/>
          </a:xfrm>
          <a:prstGeom prst="rect">
            <a:avLst/>
          </a:prstGeom>
          <a:noFill/>
        </p:spPr>
        <p:txBody>
          <a:bodyPr wrap="square" anchor="t" lIns="128016" rIns="128016" tIns="91440" bIns="91440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Cambria"/>
              </a:rPr>
              <a:t>Python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41247"/>
            <a:ext cx="3258311" cy="320040"/>
          </a:xfrm>
          <a:prstGeom prst="rect">
            <a:avLst/>
          </a:prstGeom>
          <a:noFill/>
        </p:spPr>
        <p:txBody>
          <a:bodyPr wrap="square" anchor="t" lIns="128016" rIns="128016" tIns="91440" bIns="91440">
            <a:spAutoFit/>
          </a:bodyPr>
          <a:lstStyle/>
          <a:p>
            <a:r>
              <a:rPr sz="1100" b="0" i="0">
                <a:solidFill>
                  <a:srgbClr val="D9E6DF"/>
                </a:solidFill>
                <a:latin typeface="Calibri"/>
              </a:rPr>
              <a:t>MSc Digital Scholarship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Colab essentials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A notebook is a list of cells: text cells and code cells. Run them in order, from the 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36750"/>
            <a:ext cx="3258311" cy="786510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36750"/>
            <a:ext cx="3258311" cy="78651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Shift + Enter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run this cell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Runtime → Restart session and run all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File → Save a copy in Drive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File → Upload notebook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Insert → Code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23261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The last line of a code cell is shown automatically. Use print() to show anything else.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14675"/>
            <a:ext cx="3258311" cy="479171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114675"/>
            <a:ext cx="3258311" cy="47917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Values and types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Every value has a type, and each type has its own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93846"/>
            <a:ext cx="3258311" cy="918209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93846"/>
            <a:ext cx="3258311" cy="918209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"Bennet"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str: text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39 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int: whole number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4.2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float: decimal number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['Mr.', 'Bennet']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list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True, False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bool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type(39)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→ 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12056"/>
            <a:ext cx="3258311" cy="479171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512056"/>
            <a:ext cx="3258311" cy="47917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Variables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= gives a value a name.  == asks whether two values are equal.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91226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991226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size = len(sample)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size is now 196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size == 196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→ True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name == "bennet"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capitals matter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14339"/>
            <a:ext cx="3258311" cy="27432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514339"/>
            <a:ext cx="3258311" cy="27432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Three ways to call a 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788659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788659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len(sample)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function(thing)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sample.lower()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thing.method()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statistics.mean(x)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module.function(thing)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311772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Arguments go in the brackets, separated by commas. Most tools return a value: keep it by naming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15512" y="274320"/>
            <a:ext cx="3258311" cy="479171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5512" y="274320"/>
            <a:ext cx="3258311" cy="47917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Strings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Text in quotes. The quotes must match; use the other kind inside.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5512" y="753491"/>
            <a:ext cx="3258311" cy="391413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15512" y="753491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'Mr. Bennet'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'"Is that you?" he asked.'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5512" y="1144905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5512" y="1131189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String methods (s is any string)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15512" y="1346072"/>
            <a:ext cx="3258311" cy="1313306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5512" y="1346072"/>
            <a:ext cx="3258311" cy="1313306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s.lower()  s.upper()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change case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s.count("Bennet")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how many times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s.replace("a", "b")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swap a for b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s.split()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list of words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s.split(".")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cut at every .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s.strip(".,!?")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trim the ends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s.startswith("B")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True or False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s.endswith(".")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len(s)   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number of characters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5512" y="2659380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Methods return a new string: the original never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15512" y="2919095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5512" y="2919095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Lists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An ordered collection. Positions (indexes) start at 0; negative positions count from the end.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15512" y="3529965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5512" y="3516249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Make a list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15512" y="3731132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5512" y="3731132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words = sample.split()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ending = ['The', 'whole', 'street',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      'knew', 'by', 'noon.']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15512" y="4254246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15512" y="4240530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Get items and slices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15512" y="4455414"/>
            <a:ext cx="3258311" cy="786510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15512" y="4455414"/>
            <a:ext cx="3258311" cy="78651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ending[0]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'The': first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ending[-1]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'noon.': last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ending[1:3]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['whole', 'street']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ending[:2]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first two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ending[-3:]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last three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15512" y="5241925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[start:stop] includes start and stops before stop. Leave a number out for "from the beginning" or "to the end".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15512" y="5633339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15512" y="5619623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Useful with lists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15512" y="5834507"/>
            <a:ext cx="3258311" cy="654811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15512" y="5834507"/>
            <a:ext cx="3258311" cy="65481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len(words)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how many items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"Bennet" in words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True or False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sorted(words)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a sorted copy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words.append("x")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add to the 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6704" y="274320"/>
            <a:ext cx="3258311" cy="479171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56704" y="274320"/>
            <a:ext cx="3258311" cy="47917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List comprehensions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Make a new list from an old one. Read from the middle outwards.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6704" y="753491"/>
            <a:ext cx="3258311" cy="918209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6704" y="753491"/>
            <a:ext cx="3258311" cy="918209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/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transform every item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[len(w) for w in words]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/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keep only some items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[w for w in words if len(w) &gt; 5]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/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both at once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[w.lower() for w in words if w.isalpha()]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6704" y="1671700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[what to make  for each item in a list  if a test (optional)]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6704" y="1931415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56704" y="1931415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for loops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Do something for each item. Colon at the end; indent the body by four spaces.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56704" y="2542286"/>
            <a:ext cx="3258311" cy="391413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56704" y="2542286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for w in words[0:3]: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print(w, len(w))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6704" y="2933699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To make a list: comprehension. To do something, such as printing: loop.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56704" y="3325113"/>
            <a:ext cx="3258311" cy="479171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56704" y="3325113"/>
            <a:ext cx="3258311" cy="47917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Conditions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Questions whose answer is True or False.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56704" y="3804285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56704" y="3804285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==  !=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equal, not equal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&lt;  &gt;  &lt;=  &gt;=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comparisons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in   not in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inside?  absent?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56704" y="4327398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56704" y="4313682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if, elif and else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56704" y="4528566"/>
            <a:ext cx="3258311" cy="918209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56704" y="4528566"/>
            <a:ext cx="3258311" cy="918209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if len(w) &gt; 10: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print("long")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elif len(w) &gt; 5: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print("medium")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print("short")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56704" y="5446775"/>
            <a:ext cx="3258311" cy="479171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56704" y="5446775"/>
            <a:ext cx="3258311" cy="479171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Writing functions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def names a function; return says what it gives back.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56704" y="5925946"/>
            <a:ext cx="3258311" cy="1049909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56704" y="5925946"/>
            <a:ext cx="3258311" cy="1049909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def clean(w):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return w.strip('.,;:!?"').lower()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clean('"Bennet,')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→ 'bennet'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def concordance(words, key, width=5):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...  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width defaults to 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7232903"/>
            <a:ext cx="10140696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800" b="0" i="0">
                <a:solidFill>
                  <a:srgbClr val="5F6B66"/>
                </a:solidFill>
                <a:latin typeface="Calibri"/>
              </a:rPr>
              <a:t>MSc Digital Scholarship 2026  ·  Python cheat sheet  ·  page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Modules, packages, libraries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A module is a file of code you import. A package is a collection of modules. "Library" is used for either.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85189"/>
            <a:ext cx="3258311" cy="1181608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85189"/>
            <a:ext cx="3258311" cy="1181608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import statistics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statistics.mean(x)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statistics.median(x)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statistics.pstdev(x)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standard deviation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import re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regular expressions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import pandas as pd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tables (nickname pd)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from nltk.tokenize import sent_tokenize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66797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053081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Setting up in Colab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67966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67966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import nltk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nltk.download('punkt_tab')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splitter data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!pip install something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if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91079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791079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Reading error messages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Read the last line first. The arrow in the message shows which line failed.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01949"/>
            <a:ext cx="3258311" cy="1049909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401949"/>
            <a:ext cx="3258311" cy="1049909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NameError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unknown name: a typo,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Print, or a missing import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AttributeError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no such method: s.Upper()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IndexError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past the end: words[100]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TypeError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wrong type: "Page " + 5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SyntaxError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not Python: a missing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quote, bracket or colon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451858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The worst error has no message: code that runs and gives the wrong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43272"/>
            <a:ext cx="3258311" cy="27432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843272"/>
            <a:ext cx="3258311" cy="27432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Glossary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117592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argument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value given to a function or method, inside its brackets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304155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return value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what a function gives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490718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string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piece of text, in quotes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77281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list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an ordered collection of items, in square brackets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863844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index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position in a list, counting from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050407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slice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run of items from a list: [start:stop]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36970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method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function that belongs to a type of value: s.lower()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23533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comprehension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new list made from an old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610096"/>
            <a:ext cx="3258311" cy="18656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850" b="1" i="0">
                <a:solidFill>
                  <a:srgbClr val="1F3A34"/>
                </a:solidFill>
                <a:latin typeface="Calibri"/>
              </a:rPr>
              <a:t>module  </a:t>
            </a:r>
            <a:r>
              <a:rPr sz="850" b="0" i="0">
                <a:solidFill>
                  <a:srgbClr val="1A1A1A"/>
                </a:solidFill>
                <a:latin typeface="Calibri"/>
              </a:rPr>
              <a:t>a file of Python code that you import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5512" y="274320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5512" y="274320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Text analysis recipes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From our notebooks. Each one hides a decision you should be able to state.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15512" y="885189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15512" y="871473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Download a Project Gutenberg book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5512" y="1086357"/>
            <a:ext cx="3258311" cy="786510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5512" y="1086357"/>
            <a:ext cx="3258311" cy="78651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import urllib.request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url = ("https://www.gutenberg.org/cache/"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   "epub/1342/pg1342.txt")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page = urllib.request.urlopen(url)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raw = page.read().decode("utf-8")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5512" y="1872869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Remember: this includes Gutenberg's licence and front matter.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15512" y="2132584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15512" y="2118868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Words, using a pattern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15512" y="2333752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15512" y="2333752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def words_in(text):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return re.findall(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    r"[A-Za-z]+(?:['’-][A-Za-z]+)*", text)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15512" y="2856865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15512" y="2843149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Sentences, using NLTK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5512" y="3058033"/>
            <a:ext cx="3258311" cy="523112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5512" y="3058033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sentences = sent_tokenize(text)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lengths = [len(words_in(s)) for s in sentences]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statistics.mean(lengths)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15512" y="3581146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5512" y="3567430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Where does a word occur?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15512" y="3782314"/>
            <a:ext cx="3258311" cy="391413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15512" y="3782314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[i for i, w in enumerate(words)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if w == "pride"]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5512" y="4173728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enumerate gives each item together with its position.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15512" y="4433443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15512" y="4419727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Most common words (often in AI code)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15512" y="4634611"/>
            <a:ext cx="3258311" cy="391413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15512" y="4634611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from collections import Counter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Counter(words).most_common(10)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15512" y="5026025"/>
            <a:ext cx="3258311" cy="201168"/>
          </a:xfrm>
          <a:prstGeom prst="rect">
            <a:avLst/>
          </a:prstGeom>
          <a:solidFill>
            <a:srgbClr val="D9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15512" y="5012309"/>
            <a:ext cx="3258311" cy="201168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r>
              <a:rPr sz="900" b="1" i="0">
                <a:solidFill>
                  <a:srgbClr val="1F3A34"/>
                </a:solidFill>
                <a:latin typeface="Calibri"/>
              </a:rPr>
              <a:t>A table with pandas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15512" y="5227193"/>
            <a:ext cx="3258311" cy="391413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15512" y="5227193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pd.DataFrame({"sentence": sentences,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              "words": lengths})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56704" y="274320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56704" y="274320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Working with AI-written code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Use AI to write and explain code. You are responsible for every number you report.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6704" y="885189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1.  Test it on something you can check by hand.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6704" y="1144905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2.  Ask what it assumed: what is a word, a sentence, the text?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6704" y="1404619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3.  Read its explanation against what the code actually does.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6704" y="1664334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4.  Ask twice, and ask another AI. Same answer?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6704" y="1924049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5.  Look at the extremes: the shortest, longest, first and last results.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56704" y="2315463"/>
            <a:ext cx="3258311" cy="259715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6.  Report your decisions in your methods.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6704" y="2575178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Code that runs without an error is not the same as code that is right.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56704" y="2966592"/>
            <a:ext cx="3258311" cy="61087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56704" y="2966592"/>
            <a:ext cx="3258311" cy="61087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Your data and Colab</a:t>
            </a:r>
          </a:p>
          <a:p>
            <a:r>
              <a:rPr sz="850" b="0" i="1">
                <a:solidFill>
                  <a:srgbClr val="D9E6DF"/>
                </a:solidFill>
                <a:latin typeface="Calibri"/>
              </a:rPr>
              <a:t>Colab is not covered by the University's Google Workspace agreement, and its terms may allow your input to be used to train AI models.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56704" y="3577462"/>
            <a:ext cx="3258311" cy="523112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Only put in public-domain texts, or your own writing that you'd be happy to make public. No unpublished research, interview data, restricted archives or personal information.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56704" y="4100575"/>
            <a:ext cx="3258311" cy="27432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56704" y="4100575"/>
            <a:ext cx="3258311" cy="274320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mbria"/>
              </a:rPr>
              <a:t>Getting help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56704" y="4374895"/>
            <a:ext cx="3258311" cy="391413"/>
          </a:xfrm>
          <a:prstGeom prst="rect">
            <a:avLst/>
          </a:prstGeom>
          <a:solidFill>
            <a:srgbClr val="F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56704" y="4374895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ourier New"/>
              </a:rPr>
              <a:t>help(len)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built-in documentation</a:t>
            </a:r>
          </a:p>
          <a:p>
            <a:r>
              <a:rPr sz="850" b="0" i="0">
                <a:solidFill>
                  <a:srgbClr val="1A1A1A"/>
                </a:solidFill>
                <a:latin typeface="Courier New"/>
              </a:rPr>
              <a:t>s.               </a:t>
            </a:r>
            <a:r>
              <a:rPr sz="850" b="0" i="1">
                <a:solidFill>
                  <a:srgbClr val="5F6B66"/>
                </a:solidFill>
                <a:latin typeface="Courier New"/>
              </a:rPr>
              <a:t># then Tab: list of methods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56704" y="4766309"/>
            <a:ext cx="3258311" cy="391413"/>
          </a:xfrm>
          <a:prstGeom prst="rect">
            <a:avLst/>
          </a:prstGeom>
          <a:noFill/>
        </p:spPr>
        <p:txBody>
          <a:bodyPr wrap="square" anchor="t" lIns="82296" rIns="82296">
            <a:spAutoFit/>
          </a:bodyPr>
          <a:lstStyle/>
          <a:p>
            <a:r>
              <a:rPr sz="850" b="0" i="0">
                <a:solidFill>
                  <a:srgbClr val="1A1A1A"/>
                </a:solidFill>
                <a:latin typeface="Calibri"/>
              </a:rPr>
              <a:t>Search for the last line of an error message, or paste it into an AI and check its explanation by fixing the code yourself.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7232903"/>
            <a:ext cx="10140696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r>
              <a:rPr sz="800" b="0" i="0">
                <a:solidFill>
                  <a:srgbClr val="5F6B66"/>
                </a:solidFill>
                <a:latin typeface="Calibri"/>
              </a:rPr>
              <a:t>MSc Digital Scholarship 2026  ·  Python cheat sheet  ·  page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